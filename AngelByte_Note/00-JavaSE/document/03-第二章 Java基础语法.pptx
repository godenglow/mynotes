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0"/>
  </p:notesMasterIdLst>
  <p:handoutMasterIdLst>
    <p:handoutMasterId r:id="rId101"/>
  </p:handoutMasterIdLst>
  <p:sldIdLst>
    <p:sldId id="274" r:id="rId2"/>
    <p:sldId id="273" r:id="rId3"/>
    <p:sldId id="290" r:id="rId4"/>
    <p:sldId id="461" r:id="rId5"/>
    <p:sldId id="327" r:id="rId6"/>
    <p:sldId id="263" r:id="rId7"/>
    <p:sldId id="338" r:id="rId8"/>
    <p:sldId id="339" r:id="rId9"/>
    <p:sldId id="328" r:id="rId10"/>
    <p:sldId id="329" r:id="rId11"/>
    <p:sldId id="330" r:id="rId12"/>
    <p:sldId id="351" r:id="rId13"/>
    <p:sldId id="352" r:id="rId14"/>
    <p:sldId id="331" r:id="rId15"/>
    <p:sldId id="354" r:id="rId16"/>
    <p:sldId id="355" r:id="rId17"/>
    <p:sldId id="332" r:id="rId18"/>
    <p:sldId id="363" r:id="rId19"/>
    <p:sldId id="364" r:id="rId20"/>
    <p:sldId id="333" r:id="rId21"/>
    <p:sldId id="365" r:id="rId22"/>
    <p:sldId id="366" r:id="rId23"/>
    <p:sldId id="373" r:id="rId24"/>
    <p:sldId id="374" r:id="rId25"/>
    <p:sldId id="375" r:id="rId26"/>
    <p:sldId id="376" r:id="rId27"/>
    <p:sldId id="377" r:id="rId28"/>
    <p:sldId id="378" r:id="rId29"/>
    <p:sldId id="379" r:id="rId30"/>
    <p:sldId id="380" r:id="rId31"/>
    <p:sldId id="381" r:id="rId32"/>
    <p:sldId id="382" r:id="rId33"/>
    <p:sldId id="383" r:id="rId34"/>
    <p:sldId id="384" r:id="rId35"/>
    <p:sldId id="385" r:id="rId36"/>
    <p:sldId id="386" r:id="rId37"/>
    <p:sldId id="387" r:id="rId38"/>
    <p:sldId id="388" r:id="rId39"/>
    <p:sldId id="389" r:id="rId40"/>
    <p:sldId id="390" r:id="rId41"/>
    <p:sldId id="391" r:id="rId42"/>
    <p:sldId id="392" r:id="rId43"/>
    <p:sldId id="393" r:id="rId44"/>
    <p:sldId id="394" r:id="rId45"/>
    <p:sldId id="395" r:id="rId46"/>
    <p:sldId id="396" r:id="rId47"/>
    <p:sldId id="397" r:id="rId48"/>
    <p:sldId id="335" r:id="rId49"/>
    <p:sldId id="402" r:id="rId50"/>
    <p:sldId id="403" r:id="rId51"/>
    <p:sldId id="404" r:id="rId52"/>
    <p:sldId id="405" r:id="rId53"/>
    <p:sldId id="406" r:id="rId54"/>
    <p:sldId id="407" r:id="rId55"/>
    <p:sldId id="408" r:id="rId56"/>
    <p:sldId id="412" r:id="rId57"/>
    <p:sldId id="413" r:id="rId58"/>
    <p:sldId id="414" r:id="rId59"/>
    <p:sldId id="415" r:id="rId60"/>
    <p:sldId id="416" r:id="rId61"/>
    <p:sldId id="417" r:id="rId62"/>
    <p:sldId id="418" r:id="rId63"/>
    <p:sldId id="419" r:id="rId64"/>
    <p:sldId id="420" r:id="rId65"/>
    <p:sldId id="421" r:id="rId66"/>
    <p:sldId id="422" r:id="rId67"/>
    <p:sldId id="336" r:id="rId68"/>
    <p:sldId id="426" r:id="rId69"/>
    <p:sldId id="427" r:id="rId70"/>
    <p:sldId id="428" r:id="rId71"/>
    <p:sldId id="429" r:id="rId72"/>
    <p:sldId id="430" r:id="rId73"/>
    <p:sldId id="431" r:id="rId74"/>
    <p:sldId id="434" r:id="rId75"/>
    <p:sldId id="435" r:id="rId76"/>
    <p:sldId id="436" r:id="rId77"/>
    <p:sldId id="437" r:id="rId78"/>
    <p:sldId id="438" r:id="rId79"/>
    <p:sldId id="439" r:id="rId80"/>
    <p:sldId id="440" r:id="rId81"/>
    <p:sldId id="441" r:id="rId82"/>
    <p:sldId id="442" r:id="rId83"/>
    <p:sldId id="449" r:id="rId84"/>
    <p:sldId id="450" r:id="rId85"/>
    <p:sldId id="451" r:id="rId86"/>
    <p:sldId id="452" r:id="rId87"/>
    <p:sldId id="453" r:id="rId88"/>
    <p:sldId id="454" r:id="rId89"/>
    <p:sldId id="455" r:id="rId90"/>
    <p:sldId id="456" r:id="rId91"/>
    <p:sldId id="457" r:id="rId92"/>
    <p:sldId id="459" r:id="rId93"/>
    <p:sldId id="460" r:id="rId94"/>
    <p:sldId id="462" r:id="rId95"/>
    <p:sldId id="463" r:id="rId96"/>
    <p:sldId id="464" r:id="rId97"/>
    <p:sldId id="556" r:id="rId98"/>
    <p:sldId id="258" r:id="rId99"/>
  </p:sldIdLst>
  <p:sldSz cx="12192000" cy="6858000"/>
  <p:notesSz cx="7104063" cy="10234613"/>
  <p:custDataLst>
    <p:tags r:id="rId10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9" userDrawn="1">
          <p15:clr>
            <a:srgbClr val="A4A3A4"/>
          </p15:clr>
        </p15:guide>
        <p15:guide id="2" pos="37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562"/>
    <a:srgbClr val="ED7D31"/>
    <a:srgbClr val="01255A"/>
    <a:srgbClr val="002358"/>
    <a:srgbClr val="001D52"/>
    <a:srgbClr val="B2B2B2"/>
    <a:srgbClr val="202020"/>
    <a:srgbClr val="323232"/>
    <a:srgbClr val="CC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65" autoAdjust="0"/>
    <p:restoredTop sz="94660"/>
  </p:normalViewPr>
  <p:slideViewPr>
    <p:cSldViewPr snapToGrid="0" showGuides="1">
      <p:cViewPr varScale="1">
        <p:scale>
          <a:sx n="108" d="100"/>
          <a:sy n="108" d="100"/>
        </p:scale>
        <p:origin x="52" y="64"/>
      </p:cViewPr>
      <p:guideLst>
        <p:guide orient="horz" pos="2209"/>
        <p:guide pos="3794"/>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gs" Target="tags/tag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2026/8/28</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2026/8/28</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2026/8/28</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3.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2.png"/><Relationship Id="rId5" Type="http://schemas.openxmlformats.org/officeDocument/2006/relationships/tags" Target="../tags/tag6.xml"/><Relationship Id="rId10" Type="http://schemas.openxmlformats.org/officeDocument/2006/relationships/image" Target="../media/image1.png"/><Relationship Id="rId4" Type="http://schemas.openxmlformats.org/officeDocument/2006/relationships/tags" Target="../tags/tag5.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24.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13.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1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21.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9.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5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10.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11.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5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12.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0.xm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3.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4.xml"/><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6.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8.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79.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0.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3.xml"/><Relationship Id="rId4" Type="http://schemas.openxmlformats.org/officeDocument/2006/relationships/image" Target="../media/image15.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16.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6.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7.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8.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9.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0.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1.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3.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4.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5.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6.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97.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9.xml"/><Relationship Id="rId1" Type="http://schemas.openxmlformats.org/officeDocument/2006/relationships/tags" Target="../tags/tag98.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0.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1.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2.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3.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4.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5.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6.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7.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08.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17.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1.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2.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3.xml"/></Relationships>
</file>

<file path=ppt/slides/_rels/slide78.xml.rels><?xml version="1.0" encoding="UTF-8" standalone="yes"?>
<Relationships xmlns="http://schemas.openxmlformats.org/package/2006/relationships"><Relationship Id="rId3" Type="http://schemas.openxmlformats.org/officeDocument/2006/relationships/tags" Target="../tags/tag116.xml"/><Relationship Id="rId7" Type="http://schemas.openxmlformats.org/officeDocument/2006/relationships/image" Target="../media/image19.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7.xml"/><Relationship Id="rId4" Type="http://schemas.openxmlformats.org/officeDocument/2006/relationships/image" Target="../media/image20.png"/></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8.xml"/></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19.xml"/></Relationships>
</file>

<file path=ppt/slides/_rels/slide8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122.xml"/><Relationship Id="rId7" Type="http://schemas.openxmlformats.org/officeDocument/2006/relationships/image" Target="../media/image2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3.png"/><Relationship Id="rId5" Type="http://schemas.openxmlformats.org/officeDocument/2006/relationships/slideLayout" Target="../slideLayouts/slideLayout7.xml"/><Relationship Id="rId4" Type="http://schemas.openxmlformats.org/officeDocument/2006/relationships/tags" Target="../tags/tag123.xml"/><Relationship Id="rId9" Type="http://schemas.openxmlformats.org/officeDocument/2006/relationships/image" Target="../media/image23.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5.xml"/><Relationship Id="rId1" Type="http://schemas.openxmlformats.org/officeDocument/2006/relationships/tags" Target="../tags/tag124.xml"/><Relationship Id="rId5" Type="http://schemas.openxmlformats.org/officeDocument/2006/relationships/image" Target="../media/image24.png"/><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image" Target="../media/image25.png"/><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28.xml"/></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29.xml"/></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0.xml"/></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1.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2.xml"/><Relationship Id="rId4" Type="http://schemas.openxmlformats.org/officeDocument/2006/relationships/image" Target="../media/image26.png"/></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3.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4.xml"/><Relationship Id="rId4" Type="http://schemas.openxmlformats.org/officeDocument/2006/relationships/image" Target="../media/image27.png"/></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5.xml"/></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136.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8.xml"/><Relationship Id="rId1" Type="http://schemas.openxmlformats.org/officeDocument/2006/relationships/tags" Target="../tags/tag137.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2.xml"/><Relationship Id="rId1" Type="http://schemas.openxmlformats.org/officeDocument/2006/relationships/tags" Target="../tags/tag141.xml"/><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4.xml"/><Relationship Id="rId1" Type="http://schemas.openxmlformats.org/officeDocument/2006/relationships/tags" Target="../tags/tag143.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8" Type="http://schemas.openxmlformats.org/officeDocument/2006/relationships/tags" Target="../tags/tag152.xml"/><Relationship Id="rId3" Type="http://schemas.openxmlformats.org/officeDocument/2006/relationships/tags" Target="../tags/tag147.xml"/><Relationship Id="rId7" Type="http://schemas.openxmlformats.org/officeDocument/2006/relationships/tags" Target="../tags/tag151.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tags" Target="../tags/tag150.xml"/><Relationship Id="rId5" Type="http://schemas.openxmlformats.org/officeDocument/2006/relationships/tags" Target="../tags/tag149.xml"/><Relationship Id="rId10" Type="http://schemas.openxmlformats.org/officeDocument/2006/relationships/image" Target="../media/image2.png"/><Relationship Id="rId4" Type="http://schemas.openxmlformats.org/officeDocument/2006/relationships/tags" Target="../tags/tag148.xml"/><Relationship Id="rId9"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flipH="1">
            <a:off x="-22225" y="-1270"/>
            <a:ext cx="8779726" cy="6858000"/>
            <a:chOff x="5374" y="0"/>
            <a:chExt cx="13826" cy="10800"/>
          </a:xfrm>
        </p:grpSpPr>
        <p:sp>
          <p:nvSpPr>
            <p:cNvPr id="9" name="任意多边形 8"/>
            <p:cNvSpPr/>
            <p:nvPr/>
          </p:nvSpPr>
          <p:spPr>
            <a:xfrm flipH="1">
              <a:off x="5374"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6392" y="0"/>
              <a:ext cx="12808" cy="108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12012" y="3612"/>
              <a:ext cx="7188" cy="7188"/>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1501" y="2083"/>
              <a:ext cx="5665" cy="5629"/>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11726" y="2350"/>
              <a:ext cx="5232" cy="5163"/>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51" name="组合 50"/>
            <p:cNvGrpSpPr/>
            <p:nvPr/>
          </p:nvGrpSpPr>
          <p:grpSpPr>
            <a:xfrm>
              <a:off x="16992" y="9260"/>
              <a:ext cx="923" cy="386"/>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pic>
        <p:nvPicPr>
          <p:cNvPr id="17" name="图片 16"/>
          <p:cNvPicPr>
            <a:picLocks noChangeAspect="1"/>
          </p:cNvPicPr>
          <p:nvPr/>
        </p:nvPicPr>
        <p:blipFill>
          <a:blip r:embed="rId10"/>
          <a:stretch>
            <a:fillRect/>
          </a:stretch>
        </p:blipFill>
        <p:spPr>
          <a:xfrm>
            <a:off x="5083810" y="5756275"/>
            <a:ext cx="7391400" cy="1781175"/>
          </a:xfrm>
          <a:prstGeom prst="rect">
            <a:avLst/>
          </a:prstGeom>
        </p:spPr>
      </p:pic>
      <p:cxnSp>
        <p:nvCxnSpPr>
          <p:cNvPr id="21" name="图形"/>
          <p:cNvCxnSpPr/>
          <p:nvPr/>
        </p:nvCxnSpPr>
        <p:spPr>
          <a:xfrm>
            <a:off x="6576002" y="2869771"/>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图形"/>
          <p:cNvCxnSpPr/>
          <p:nvPr/>
        </p:nvCxnSpPr>
        <p:spPr>
          <a:xfrm flipH="1">
            <a:off x="6576002" y="2957132"/>
            <a:ext cx="102919" cy="8736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PA-文本框 88"/>
          <p:cNvSpPr txBox="1"/>
          <p:nvPr>
            <p:custDataLst>
              <p:tags r:id="rId2"/>
            </p:custDataLst>
          </p:nvPr>
        </p:nvSpPr>
        <p:spPr>
          <a:xfrm>
            <a:off x="6004560" y="2630170"/>
            <a:ext cx="5262245" cy="830580"/>
          </a:xfrm>
          <a:prstGeom prst="rect">
            <a:avLst/>
          </a:prstGeom>
          <a:noFill/>
        </p:spPr>
        <p:txBody>
          <a:bodyPr wrap="square" lIns="0" tIns="0" rIns="0" bIns="0" rtlCol="0">
            <a:spAutoFit/>
          </a:bodyPr>
          <a:lstStyle/>
          <a:p>
            <a:pPr marL="0" marR="0" lvl="0" indent="0" algn="r" defTabSz="914400" rtl="0" eaLnBrk="1" fontAlgn="auto" latinLnBrk="0" hangingPunct="0">
              <a:lnSpc>
                <a:spcPct val="150000"/>
              </a:lnSpc>
              <a:spcBef>
                <a:spcPts val="0"/>
              </a:spcBef>
              <a:spcAft>
                <a:spcPts val="0"/>
              </a:spcAft>
              <a:buClrTx/>
              <a:buSzTx/>
              <a:buFontTx/>
              <a:buNone/>
              <a:defRPr/>
            </a:pPr>
            <a:r>
              <a:rPr kumimoji="0" lang="zh-CN" altLang="en-US"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第二章</a:t>
            </a:r>
            <a:r>
              <a:rPr kumimoji="0" lang="en-US" altLang="zh-CN"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 Java</a:t>
            </a:r>
            <a:r>
              <a:rPr kumimoji="0" lang="zh-CN" altLang="en-US" sz="3600" b="0" i="0" u="none" strike="noStrike" kern="1200" cap="none" spc="0" normalizeH="0" baseline="0" noProof="0" dirty="0">
                <a:ln>
                  <a:noFill/>
                </a:ln>
                <a:effectLst/>
                <a:uLnTx/>
                <a:uFillTx/>
                <a:latin typeface="黑体" panose="02010609060101010101" charset="-122"/>
                <a:ea typeface="黑体" panose="02010609060101010101" charset="-122"/>
                <a:cs typeface="+mn-ea"/>
                <a:sym typeface="+mn-lt"/>
              </a:rPr>
              <a:t>基础语法</a:t>
            </a:r>
          </a:p>
        </p:txBody>
      </p:sp>
      <p:pic>
        <p:nvPicPr>
          <p:cNvPr id="26" name="图片 25"/>
          <p:cNvPicPr>
            <a:picLocks noChangeAspect="1"/>
          </p:cNvPicPr>
          <p:nvPr/>
        </p:nvPicPr>
        <p:blipFill>
          <a:blip r:embed="rId10"/>
          <a:stretch>
            <a:fillRect/>
          </a:stretch>
        </p:blipFill>
        <p:spPr>
          <a:xfrm rot="10800000">
            <a:off x="-175895" y="-695325"/>
            <a:ext cx="7391400" cy="1781175"/>
          </a:xfrm>
          <a:prstGeom prst="rect">
            <a:avLst/>
          </a:prstGeom>
        </p:spPr>
      </p:pic>
      <p:sp>
        <p:nvSpPr>
          <p:cNvPr id="2" name="PA-文本框 88"/>
          <p:cNvSpPr txBox="1"/>
          <p:nvPr>
            <p:custDataLst>
              <p:tags r:id="rId3"/>
            </p:custDataLst>
          </p:nvPr>
        </p:nvSpPr>
        <p:spPr>
          <a:xfrm>
            <a:off x="7147252" y="5629442"/>
            <a:ext cx="4303583" cy="553720"/>
          </a:xfrm>
          <a:prstGeom prst="rect">
            <a:avLst/>
          </a:prstGeom>
          <a:noFill/>
        </p:spPr>
        <p:txBody>
          <a:bodyPr wrap="square" lIns="0" tIns="0" rIns="0" bIns="0" rtlCol="0">
            <a:spAutoFit/>
          </a:bodyPr>
          <a:lstStyle/>
          <a:p>
            <a:pPr marL="0" marR="0" lvl="0" indent="0" algn="r" defTabSz="914400" rtl="0" eaLnBrk="1" fontAlgn="auto" latinLnBrk="0" hangingPunct="0">
              <a:lnSpc>
                <a:spcPct val="150000"/>
              </a:lnSpc>
              <a:spcBef>
                <a:spcPts val="0"/>
              </a:spcBef>
              <a:spcAft>
                <a:spcPts val="0"/>
              </a:spcAft>
              <a:buClrTx/>
              <a:buSzTx/>
              <a:buFontTx/>
              <a:buNone/>
              <a:defRPr/>
            </a:pPr>
            <a:r>
              <a:rPr lang="zh-CN" altLang="en-US" sz="2400" dirty="0">
                <a:solidFill>
                  <a:schemeClr val="bg1">
                    <a:lumMod val="65000"/>
                  </a:schemeClr>
                </a:solidFill>
                <a:latin typeface="黑体" panose="02010609060101010101" charset="-122"/>
                <a:ea typeface="黑体" panose="02010609060101010101" charset="-122"/>
                <a:cs typeface="+mn-ea"/>
                <a:sym typeface="+mn-lt"/>
              </a:rPr>
              <a:t>动力节点</a:t>
            </a:r>
            <a:r>
              <a:rPr lang="en-US" altLang="zh-CN" sz="2400" dirty="0">
                <a:solidFill>
                  <a:schemeClr val="bg1">
                    <a:lumMod val="65000"/>
                  </a:schemeClr>
                </a:solidFill>
                <a:latin typeface="黑体" panose="02010609060101010101" charset="-122"/>
                <a:ea typeface="黑体" panose="02010609060101010101" charset="-122"/>
                <a:cs typeface="+mn-ea"/>
                <a:sym typeface="+mn-lt"/>
              </a:rPr>
              <a:t>-</a:t>
            </a:r>
            <a:r>
              <a:rPr lang="zh-CN" altLang="en-US" sz="2400" dirty="0">
                <a:solidFill>
                  <a:schemeClr val="bg1">
                    <a:lumMod val="65000"/>
                  </a:schemeClr>
                </a:solidFill>
                <a:latin typeface="黑体" panose="02010609060101010101" charset="-122"/>
                <a:ea typeface="黑体" panose="02010609060101010101" charset="-122"/>
                <a:cs typeface="+mn-ea"/>
                <a:sym typeface="+mn-lt"/>
              </a:rPr>
              <a:t>老杜</a:t>
            </a:r>
            <a:endParaRPr kumimoji="0" lang="zh-CN" altLang="en-US" sz="2400" b="0" i="0" u="none" strike="noStrike" kern="1200" cap="none" spc="0" normalizeH="0" baseline="0" noProof="0" dirty="0">
              <a:ln>
                <a:noFill/>
              </a:ln>
              <a:solidFill>
                <a:schemeClr val="bg1">
                  <a:lumMod val="65000"/>
                </a:schemeClr>
              </a:solidFill>
              <a:effectLst/>
              <a:uLnTx/>
              <a:uFillTx/>
              <a:latin typeface="黑体" panose="02010609060101010101" charset="-122"/>
              <a:ea typeface="黑体" panose="02010609060101010101" charset="-122"/>
              <a:cs typeface="+mn-ea"/>
              <a:sym typeface="+mn-lt"/>
            </a:endParaRPr>
          </a:p>
        </p:txBody>
      </p:sp>
      <p:pic>
        <p:nvPicPr>
          <p:cNvPr id="16" name="图片 15"/>
          <p:cNvPicPr>
            <a:picLocks noChangeAspect="1"/>
          </p:cNvPicPr>
          <p:nvPr>
            <p:custDataLst>
              <p:tags r:id="rId4"/>
            </p:custDataLst>
          </p:nvPr>
        </p:nvPicPr>
        <p:blipFill>
          <a:blip r:embed="rId11"/>
          <a:stretch>
            <a:fillRect/>
          </a:stretch>
        </p:blipFill>
        <p:spPr>
          <a:xfrm>
            <a:off x="1828324" y="1993202"/>
            <a:ext cx="2250665" cy="2108039"/>
          </a:xfrm>
          <a:prstGeom prst="rect">
            <a:avLst/>
          </a:prstGeom>
        </p:spPr>
      </p:pic>
      <p:pic>
        <p:nvPicPr>
          <p:cNvPr id="3" name="图片 2" descr="5d0495981e06a4beefc1a7ac3c41024d"/>
          <p:cNvPicPr>
            <a:picLocks noChangeAspect="1"/>
          </p:cNvPicPr>
          <p:nvPr>
            <p:custDataLst>
              <p:tags r:id="rId5"/>
            </p:custDataLst>
          </p:nvPr>
        </p:nvPicPr>
        <p:blipFill>
          <a:blip r:embed="rId12"/>
          <a:stretch>
            <a:fillRect/>
          </a:stretch>
        </p:blipFill>
        <p:spPr>
          <a:xfrm>
            <a:off x="8842375" y="0"/>
            <a:ext cx="4695190" cy="934720"/>
          </a:xfrm>
          <a:prstGeom prst="rect">
            <a:avLst/>
          </a:prstGeom>
        </p:spPr>
      </p:pic>
      <p:grpSp>
        <p:nvGrpSpPr>
          <p:cNvPr id="43" name="组合 42"/>
          <p:cNvGrpSpPr/>
          <p:nvPr/>
        </p:nvGrpSpPr>
        <p:grpSpPr>
          <a:xfrm>
            <a:off x="8628123" y="4047329"/>
            <a:ext cx="482600" cy="145415"/>
            <a:chOff x="1339" y="8078"/>
            <a:chExt cx="760" cy="229"/>
          </a:xfrm>
        </p:grpSpPr>
        <p:sp>
          <p:nvSpPr>
            <p:cNvPr id="44" name="椭圆 43"/>
            <p:cNvSpPr/>
            <p:nvPr>
              <p:custDataLst>
                <p:tags r:id="rId6"/>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5" name="椭圆 44"/>
            <p:cNvSpPr/>
            <p:nvPr>
              <p:custDataLst>
                <p:tags r:id="rId7"/>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46" name="椭圆 45"/>
            <p:cNvSpPr/>
            <p:nvPr>
              <p:custDataLst>
                <p:tags r:id="rId8"/>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976125" y="2537605"/>
            <a:ext cx="10108667" cy="3155928"/>
            <a:chOff x="1037721" y="2414315"/>
            <a:chExt cx="10108667" cy="3155928"/>
          </a:xfrm>
        </p:grpSpPr>
        <p:cxnSp>
          <p:nvCxnSpPr>
            <p:cNvPr id="4" name="直接连接符 3"/>
            <p:cNvCxnSpPr/>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标识符</a:t>
            </a:r>
          </a:p>
        </p:txBody>
      </p:sp>
      <p:sp>
        <p:nvSpPr>
          <p:cNvPr id="67" name="矩形 66"/>
          <p:cNvSpPr/>
          <p:nvPr/>
        </p:nvSpPr>
        <p:spPr>
          <a:xfrm>
            <a:off x="3316362" y="4763502"/>
            <a:ext cx="249110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关键字</a:t>
            </a:r>
          </a:p>
        </p:txBody>
      </p:sp>
      <p:sp>
        <p:nvSpPr>
          <p:cNvPr id="73" name="矩形 72"/>
          <p:cNvSpPr/>
          <p:nvPr/>
        </p:nvSpPr>
        <p:spPr>
          <a:xfrm>
            <a:off x="6450330" y="4763770"/>
            <a:ext cx="22231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字面量</a:t>
            </a:r>
          </a:p>
        </p:txBody>
      </p:sp>
      <p:sp>
        <p:nvSpPr>
          <p:cNvPr id="74" name="矩形 73"/>
          <p:cNvSpPr/>
          <p:nvPr/>
        </p:nvSpPr>
        <p:spPr>
          <a:xfrm>
            <a:off x="9451975" y="4802505"/>
            <a:ext cx="20574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变量</a:t>
            </a: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nvSpPr>
        <p:spPr>
          <a:xfrm>
            <a:off x="954799" y="2985340"/>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01</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nvSpPr>
        <p:spPr>
          <a:xfrm>
            <a:off x="3887918" y="2983717"/>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02</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nvSpPr>
        <p:spPr>
          <a:xfrm>
            <a:off x="6851938" y="3019115"/>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03</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nvSpPr>
        <p:spPr>
          <a:xfrm>
            <a:off x="9785057" y="3017492"/>
            <a:ext cx="1299736" cy="104644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04</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976125" y="2537605"/>
            <a:ext cx="10108667" cy="3155928"/>
            <a:chOff x="1037721" y="2414315"/>
            <a:chExt cx="10108667" cy="3155928"/>
          </a:xfrm>
        </p:grpSpPr>
        <p:cxnSp>
          <p:nvCxnSpPr>
            <p:cNvPr id="4" name="直接连接符 3"/>
            <p:cNvCxnSpPr/>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二进制</a:t>
            </a:r>
          </a:p>
        </p:txBody>
      </p:sp>
      <p:sp>
        <p:nvSpPr>
          <p:cNvPr id="67" name="矩形 66"/>
          <p:cNvSpPr/>
          <p:nvPr/>
        </p:nvSpPr>
        <p:spPr>
          <a:xfrm>
            <a:off x="3316362" y="4763502"/>
            <a:ext cx="249110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八进制与十六进制</a:t>
            </a:r>
          </a:p>
        </p:txBody>
      </p:sp>
      <p:sp>
        <p:nvSpPr>
          <p:cNvPr id="73" name="矩形 72"/>
          <p:cNvSpPr/>
          <p:nvPr/>
        </p:nvSpPr>
        <p:spPr>
          <a:xfrm>
            <a:off x="6450330" y="4763770"/>
            <a:ext cx="22231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原码反码补码</a:t>
            </a:r>
          </a:p>
        </p:txBody>
      </p:sp>
      <p:sp>
        <p:nvSpPr>
          <p:cNvPr id="74" name="矩形 73"/>
          <p:cNvSpPr/>
          <p:nvPr/>
        </p:nvSpPr>
        <p:spPr>
          <a:xfrm>
            <a:off x="9451975" y="4802505"/>
            <a:ext cx="20574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数据类型</a:t>
            </a: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05</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06</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0" name="矩形 49"/>
          <p:cNvSpPr/>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07</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51" name="矩形 50"/>
          <p:cNvSpPr/>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08</a:t>
            </a:r>
            <a:endPar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976125" y="2537605"/>
            <a:ext cx="10108667" cy="3155928"/>
            <a:chOff x="1037721" y="2414315"/>
            <a:chExt cx="10108667" cy="3155928"/>
          </a:xfrm>
        </p:grpSpPr>
        <p:cxnSp>
          <p:nvCxnSpPr>
            <p:cNvPr id="4" name="直接连接符 3"/>
            <p:cNvCxnSpPr/>
            <p:nvPr/>
          </p:nvCxnSpPr>
          <p:spPr>
            <a:xfrm>
              <a:off x="9042935"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092053"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3" name="í$ļîdè"/>
            <p:cNvSpPr/>
            <p:nvPr/>
          </p:nvSpPr>
          <p:spPr bwMode="auto">
            <a:xfrm rot="5400000">
              <a:off x="4593754" y="3552984"/>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5" name="ïṥliḋè"/>
            <p:cNvSpPr/>
            <p:nvPr/>
          </p:nvSpPr>
          <p:spPr bwMode="auto">
            <a:xfrm rot="5400000">
              <a:off x="7544636" y="3566357"/>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sp>
          <p:nvSpPr>
            <p:cNvPr id="17" name="iṩḻîḓé"/>
            <p:cNvSpPr/>
            <p:nvPr/>
          </p:nvSpPr>
          <p:spPr bwMode="auto">
            <a:xfrm rot="5400000">
              <a:off x="10495520" y="3551413"/>
              <a:ext cx="45718" cy="1256019"/>
            </a:xfrm>
            <a:prstGeom prst="rect">
              <a:avLst/>
            </a:prstGeom>
            <a:solidFill>
              <a:srgbClr val="ED7D31"/>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nvSpPr>
        <p:spPr>
          <a:xfrm>
            <a:off x="405765" y="4769485"/>
            <a:ext cx="232346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运算符</a:t>
            </a:r>
          </a:p>
        </p:txBody>
      </p:sp>
      <p:sp>
        <p:nvSpPr>
          <p:cNvPr id="67" name="矩形 66"/>
          <p:cNvSpPr/>
          <p:nvPr/>
        </p:nvSpPr>
        <p:spPr>
          <a:xfrm>
            <a:off x="3316362" y="4763502"/>
            <a:ext cx="249110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控制语句</a:t>
            </a:r>
          </a:p>
        </p:txBody>
      </p:sp>
      <p:sp>
        <p:nvSpPr>
          <p:cNvPr id="73" name="矩形 72"/>
          <p:cNvSpPr/>
          <p:nvPr/>
        </p:nvSpPr>
        <p:spPr>
          <a:xfrm>
            <a:off x="6450330" y="4763770"/>
            <a:ext cx="2223135"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方法</a:t>
            </a:r>
          </a:p>
        </p:txBody>
      </p:sp>
      <p:sp>
        <p:nvSpPr>
          <p:cNvPr id="74" name="矩形 73"/>
          <p:cNvSpPr/>
          <p:nvPr/>
        </p:nvSpPr>
        <p:spPr>
          <a:xfrm>
            <a:off x="9451975" y="4802505"/>
            <a:ext cx="20574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package</a:t>
            </a: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和</a:t>
            </a:r>
            <a:r>
              <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import</a:t>
            </a: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09</a:t>
            </a:r>
            <a:endPar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9" name="矩形 48"/>
          <p:cNvSpPr/>
          <p:nvPr/>
        </p:nvSpPr>
        <p:spPr>
          <a:xfrm>
            <a:off x="3887918" y="2983717"/>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10</a:t>
            </a:r>
          </a:p>
        </p:txBody>
      </p:sp>
      <p:sp>
        <p:nvSpPr>
          <p:cNvPr id="50" name="矩形 49"/>
          <p:cNvSpPr/>
          <p:nvPr/>
        </p:nvSpPr>
        <p:spPr>
          <a:xfrm>
            <a:off x="6851938" y="3019115"/>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11</a:t>
            </a:r>
          </a:p>
        </p:txBody>
      </p:sp>
      <p:sp>
        <p:nvSpPr>
          <p:cNvPr id="51" name="矩形 50"/>
          <p:cNvSpPr/>
          <p:nvPr/>
        </p:nvSpPr>
        <p:spPr>
          <a:xfrm>
            <a:off x="9785057" y="3017492"/>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ED7D31"/>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12</a:t>
            </a: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par>
                                <p:cTn id="23" presetID="2" presetClass="entr" presetSubtype="4" fill="hold" grpId="1"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grpId="1" nodeType="withEffect">
                                  <p:stCondLst>
                                    <p:cond delay="0"/>
                                  </p:stCondLst>
                                  <p:childTnLst>
                                    <p:set>
                                      <p:cBhvr>
                                        <p:cTn id="28" dur="1" fill="hold">
                                          <p:stCondLst>
                                            <p:cond delay="0"/>
                                          </p:stCondLst>
                                        </p:cTn>
                                        <p:tgtEl>
                                          <p:spTgt spid="73"/>
                                        </p:tgtEl>
                                        <p:attrNameLst>
                                          <p:attrName>style.visibility</p:attrName>
                                        </p:attrNameLst>
                                      </p:cBhvr>
                                      <p:to>
                                        <p:strVal val="visible"/>
                                      </p:to>
                                    </p:set>
                                    <p:anim calcmode="lin" valueType="num">
                                      <p:cBhvr additive="base">
                                        <p:cTn id="29" dur="500" fill="hold"/>
                                        <p:tgtEl>
                                          <p:spTgt spid="73"/>
                                        </p:tgtEl>
                                        <p:attrNameLst>
                                          <p:attrName>ppt_x</p:attrName>
                                        </p:attrNameLst>
                                      </p:cBhvr>
                                      <p:tavLst>
                                        <p:tav tm="0">
                                          <p:val>
                                            <p:strVal val="#ppt_x"/>
                                          </p:val>
                                        </p:tav>
                                        <p:tav tm="100000">
                                          <p:val>
                                            <p:strVal val="#ppt_x"/>
                                          </p:val>
                                        </p:tav>
                                      </p:tavLst>
                                    </p:anim>
                                    <p:anim calcmode="lin" valueType="num">
                                      <p:cBhvr additive="base">
                                        <p:cTn id="30" dur="500" fill="hold"/>
                                        <p:tgtEl>
                                          <p:spTgt spid="73"/>
                                        </p:tgtEl>
                                        <p:attrNameLst>
                                          <p:attrName>ppt_y</p:attrName>
                                        </p:attrNameLst>
                                      </p:cBhvr>
                                      <p:tavLst>
                                        <p:tav tm="0">
                                          <p:val>
                                            <p:strVal val="1+#ppt_h/2"/>
                                          </p:val>
                                        </p:tav>
                                        <p:tav tm="100000">
                                          <p:val>
                                            <p:strVal val="#ppt_y"/>
                                          </p:val>
                                        </p:tav>
                                      </p:tavLst>
                                    </p:anim>
                                  </p:childTnLst>
                                </p:cTn>
                              </p:par>
                              <p:par>
                                <p:cTn id="31" presetID="2" presetClass="entr" presetSubtype="4" fill="hold" grpId="1"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ppt_x"/>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additive="base">
                                        <p:cTn id="39" dur="500" fill="hold"/>
                                        <p:tgtEl>
                                          <p:spTgt spid="48"/>
                                        </p:tgtEl>
                                        <p:attrNameLst>
                                          <p:attrName>ppt_x</p:attrName>
                                        </p:attrNameLst>
                                      </p:cBhvr>
                                      <p:tavLst>
                                        <p:tav tm="0">
                                          <p:val>
                                            <p:strVal val="#ppt_x"/>
                                          </p:val>
                                        </p:tav>
                                        <p:tav tm="100000">
                                          <p:val>
                                            <p:strVal val="#ppt_x"/>
                                          </p:val>
                                        </p:tav>
                                      </p:tavLst>
                                    </p:anim>
                                    <p:anim calcmode="lin" valueType="num">
                                      <p:cBhvr additive="base">
                                        <p:cTn id="4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1"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1" nodeType="clickEffect">
                                  <p:stCondLst>
                                    <p:cond delay="0"/>
                                  </p:stCondLst>
                                  <p:childTnLst>
                                    <p:set>
                                      <p:cBhvr>
                                        <p:cTn id="50" dur="1" fill="hold">
                                          <p:stCondLst>
                                            <p:cond delay="0"/>
                                          </p:stCondLst>
                                        </p:cTn>
                                        <p:tgtEl>
                                          <p:spTgt spid="50"/>
                                        </p:tgtEl>
                                        <p:attrNameLst>
                                          <p:attrName>style.visibility</p:attrName>
                                        </p:attrNameLst>
                                      </p:cBhvr>
                                      <p:to>
                                        <p:strVal val="visible"/>
                                      </p:to>
                                    </p:set>
                                    <p:anim calcmode="lin" valueType="num">
                                      <p:cBhvr additive="base">
                                        <p:cTn id="51" dur="500" fill="hold"/>
                                        <p:tgtEl>
                                          <p:spTgt spid="50"/>
                                        </p:tgtEl>
                                        <p:attrNameLst>
                                          <p:attrName>ppt_x</p:attrName>
                                        </p:attrNameLst>
                                      </p:cBhvr>
                                      <p:tavLst>
                                        <p:tav tm="0">
                                          <p:val>
                                            <p:strVal val="#ppt_x"/>
                                          </p:val>
                                        </p:tav>
                                        <p:tav tm="100000">
                                          <p:val>
                                            <p:strVal val="#ppt_x"/>
                                          </p:val>
                                        </p:tav>
                                      </p:tavLst>
                                    </p:anim>
                                    <p:anim calcmode="lin" valueType="num">
                                      <p:cBhvr additive="base">
                                        <p:cTn id="5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1" nodeType="click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67" grpId="0"/>
      <p:bldP spid="67" grpId="1"/>
      <p:bldP spid="73" grpId="0"/>
      <p:bldP spid="73" grpId="1"/>
      <p:bldP spid="74" grpId="0"/>
      <p:bldP spid="74" grpId="1"/>
      <p:bldP spid="77" grpId="0"/>
      <p:bldP spid="77" grpId="1" bldLvl="0" animBg="1"/>
      <p:bldP spid="78" grpId="0"/>
      <p:bldP spid="78" grpId="1" bldLvl="0" animBg="1"/>
      <p:bldP spid="48" grpId="0"/>
      <p:bldP spid="48" grpId="1" bldLvl="0" animBg="1"/>
      <p:bldP spid="49" grpId="0"/>
      <p:bldP spid="49" grpId="1" bldLvl="0" animBg="1"/>
      <p:bldP spid="50" grpId="0"/>
      <p:bldP spid="50" grpId="1" bldLvl="0" animBg="1"/>
      <p:bldP spid="51" grpId="0"/>
      <p:bldP spid="51"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nvGrpSpPr>
        <p:grpSpPr>
          <a:xfrm>
            <a:off x="976126" y="2537605"/>
            <a:ext cx="2103449" cy="3155928"/>
            <a:chOff x="1037722" y="2414315"/>
            <a:chExt cx="2103449" cy="3155928"/>
          </a:xfrm>
        </p:grpSpPr>
        <p:cxnSp>
          <p:nvCxnSpPr>
            <p:cNvPr id="7" name="直接连接符 6"/>
            <p:cNvCxnSpPr/>
            <p:nvPr/>
          </p:nvCxnSpPr>
          <p:spPr>
            <a:xfrm>
              <a:off x="3141171" y="2414315"/>
              <a:ext cx="0" cy="31559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í$ļíḋê"/>
            <p:cNvSpPr/>
            <p:nvPr/>
          </p:nvSpPr>
          <p:spPr bwMode="auto">
            <a:xfrm rot="5400000">
              <a:off x="1642872" y="3566356"/>
              <a:ext cx="45718" cy="1256019"/>
            </a:xfrm>
            <a:prstGeom prst="rect">
              <a:avLst/>
            </a:prstGeom>
            <a:solidFill>
              <a:srgbClr val="01255A"/>
            </a:solidFill>
            <a:ln w="19050">
              <a:noFill/>
              <a:round/>
            </a:ln>
          </p:spPr>
          <p:txBody>
            <a:bodyPr anchor="ctr"/>
            <a:lstStyle/>
            <a:p>
              <a:pPr algn="ctr"/>
              <a:endParaRPr>
                <a:gradFill>
                  <a:gsLst>
                    <a:gs pos="0">
                      <a:srgbClr val="85C04A"/>
                    </a:gs>
                    <a:gs pos="100000">
                      <a:srgbClr val="3C9A47"/>
                    </a:gs>
                  </a:gsLst>
                  <a:lin ang="2700000" scaled="1"/>
                </a:gradFill>
                <a:latin typeface="思源黑体 CN Regular" panose="020B0500000000000000" pitchFamily="34" charset="-122"/>
                <a:ea typeface="思源黑体 CN Regular" panose="020B0500000000000000" pitchFamily="34" charset="-122"/>
              </a:endParaRPr>
            </a:p>
          </p:txBody>
        </p:sp>
      </p:grpSp>
      <p:sp>
        <p:nvSpPr>
          <p:cNvPr id="38" name="矩形 37"/>
          <p:cNvSpPr/>
          <p:nvPr/>
        </p:nvSpPr>
        <p:spPr>
          <a:xfrm>
            <a:off x="405765" y="4769485"/>
            <a:ext cx="232346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IntelliJ IDEA</a:t>
            </a:r>
            <a:r>
              <a:rPr kumimoji="0" lang="zh-CN" altLang="en-US" sz="2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的使用</a:t>
            </a:r>
          </a:p>
        </p:txBody>
      </p:sp>
      <p:sp>
        <p:nvSpPr>
          <p:cNvPr id="77" name="矩形 76"/>
          <p:cNvSpPr/>
          <p:nvPr/>
        </p:nvSpPr>
        <p:spPr>
          <a:xfrm>
            <a:off x="1090567" y="933562"/>
            <a:ext cx="1888642" cy="1015663"/>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目录</a:t>
            </a:r>
          </a:p>
        </p:txBody>
      </p:sp>
      <p:sp>
        <p:nvSpPr>
          <p:cNvPr id="78" name="文本框 77"/>
          <p:cNvSpPr txBox="1"/>
          <p:nvPr/>
        </p:nvSpPr>
        <p:spPr>
          <a:xfrm>
            <a:off x="3062581" y="1179783"/>
            <a:ext cx="2435347" cy="584775"/>
          </a:xfrm>
          <a:prstGeom prst="rect">
            <a:avLst/>
          </a:prstGeom>
          <a:noFill/>
          <a:ln>
            <a:noFill/>
          </a:ln>
          <a:effectLst/>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noProof="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CONTENTS</a:t>
            </a:r>
            <a:endParaRPr kumimoji="0" lang="en-US" altLang="zh-CN" sz="3200" b="1" i="0" u="none" strike="noStrike" kern="1200" cap="none" spc="0" normalizeH="0" noProof="0" dirty="0">
              <a:ln>
                <a:noFill/>
              </a:ln>
              <a:solidFill>
                <a:schemeClr val="bg1">
                  <a:lumMod val="75000"/>
                </a:schemeClr>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endParaRPr>
          </a:p>
        </p:txBody>
      </p:sp>
      <p:sp>
        <p:nvSpPr>
          <p:cNvPr id="48" name="矩形 47"/>
          <p:cNvSpPr/>
          <p:nvPr/>
        </p:nvSpPr>
        <p:spPr>
          <a:xfrm>
            <a:off x="954799" y="2985340"/>
            <a:ext cx="1299736" cy="1045210"/>
          </a:xfrm>
          <a:prstGeom prst="rect">
            <a:avLst/>
          </a:prstGeom>
          <a:noFill/>
          <a:effectLst>
            <a:outerShdw blurRad="50800" dist="38100" dir="2700000" algn="tl" rotWithShape="0">
              <a:srgbClr val="FFFFFF">
                <a:alpha val="4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200" b="0" i="0" u="none" strike="noStrike" kern="1200" cap="none" spc="300" normalizeH="0" baseline="0" noProof="0" dirty="0">
                <a:ln>
                  <a:noFill/>
                </a:ln>
                <a:solidFill>
                  <a:srgbClr val="01255A"/>
                </a:solidFill>
                <a:effectLst/>
                <a:uLnTx/>
                <a:uFillTx/>
                <a:latin typeface="思源黑体 CN Bold" panose="020B0800000000000000" pitchFamily="34" charset="-122"/>
                <a:ea typeface="思源黑体 CN Bold" panose="020B0800000000000000" pitchFamily="34" charset="-122"/>
                <a:sym typeface="思源黑体 CN Light" panose="020B0300000000000000" pitchFamily="34" charset="-122"/>
              </a:rPr>
              <a:t>13</a:t>
            </a:r>
          </a:p>
        </p:txBody>
      </p:sp>
      <p:sp>
        <p:nvSpPr>
          <p:cNvPr id="3" name="椭圆 2"/>
          <p:cNvSpPr/>
          <p:nvPr/>
        </p:nvSpPr>
        <p:spPr>
          <a:xfrm>
            <a:off x="-986155" y="5693410"/>
            <a:ext cx="2044700" cy="2044700"/>
          </a:xfrm>
          <a:prstGeom prst="ellipse">
            <a:avLst/>
          </a:prstGeom>
          <a:solidFill>
            <a:srgbClr val="0125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466725" y="5224145"/>
            <a:ext cx="1005840" cy="1005840"/>
          </a:xfrm>
          <a:prstGeom prst="ellips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additive="base">
                                        <p:cTn id="7" dur="500" fill="hold"/>
                                        <p:tgtEl>
                                          <p:spTgt spid="77"/>
                                        </p:tgtEl>
                                        <p:attrNameLst>
                                          <p:attrName>ppt_x</p:attrName>
                                        </p:attrNameLst>
                                      </p:cBhvr>
                                      <p:tavLst>
                                        <p:tav tm="0">
                                          <p:val>
                                            <p:strVal val="#ppt_x"/>
                                          </p:val>
                                        </p:tav>
                                        <p:tav tm="100000">
                                          <p:val>
                                            <p:strVal val="#ppt_x"/>
                                          </p:val>
                                        </p:tav>
                                      </p:tavLst>
                                    </p:anim>
                                    <p:anim calcmode="lin" valueType="num">
                                      <p:cBhvr additive="base">
                                        <p:cTn id="8" dur="500" fill="hold"/>
                                        <p:tgtEl>
                                          <p:spTgt spid="77"/>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 calcmode="lin" valueType="num">
                                      <p:cBhvr additive="base">
                                        <p:cTn id="17" dur="500" fill="hold"/>
                                        <p:tgtEl>
                                          <p:spTgt spid="63"/>
                                        </p:tgtEl>
                                        <p:attrNameLst>
                                          <p:attrName>ppt_x</p:attrName>
                                        </p:attrNameLst>
                                      </p:cBhvr>
                                      <p:tavLst>
                                        <p:tav tm="0">
                                          <p:val>
                                            <p:strVal val="#ppt_x"/>
                                          </p:val>
                                        </p:tav>
                                        <p:tav tm="100000">
                                          <p:val>
                                            <p:strVal val="#ppt_x"/>
                                          </p:val>
                                        </p:tav>
                                      </p:tavLst>
                                    </p:anim>
                                    <p:anim calcmode="lin" valueType="num">
                                      <p:cBhvr additive="base">
                                        <p:cTn id="18" dur="500" fill="hold"/>
                                        <p:tgtEl>
                                          <p:spTgt spid="63"/>
                                        </p:tgtEl>
                                        <p:attrNameLst>
                                          <p:attrName>ppt_y</p:attrName>
                                        </p:attrNameLst>
                                      </p:cBhvr>
                                      <p:tavLst>
                                        <p:tav tm="0">
                                          <p:val>
                                            <p:strVal val="1+#ppt_h/2"/>
                                          </p:val>
                                        </p:tav>
                                        <p:tav tm="100000">
                                          <p:val>
                                            <p:strVal val="#ppt_y"/>
                                          </p:val>
                                        </p:tav>
                                      </p:tavLst>
                                    </p:anim>
                                  </p:childTnLst>
                                </p:cTn>
                              </p:par>
                              <p:par>
                                <p:cTn id="19" presetID="2" presetClass="entr" presetSubtype="4" fill="hold" grpId="1"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ppt_x"/>
                                          </p:val>
                                        </p:tav>
                                        <p:tav tm="100000">
                                          <p:val>
                                            <p:strVal val="#ppt_x"/>
                                          </p:val>
                                        </p:tav>
                                      </p:tavLst>
                                    </p:anim>
                                    <p:anim calcmode="lin" valueType="num">
                                      <p:cBhvr additive="base">
                                        <p:cTn id="2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1" nodeType="clickEffect">
                                  <p:stCondLst>
                                    <p:cond delay="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500" fill="hold"/>
                                        <p:tgtEl>
                                          <p:spTgt spid="48"/>
                                        </p:tgtEl>
                                        <p:attrNameLst>
                                          <p:attrName>ppt_x</p:attrName>
                                        </p:attrNameLst>
                                      </p:cBhvr>
                                      <p:tavLst>
                                        <p:tav tm="0">
                                          <p:val>
                                            <p:strVal val="#ppt_x"/>
                                          </p:val>
                                        </p:tav>
                                        <p:tav tm="100000">
                                          <p:val>
                                            <p:strVal val="#ppt_x"/>
                                          </p:val>
                                        </p:tav>
                                      </p:tavLst>
                                    </p:anim>
                                    <p:anim calcmode="lin" valueType="num">
                                      <p:cBhvr additive="base">
                                        <p:cTn id="2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77" grpId="0"/>
      <p:bldP spid="77" grpId="1" bldLvl="0" animBg="1"/>
      <p:bldP spid="78" grpId="0"/>
      <p:bldP spid="78" grpId="1" bldLvl="0" animBg="1"/>
      <p:bldP spid="48" grpId="0"/>
      <p:bldP spid="48"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09650"/>
            <a:ext cx="9582785" cy="14446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什么是标识符</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在Java中，标识符是用来给变量、方法、类和包等命名的字符序列。</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标识符的长度没有限制，但是建议使用有意义的、简洁的标识符，以提高代码的可读性和可维护性。</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标识符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324735"/>
            <a:ext cx="9582785" cy="324104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标识符可以标识什么</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方法名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类名、接口名、枚举名、注解名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包名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常量名</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a:t>
            </a: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09650"/>
            <a:ext cx="9582785" cy="25139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标识符命名规则</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标识符可以由字母、数字、下划线(_)和美元符号($)组成，不能含有其他符号。（java支持全球所有语言，所以这里的 字母 指的是任何一个国家的</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文字</a:t>
            </a:r>
            <a:r>
              <a:rPr lang="en-US" altLang="zh-CN" sz="1400" kern="0" dirty="0">
                <a:solidFill>
                  <a:schemeClr val="tx1"/>
                </a:solidFill>
                <a:latin typeface="思源黑体 CN Normal" panose="020B0400000000000000" pitchFamily="34" charset="-122"/>
                <a:ea typeface="思源黑体 CN Normal" panose="020B0400000000000000" pitchFamily="34" charset="-122"/>
              </a:rPr>
              <a:t>都可以）</a:t>
            </a:r>
          </a:p>
          <a:p>
            <a:pPr marL="228600" indent="-228600" algn="l" defTabSz="914400">
              <a:lnSpc>
                <a:spcPct val="150000"/>
              </a:lnSpc>
              <a:spcAft>
                <a:spcPts val="0"/>
              </a:spcAft>
              <a:buFont typeface="+mj-ea"/>
              <a:buAutoNum type="circleNumDbPlain"/>
            </a:pPr>
            <a:r>
              <a:rPr lang="en-US" altLang="zh-CN"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标识符不能以数字开头。</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标识符不能是Java中的关键字，如public、class、void等。</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标识符是区分大小写的，即Foo和foo是两个不同的标识符。</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标识符的长度没有限制，但是Java建议使用有意义的、简短的标识符。</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标识符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27760" y="3429000"/>
            <a:ext cx="9582785" cy="27743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标识符命名规范</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见名知意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驼峰式命名方式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类名、接口名、枚举、注解：首字母大写，后面每个单词首字母大写。（StudentService，UserService）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变量名和方法名：首字母小写，后面每个单词首字母大写。（doSome，doOther）</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常量名：全部大写，每个单词用下划线连接。（LOGIN_SUCCESS，SYSTEM_ERROR）</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包名：全部小写</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24865"/>
            <a:ext cx="9582785" cy="50838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判断标识符是否合法</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myVariable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2name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first.name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studentName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public</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public1</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address#</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MAX_SIZE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id#</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_id</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@age  </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$money</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你好</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标识符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11633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什么是关键字</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Java关键字是Java编程语言中预定义的具有特殊含义的</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单词</a:t>
            </a:r>
            <a:r>
              <a:rPr lang="en-US" altLang="zh-CN" sz="1400" kern="0" dirty="0">
                <a:solidFill>
                  <a:schemeClr val="tx1"/>
                </a:solidFill>
                <a:latin typeface="思源黑体 CN Normal" panose="020B0400000000000000" pitchFamily="34" charset="-122"/>
                <a:ea typeface="思源黑体 CN Normal" panose="020B0400000000000000" pitchFamily="34" charset="-122"/>
              </a:rPr>
              <a:t>，这些</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单词</a:t>
            </a:r>
            <a:r>
              <a:rPr lang="en-US" altLang="zh-CN" sz="1400" kern="0" dirty="0">
                <a:solidFill>
                  <a:schemeClr val="tx1"/>
                </a:solidFill>
                <a:latin typeface="思源黑体 CN Normal" panose="020B0400000000000000" pitchFamily="34" charset="-122"/>
                <a:ea typeface="思源黑体 CN Normal" panose="020B0400000000000000" pitchFamily="34" charset="-122"/>
              </a:rPr>
              <a:t>不能被用作标识符，而是在语法中有特定的用法和限制。</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02</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关键字</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352040"/>
            <a:ext cx="9582785" cy="298704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关键字有哪些</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Java关键字</a:t>
            </a:r>
            <a:r>
              <a:rPr lang="zh-CN" altLang="en-US" sz="1400" kern="0" dirty="0">
                <a:solidFill>
                  <a:schemeClr val="tx1"/>
                </a:solidFill>
                <a:latin typeface="思源黑体 CN Normal" panose="020B0400000000000000" pitchFamily="34" charset="-122"/>
                <a:ea typeface="思源黑体 CN Normal" panose="020B0400000000000000" pitchFamily="34" charset="-122"/>
              </a:rPr>
              <a:t>都是小写的。</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abstract, assert, boolean, break, byte, case, catch, char, class, continue, default, do, double, else, enum, extends, final, finally, float, for, if, implements, import, instanceof, int, interface, long, native, new, package, private, protected, public, return, short, static, strictfp, super, switch, synchronized, this, throw, throws, transient, try, void, volatile, while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Java</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保留字：</a:t>
            </a:r>
            <a:r>
              <a:rPr lang="en-US" altLang="zh-CN" sz="1400" kern="0" dirty="0">
                <a:solidFill>
                  <a:schemeClr val="tx1"/>
                </a:solidFill>
                <a:latin typeface="思源黑体 CN Normal" panose="020B0400000000000000" pitchFamily="34" charset="-122"/>
                <a:ea typeface="思源黑体 CN Normal" panose="020B0400000000000000" pitchFamily="34" charset="-122"/>
              </a:rPr>
              <a:t>goto</a:t>
            </a:r>
            <a:r>
              <a:rPr lang="zh-CN" altLang="en-US" sz="1400" kern="0" dirty="0">
                <a:solidFill>
                  <a:schemeClr val="tx1"/>
                </a:solidFill>
                <a:latin typeface="思源黑体 CN Normal" panose="020B0400000000000000" pitchFamily="34" charset="-122"/>
                <a:ea typeface="思源黑体 CN Normal" panose="020B0400000000000000" pitchFamily="34" charset="-122"/>
              </a:rPr>
              <a:t>，</a:t>
            </a:r>
            <a:r>
              <a:rPr lang="en-US" altLang="zh-CN" sz="1400" kern="0" dirty="0">
                <a:solidFill>
                  <a:schemeClr val="tx1"/>
                </a:solidFill>
                <a:latin typeface="思源黑体 CN Normal" panose="020B0400000000000000" pitchFamily="34" charset="-122"/>
                <a:ea typeface="思源黑体 CN Normal" panose="020B0400000000000000" pitchFamily="34" charset="-122"/>
              </a:rPr>
              <a:t>const</a:t>
            </a: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10048875" cy="9702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什么是字面量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字面量指的是在程序中直接使用的数据，字面量是Java中最基本的表达式，不需要进行计算或转换，直接使用即可。</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03</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字面量</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256155"/>
            <a:ext cx="10048875" cy="21062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中有哪些字面量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整数型：10、-5、0、100</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浮点型：3.14、-0.5、1.0</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布尔型：true、false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字符型：'a'、'b'、'c'、'1'、'2'、'国'</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字符串型："Hello"、"World"、"Java"、"你好呀"</a:t>
            </a:r>
          </a:p>
        </p:txBody>
      </p:sp>
      <p:sp>
        <p:nvSpPr>
          <p:cNvPr id="3" name="文本框 2"/>
          <p:cNvSpPr txBox="1"/>
          <p:nvPr>
            <p:custDataLst>
              <p:tags r:id="rId3"/>
            </p:custDataLst>
          </p:nvPr>
        </p:nvSpPr>
        <p:spPr>
          <a:xfrm>
            <a:off x="1118870" y="4489450"/>
            <a:ext cx="10048875" cy="15163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加号运算符</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作用</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：求和（当加号两边都是数字时进行求和运算）</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作用</a:t>
            </a:r>
            <a:r>
              <a:rPr lang="en-US" altLang="zh-CN" sz="1400" kern="0" dirty="0">
                <a:solidFill>
                  <a:schemeClr val="tx1"/>
                </a:solidFill>
                <a:latin typeface="思源黑体 CN Normal" panose="020B0400000000000000" pitchFamily="34" charset="-122"/>
                <a:ea typeface="思源黑体 CN Normal" panose="020B0400000000000000" pitchFamily="34" charset="-122"/>
              </a:rPr>
              <a:t>2</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：字符串拼接（当加号两边有任意一边是字符串类型时会进行字符串拼接，结果还是一个字符串）</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59790"/>
            <a:ext cx="9582785" cy="49491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什么是变量？</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变量是内存当中的一块空间。是计算机中存储数据最基本的单元。</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变量三要素：</a:t>
            </a:r>
          </a:p>
          <a:p>
            <a:pPr marL="742950" lvl="1" indent="-285750" algn="l" defTabSz="914400">
              <a:lnSpc>
                <a:spcPct val="150000"/>
              </a:lnSpc>
              <a:spcAft>
                <a:spcPts val="0"/>
              </a:spcAft>
              <a:buFont typeface="Wingdings" panose="05000000000000000000" charset="0"/>
              <a:buChar char="l"/>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数据类型（决定空间大小）【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int, double, String</a:t>
            </a:r>
            <a:r>
              <a:rPr lang="zh-CN" altLang="en-US" sz="1400" kern="0" dirty="0">
                <a:solidFill>
                  <a:schemeClr val="tx1"/>
                </a:solidFill>
                <a:latin typeface="思源黑体 CN Normal" panose="020B0400000000000000" pitchFamily="34" charset="-122"/>
                <a:ea typeface="思源黑体 CN Normal" panose="020B0400000000000000" pitchFamily="34" charset="-122"/>
              </a:rPr>
              <a:t>】</a:t>
            </a:r>
          </a:p>
          <a:p>
            <a:pPr marL="742950" lvl="1" indent="-285750" algn="l" defTabSz="914400">
              <a:lnSpc>
                <a:spcPct val="150000"/>
              </a:lnSpc>
              <a:spcAft>
                <a:spcPts val="0"/>
              </a:spcAft>
              <a:buFont typeface="Wingdings" panose="05000000000000000000" charset="0"/>
              <a:buChar char="l"/>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变量名（只要是合法的标识符即可）</a:t>
            </a:r>
          </a:p>
          <a:p>
            <a:pPr marL="742950" lvl="1" indent="-285750" algn="l" defTabSz="914400">
              <a:lnSpc>
                <a:spcPct val="150000"/>
              </a:lnSpc>
              <a:spcAft>
                <a:spcPts val="0"/>
              </a:spcAft>
              <a:buFont typeface="Wingdings" panose="05000000000000000000" charset="0"/>
              <a:buChar char="l"/>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变量值（变量中具体存储的数据）</a:t>
            </a:r>
          </a:p>
          <a:p>
            <a:pPr marL="342900" lvl="1" indent="-342900" algn="l" defTabSz="914400">
              <a:lnSpc>
                <a:spcPct val="150000"/>
              </a:lnSpc>
              <a:spcAft>
                <a:spcPts val="0"/>
              </a:spcAft>
              <a:buClrTx/>
              <a:buSzTx/>
              <a:buFont typeface="+mj-ea"/>
              <a:buAutoNum type="circleNumDbPlain" startAt="3"/>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变量的声明、赋值、访问</a:t>
            </a:r>
          </a:p>
          <a:p>
            <a:pPr marL="800100" lvl="2" indent="-342900" algn="l" defTabSz="914400">
              <a:lnSpc>
                <a:spcPct val="150000"/>
              </a:lnSpc>
              <a:spcAft>
                <a:spcPts val="0"/>
              </a:spcAft>
              <a:buClrTx/>
              <a:buSzTx/>
              <a:buFont typeface="Wingdings" panose="05000000000000000000" charset="0"/>
              <a:buChar char="l"/>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int i;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声明一个整数型的变量，起名</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p>
          <a:p>
            <a:pPr marL="800100" lvl="2" indent="-342900" algn="l" defTabSz="914400">
              <a:lnSpc>
                <a:spcPct val="150000"/>
              </a:lnSpc>
              <a:spcAft>
                <a:spcPts val="0"/>
              </a:spcAft>
              <a:buClrTx/>
              <a:buSzTx/>
              <a:buFont typeface="Wingdings" panose="05000000000000000000" charset="0"/>
              <a:buChar char="l"/>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 = 100;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给变量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赋值</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100</a:t>
            </a:r>
          </a:p>
          <a:p>
            <a:pPr marL="800100" lvl="2" indent="-342900" algn="l" defTabSz="914400">
              <a:lnSpc>
                <a:spcPct val="150000"/>
              </a:lnSpc>
              <a:spcAft>
                <a:spcPts val="0"/>
              </a:spcAft>
              <a:buClrTx/>
              <a:buSzTx/>
              <a:buFont typeface="Wingdings" panose="05000000000000000000" charset="0"/>
              <a:buChar char="l"/>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System.out.println(i);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访问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变量：读操作</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800100" lvl="2" indent="-342900" algn="l" defTabSz="914400">
              <a:lnSpc>
                <a:spcPct val="150000"/>
              </a:lnSpc>
              <a:spcAft>
                <a:spcPts val="0"/>
              </a:spcAft>
              <a:buClrTx/>
              <a:buSzTx/>
              <a:buFont typeface="Wingdings" panose="05000000000000000000" charset="0"/>
              <a:buChar char="l"/>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 = 200;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访问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变量：改操作【给变量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重新赋值</a:t>
            </a:r>
            <a:r>
              <a:rPr lang="en-US" altLang="zh-CN" sz="1400" kern="0" dirty="0">
                <a:solidFill>
                  <a:schemeClr val="tx1"/>
                </a:solidFill>
                <a:latin typeface="思源黑体 CN Normal" panose="020B0400000000000000" pitchFamily="34" charset="-122"/>
                <a:ea typeface="思源黑体 CN Normal" panose="020B0400000000000000" pitchFamily="34" charset="-122"/>
              </a:rPr>
              <a:t>200</a:t>
            </a:r>
            <a:r>
              <a:rPr lang="zh-CN" altLang="en-US" sz="1400" kern="0" dirty="0">
                <a:solidFill>
                  <a:schemeClr val="tx1"/>
                </a:solidFill>
                <a:latin typeface="思源黑体 CN Normal" panose="020B0400000000000000" pitchFamily="34" charset="-122"/>
                <a:ea typeface="思源黑体 CN Normal" panose="020B0400000000000000" pitchFamily="34" charset="-122"/>
              </a:rPr>
              <a:t>】</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800100" lvl="2" indent="-342900" algn="l" defTabSz="914400">
              <a:lnSpc>
                <a:spcPct val="150000"/>
              </a:lnSpc>
              <a:spcAft>
                <a:spcPts val="0"/>
              </a:spcAft>
              <a:buClrTx/>
              <a:buSzTx/>
              <a:buFont typeface="Wingdings" panose="05000000000000000000" charset="0"/>
              <a:buChar char="l"/>
            </a:pP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04</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变量</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2" name="图片 1" descr="未命名文件 (2)"/>
          <p:cNvPicPr>
            <a:picLocks noChangeAspect="1"/>
          </p:cNvPicPr>
          <p:nvPr/>
        </p:nvPicPr>
        <p:blipFill>
          <a:blip r:embed="rId4"/>
          <a:stretch>
            <a:fillRect/>
          </a:stretch>
        </p:blipFill>
        <p:spPr>
          <a:xfrm>
            <a:off x="6861810" y="1833880"/>
            <a:ext cx="4001770" cy="24682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59790"/>
            <a:ext cx="9582785" cy="49491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变量的作用</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变量的存在会让程序更加便于维护。</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System.out.println(100 + 111);</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sym typeface="+mn-ea"/>
              </a:rPr>
              <a:t>System.out.println(100 + 222);</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sym typeface="+mn-ea"/>
              </a:rPr>
              <a:t>以上代码的设计就不如以下的代码：</a:t>
            </a:r>
            <a:endParaRPr lang="en-US" altLang="zh-CN" sz="1400" kern="0" dirty="0">
              <a:solidFill>
                <a:schemeClr val="tx1"/>
              </a:solidFill>
              <a:latin typeface="思源黑体 CN Normal" panose="020B0400000000000000" pitchFamily="34" charset="-122"/>
              <a:ea typeface="思源黑体 CN Normal" panose="020B0400000000000000" pitchFamily="34" charset="-122"/>
              <a:sym typeface="+mn-ea"/>
            </a:endParaRP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int num = 100;</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sym typeface="+mn-ea"/>
              </a:rPr>
              <a:t>System.out.println(num + 111);</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sym typeface="+mn-ea"/>
              </a:rPr>
              <a:t>System.out.println(num + 222);</a:t>
            </a: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变量的存在可以增强程序的可读性。</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System.out.println(3.14 * 10 * 10);</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以上代码的设计就不如以下的代码：</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double π = 3.14;</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int r = 10;</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System.out.println(π * r * r);</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04</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变量</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50900"/>
            <a:ext cx="9582785" cy="20808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变量的小细节</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变量必须先声明，再赋值，才能访问</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方法体当中的代码遵循自上而下的顺序依次逐行执行，变量先访问，再声明肯定是不行的</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一行代码上可以同时声明多个变量</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在同一个作用域当中，变量名不能重名，可以重新赋值</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变量值的数据类型必须和变量的数据类型一致，这样是不允许的：</a:t>
            </a:r>
            <a:r>
              <a:rPr lang="en-US" altLang="zh-CN" sz="1400" kern="0" dirty="0">
                <a:solidFill>
                  <a:schemeClr val="tx1"/>
                </a:solidFill>
                <a:latin typeface="思源黑体 CN Normal" panose="020B0400000000000000" pitchFamily="34" charset="-122"/>
                <a:ea typeface="思源黑体 CN Normal" panose="020B0400000000000000" pitchFamily="34" charset="-122"/>
              </a:rPr>
              <a:t>String name = 100;</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04</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变量</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997200"/>
            <a:ext cx="9582785" cy="14312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变量的作用域</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作用域就是变量的有效范围。变量的作用域是怎样的呢？用一句大白话就可以概括了：</a:t>
            </a:r>
            <a:r>
              <a:rPr lang="en-US" altLang="zh-CN"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出了大括号就不认识了。</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作用域的不同主要是因为声明在不同位置的变量具有不同的生命周期。所谓的生命周期是：从内存开辟到内存释放。</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Java</a:t>
            </a:r>
            <a:r>
              <a:rPr lang="zh-CN" altLang="en-US" sz="1400" kern="0" dirty="0">
                <a:solidFill>
                  <a:schemeClr val="tx1"/>
                </a:solidFill>
                <a:latin typeface="思源黑体 CN Normal" panose="020B0400000000000000" pitchFamily="34" charset="-122"/>
                <a:ea typeface="思源黑体 CN Normal" panose="020B0400000000000000" pitchFamily="34" charset="-122"/>
              </a:rPr>
              <a:t>遵循就近原则</a:t>
            </a:r>
          </a:p>
        </p:txBody>
      </p:sp>
      <p:sp>
        <p:nvSpPr>
          <p:cNvPr id="3" name="文本框 2"/>
          <p:cNvSpPr txBox="1"/>
          <p:nvPr>
            <p:custDataLst>
              <p:tags r:id="rId3"/>
            </p:custDataLst>
          </p:nvPr>
        </p:nvSpPr>
        <p:spPr>
          <a:xfrm>
            <a:off x="1118870" y="4493895"/>
            <a:ext cx="9582785" cy="19945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变量的分类</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局部变量</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成员变量</a:t>
            </a:r>
          </a:p>
          <a:p>
            <a:pPr marL="800100" lvl="1" indent="-342900" algn="l" defTabSz="914400">
              <a:lnSpc>
                <a:spcPct val="150000"/>
              </a:lnSpc>
              <a:spcAft>
                <a:spcPts val="0"/>
              </a:spcAft>
              <a:buFont typeface="+mj-lt"/>
              <a:buAutoNum type="arabicPeriod"/>
            </a:pPr>
            <a:r>
              <a:rPr lang="zh-CN" altLang="en-US" sz="1400" kern="0" dirty="0">
                <a:solidFill>
                  <a:schemeClr val="tx1"/>
                </a:solidFill>
                <a:latin typeface="思源黑体 CN Normal" panose="020B0400000000000000" pitchFamily="34" charset="-122"/>
                <a:ea typeface="思源黑体 CN Normal" panose="020B0400000000000000" pitchFamily="34" charset="-122"/>
              </a:rPr>
              <a:t>静态变量</a:t>
            </a:r>
          </a:p>
          <a:p>
            <a:pPr marL="800100" lvl="1" indent="-342900" algn="l" defTabSz="914400">
              <a:lnSpc>
                <a:spcPct val="150000"/>
              </a:lnSpc>
              <a:spcAft>
                <a:spcPts val="0"/>
              </a:spcAft>
              <a:buFont typeface="+mj-lt"/>
              <a:buAutoNum type="arabicPeriod"/>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实例变量</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582785" cy="183197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二进制概述</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计算机底层只能识别二进制。计算机底层只识别二进制是因为计算机内部的电子元件只能识别两种状态，即开和关，或者高电平和低电平。二进制正好可以用两种状态来表示数字和字符，因此成为了计算机最基本的表示方法。在计算机内部，所有的数据都被转化为二进制形式进行处理和存储。虽然计算机可以通过不同的编程语言和程序来处理不同的数据类型和格式，但最终都需要将其转化为二进制形式才能被计算机底层识别和处理。</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05</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二进制</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766695"/>
            <a:ext cx="9582785" cy="13315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什么是二进制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十进制：满十进一</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二进制：满二进一</a:t>
            </a:r>
          </a:p>
        </p:txBody>
      </p:sp>
      <p:pic>
        <p:nvPicPr>
          <p:cNvPr id="3" name="图片 2"/>
          <p:cNvPicPr>
            <a:picLocks noChangeAspect="1"/>
          </p:cNvPicPr>
          <p:nvPr>
            <p:custDataLst>
              <p:tags r:id="rId3"/>
            </p:custDataLst>
          </p:nvPr>
        </p:nvPicPr>
        <p:blipFill>
          <a:blip r:embed="rId6"/>
          <a:stretch>
            <a:fillRect/>
          </a:stretch>
        </p:blipFill>
        <p:spPr>
          <a:xfrm>
            <a:off x="1118870" y="4283075"/>
            <a:ext cx="946785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582785" cy="183197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十进制转换为二进制</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将十进制数除以2，得到商和余数。</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将余数记录下来，然后将商作为新的十进制数，重复步骤1，直到商为0为止。</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将记录的余数从下往上排列，得到的就是对应的二进制数。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05</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二进制</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077595" y="2766695"/>
            <a:ext cx="9582785" cy="25444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二进制转换为十进制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将二进制数每一位权值找出来，然后每个权值与对应二进制位相乘，最后将它们相加，即可得到十进制数。</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什么是权值？</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在二进制中，权值指的是每个位所代表的数值大小，即二进制中每个位的位置所代表的数值大小。</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例如，在二进制数1101中，最高位的权值为8，次高位的权值为4，第三位的权值为2，最低位的权值为1。</a:t>
            </a:r>
          </a:p>
          <a:p>
            <a:pPr marL="342900" indent="-342900" algn="l" defTabSz="914400">
              <a:lnSpc>
                <a:spcPct val="150000"/>
              </a:lnSpc>
              <a:spcAft>
                <a:spcPts val="0"/>
              </a:spcAft>
              <a:buFont typeface="+mj-ea"/>
              <a:buAutoNum type="circleNumDbPlain" startAt="3"/>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例如，二进制数1101转换为十进制数的计算过程如下：</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1×2³ + 1×2² + 0×2¹ + 1×2⁰ = 8 + 4 + 0 + 1 = 13</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582785" cy="32753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练习一下：</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将以下十进制的数字转换为二进制：</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243</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165</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89</a:t>
            </a:r>
          </a:p>
          <a:p>
            <a:pPr marL="342900" indent="-342900" algn="l" defTabSz="914400">
              <a:lnSpc>
                <a:spcPct val="150000"/>
              </a:lnSpc>
              <a:spcAft>
                <a:spcPts val="0"/>
              </a:spcAft>
              <a:buFont typeface="+mj-ea"/>
              <a:buAutoNum type="circleNumDbPlain" startAt="2"/>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将以下二进制的数字转换为十进制：</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101010</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111100</a:t>
            </a:r>
          </a:p>
          <a:p>
            <a:pPr marL="0" indent="45720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011001</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05</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二进制</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什么是八进制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满八进一</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167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八进制与十六进制</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pic>
        <p:nvPicPr>
          <p:cNvPr id="2" name="图片 1" descr="image"/>
          <p:cNvPicPr>
            <a:picLocks noChangeAspect="1"/>
          </p:cNvPicPr>
          <p:nvPr/>
        </p:nvPicPr>
        <p:blipFill>
          <a:blip r:embed="rId6"/>
          <a:stretch>
            <a:fillRect/>
          </a:stretch>
        </p:blipFill>
        <p:spPr>
          <a:xfrm>
            <a:off x="3304540" y="1242695"/>
            <a:ext cx="7783830" cy="847090"/>
          </a:xfrm>
          <a:prstGeom prst="rect">
            <a:avLst/>
          </a:prstGeom>
        </p:spPr>
      </p:pic>
      <p:sp>
        <p:nvSpPr>
          <p:cNvPr id="3" name="文本框 2"/>
          <p:cNvSpPr txBox="1"/>
          <p:nvPr>
            <p:custDataLst>
              <p:tags r:id="rId2"/>
            </p:custDataLst>
          </p:nvPr>
        </p:nvSpPr>
        <p:spPr>
          <a:xfrm>
            <a:off x="1118870" y="2527300"/>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十进制转换为八进制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与二进制原理相同</a:t>
            </a:r>
          </a:p>
        </p:txBody>
      </p:sp>
      <p:sp>
        <p:nvSpPr>
          <p:cNvPr id="4" name="文本框 3"/>
          <p:cNvSpPr txBox="1"/>
          <p:nvPr>
            <p:custDataLst>
              <p:tags r:id="rId3"/>
            </p:custDataLst>
          </p:nvPr>
        </p:nvSpPr>
        <p:spPr>
          <a:xfrm>
            <a:off x="1118870" y="3978910"/>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八进制转换为十进制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与二进制原理相同</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什么是十六进制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满十六进一</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167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八进制与十六进制</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3" name="文本框 2"/>
          <p:cNvSpPr txBox="1"/>
          <p:nvPr>
            <p:custDataLst>
              <p:tags r:id="rId2"/>
            </p:custDataLst>
          </p:nvPr>
        </p:nvSpPr>
        <p:spPr>
          <a:xfrm>
            <a:off x="1118870" y="2527300"/>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十进制转换为十六进制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与二进制原理相同</a:t>
            </a:r>
          </a:p>
        </p:txBody>
      </p:sp>
      <p:sp>
        <p:nvSpPr>
          <p:cNvPr id="4" name="文本框 3"/>
          <p:cNvSpPr txBox="1"/>
          <p:nvPr>
            <p:custDataLst>
              <p:tags r:id="rId3"/>
            </p:custDataLst>
          </p:nvPr>
        </p:nvSpPr>
        <p:spPr>
          <a:xfrm>
            <a:off x="1118870" y="3978910"/>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十六进制转换为十进制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与二进制原理相同</a:t>
            </a:r>
          </a:p>
        </p:txBody>
      </p:sp>
      <p:pic>
        <p:nvPicPr>
          <p:cNvPr id="5" name="图片 4" descr="image"/>
          <p:cNvPicPr>
            <a:picLocks noChangeAspect="1"/>
          </p:cNvPicPr>
          <p:nvPr/>
        </p:nvPicPr>
        <p:blipFill>
          <a:blip r:embed="rId6"/>
          <a:stretch>
            <a:fillRect/>
          </a:stretch>
        </p:blipFill>
        <p:spPr>
          <a:xfrm>
            <a:off x="3637915" y="1273175"/>
            <a:ext cx="7354570" cy="8166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二进制转换为十六进制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将二进制数从右往左每四位一组，不足四位则在左侧补0，得到若干个四位二进制数。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将每个四位二进制数转换为对应的十六进制数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167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06</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八进制与十六进制</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4" name="文本框 3"/>
          <p:cNvSpPr txBox="1"/>
          <p:nvPr>
            <p:custDataLst>
              <p:tags r:id="rId2"/>
            </p:custDataLst>
          </p:nvPr>
        </p:nvSpPr>
        <p:spPr>
          <a:xfrm>
            <a:off x="1118870" y="2693035"/>
            <a:ext cx="9582785" cy="10140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十六进制转换为二进制</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将十六进制中的每个数字转换成</a:t>
            </a:r>
            <a:r>
              <a:rPr lang="en-US" altLang="zh-CN" sz="1400" kern="0" dirty="0">
                <a:solidFill>
                  <a:schemeClr val="tx1"/>
                </a:solidFill>
                <a:latin typeface="思源黑体 CN Normal" panose="020B0400000000000000" pitchFamily="34" charset="-122"/>
                <a:ea typeface="思源黑体 CN Normal" panose="020B0400000000000000" pitchFamily="34" charset="-122"/>
              </a:rPr>
              <a:t>4</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个二进制位</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35217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byte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与</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bit</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byte（字节）是计算机存储和处理数据的基本单位，通常由8个比特（bit）组成。每个比特（bit）是计算机中最小的存储单位，只能存储0或1两个状态。因此，一个字节（byte）可以存储8个比特（bit）的数据。</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两者之间的关系是，1 byte = 8 bit，即8个比特（bit）组成一个字节（byte）。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在计算机中，数据通常以字节（byte）为单位进行存储和传输，而比特（bit）则是用来表示数据的最小单位。</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1KB = 1024byte</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1MB = 1024KB</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1GB = 1024MB</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1TB = 1024GB</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07</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原码反码补码</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59790"/>
            <a:ext cx="9582785" cy="14712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原码反码补码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原码反码补码是计算机二进制的三种表示形式。</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计算机在底层都是采用二进制补码形式表示的。</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二进制位最高位称为符号位，</a:t>
            </a:r>
            <a:r>
              <a:rPr lang="en-US" altLang="zh-CN" sz="1400" kern="0" dirty="0">
                <a:solidFill>
                  <a:schemeClr val="tx1"/>
                </a:solidFill>
                <a:latin typeface="思源黑体 CN Normal" panose="020B0400000000000000" pitchFamily="34" charset="-122"/>
                <a:ea typeface="思源黑体 CN Normal" panose="020B0400000000000000" pitchFamily="34" charset="-122"/>
              </a:rPr>
              <a:t>0</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为正数，</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为负数。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07</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原码反码补码</a:t>
            </a: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2331085"/>
            <a:ext cx="9582785" cy="12058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正数的原码反码补码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正数的原码反码补码是相同的。</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127</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的原码反码补码分别是多少？</a:t>
            </a:r>
            <a:r>
              <a:rPr lang="en-US" altLang="zh-CN" sz="1400" kern="0" dirty="0">
                <a:solidFill>
                  <a:schemeClr val="tx1"/>
                </a:solidFill>
                <a:latin typeface="思源黑体 CN Normal" panose="020B0400000000000000" pitchFamily="34" charset="-122"/>
                <a:ea typeface="思源黑体 CN Normal" panose="020B0400000000000000" pitchFamily="34" charset="-122"/>
              </a:rPr>
              <a:t>0111 1111</a:t>
            </a:r>
          </a:p>
        </p:txBody>
      </p:sp>
      <p:sp>
        <p:nvSpPr>
          <p:cNvPr id="3" name="文本框 2"/>
          <p:cNvSpPr txBox="1"/>
          <p:nvPr>
            <p:custDataLst>
              <p:tags r:id="rId3"/>
            </p:custDataLst>
          </p:nvPr>
        </p:nvSpPr>
        <p:spPr>
          <a:xfrm>
            <a:off x="1118870" y="3666490"/>
            <a:ext cx="9582785" cy="241935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负数的原码反码补码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负数的原码运算规则：将绝对值转换为二进制后，最高位改为1。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-5的原码：10000101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-5的反码：11111010（原则是：以原码作为参考，符号位不变，其他位取反。）</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-5的补码：11111011（原则是：以反码作为参考，符号位不变，加1）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-20</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的原码反码补码是多少？</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请问</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-128</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的原码反码补码是多少？</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41375"/>
            <a:ext cx="9582785" cy="25031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已知负数补码怎么得到原码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虽然计算机底层是采用补码的形式存储的，但最终显示给人类的时候是以原码的形式显示的。所以大家需要具备这个能力！！！</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将负数的补码形式除符号位外的所有位按位取反，再加1即可得到原码。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已知补码：10000001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它的原码是：11111111</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结果是：-127</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通过这个可以得出，对于一个字节来说，最大值127，最小值-128。</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07</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原码反码补码</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4" name="文本框 3"/>
          <p:cNvSpPr txBox="1"/>
          <p:nvPr>
            <p:custDataLst>
              <p:tags r:id="rId2"/>
            </p:custDataLst>
          </p:nvPr>
        </p:nvSpPr>
        <p:spPr>
          <a:xfrm>
            <a:off x="1118870" y="3449955"/>
            <a:ext cx="9582785" cy="30994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计算机底层为什么采用补码</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可以简化电路设计：采用补码形式可以将加减法运算转化为相同的操作，从而简化电路设计。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解决了0的正负问题：在原码中，0有两个表示，+0和-0，这样会导致计算结果不唯一，而在补码中，0只有一种表示，即全0，可以避免这个问题。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解决了负数溢出问题：在原码中，负数的表示范围比正数少1，这样在进行减法运算时容易出现负数溢出的情况，而在补码中，负数的表示范围与正数相同，可以避免负数溢出的问题。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方便计算机进行运算：补码形式可以方便计算机进行加减法运算，而且可以使用相同的电路进行运算，从而提高了计算机的运算效率。 </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可以计算一下</a:t>
            </a:r>
            <a:r>
              <a:rPr lang="en-US" altLang="zh-CN" sz="1400" kern="0" dirty="0">
                <a:solidFill>
                  <a:schemeClr val="tx1"/>
                </a:solidFill>
                <a:latin typeface="思源黑体 CN Normal" panose="020B0400000000000000" pitchFamily="34" charset="-122"/>
                <a:ea typeface="思源黑体 CN Normal" panose="020B0400000000000000" pitchFamily="34" charset="-122"/>
              </a:rPr>
              <a:t> -3 + 2</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，看看能不能理解！！！</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9191625" y="934720"/>
            <a:ext cx="2478405" cy="17697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数据类型作用？</a:t>
            </a: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决定给变量分配多大的空间。</a:t>
            </a:r>
          </a:p>
          <a:p>
            <a:pPr marL="0" indent="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2.</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为什么要学习数据类型？</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为了定义变量。</a:t>
            </a:r>
          </a:p>
          <a:p>
            <a:pPr marL="0" indent="0" algn="l" defTabSz="914400">
              <a:lnSpc>
                <a:spcPct val="150000"/>
              </a:lnSpc>
              <a:spcAft>
                <a:spcPts val="0"/>
              </a:spcAft>
              <a:buFont typeface="+mj-ea"/>
              <a:buNone/>
            </a:pPr>
            <a:r>
              <a:rPr lang="en-US" altLang="zh-CN" sz="1400" kern="0" dirty="0">
                <a:solidFill>
                  <a:schemeClr val="tx1"/>
                </a:solidFill>
                <a:latin typeface="思源黑体 CN Normal" panose="020B0400000000000000" pitchFamily="34" charset="-122"/>
                <a:ea typeface="思源黑体 CN Normal" panose="020B0400000000000000" pitchFamily="34" charset="-122"/>
              </a:rPr>
              <a:t>3.</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整数型定义那么多干嘛？</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317436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概述</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317500" y="934720"/>
            <a:ext cx="8524875" cy="56546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320929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概述</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552450" y="1351280"/>
            <a:ext cx="11087100" cy="3343275"/>
          </a:xfrm>
          <a:prstGeom prst="rect">
            <a:avLst/>
          </a:prstGeom>
        </p:spPr>
      </p:pic>
      <p:sp>
        <p:nvSpPr>
          <p:cNvPr id="4" name="文本框 3"/>
          <p:cNvSpPr txBox="1"/>
          <p:nvPr/>
        </p:nvSpPr>
        <p:spPr>
          <a:xfrm>
            <a:off x="552450" y="5309870"/>
            <a:ext cx="10920095" cy="1097915"/>
          </a:xfrm>
          <a:prstGeom prst="rect">
            <a:avLst/>
          </a:prstGeom>
          <a:noFill/>
        </p:spPr>
        <p:txBody>
          <a:bodyPr wrap="square" rtlCol="0" anchor="t">
            <a:noAutofit/>
          </a:bodyPr>
          <a:lstStyle/>
          <a:p>
            <a:r>
              <a:rPr lang="zh-CN" altLang="en-US"/>
              <a:t>关于默认值：Java语言中变量必须先声明，再赋值，才能使用。对于局部变量来说必须手动赋值，而对于成员变量来说，如果没有手动赋值，系统会自动赋默认值。</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219835"/>
            <a:ext cx="9582785" cy="41230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整数型字面量的四种表示形式</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1. 十进制表示法：以数字0-9组成的常数，默认为十进制表示法。</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例如：int a = 10;</a:t>
            </a:r>
          </a:p>
          <a:p>
            <a:pPr marL="0" indent="0" algn="l" defTabSz="914400">
              <a:lnSpc>
                <a:spcPct val="150000"/>
              </a:lnSpc>
              <a:spcAft>
                <a:spcPts val="0"/>
              </a:spcAft>
              <a:buFont typeface="+mj-ea"/>
              <a:buNone/>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2. 二进制表示法：以0b或0B开头的常数，由0和1组合而成。</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例如：int b = 0b101;</a:t>
            </a:r>
          </a:p>
          <a:p>
            <a:pPr marL="0" indent="0" algn="l" defTabSz="914400">
              <a:lnSpc>
                <a:spcPct val="150000"/>
              </a:lnSpc>
              <a:spcAft>
                <a:spcPts val="0"/>
              </a:spcAft>
              <a:buFont typeface="+mj-ea"/>
              <a:buNone/>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3. 八进制表示法：以0开头的常数，由数字0-7组成。</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例如：int c = 012;</a:t>
            </a:r>
          </a:p>
          <a:p>
            <a:pPr marL="0" indent="0" algn="l" defTabSz="914400">
              <a:lnSpc>
                <a:spcPct val="150000"/>
              </a:lnSpc>
              <a:spcAft>
                <a:spcPts val="0"/>
              </a:spcAft>
              <a:buFont typeface="+mj-ea"/>
              <a:buNone/>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4. 十六进制表示法：以0x或0X开头的常数，由0-9和A-F（大小写均可）组成。</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例如：int d = 0x1F;</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26160"/>
            <a:ext cx="9987915" cy="39287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整数型字面量默认当做int处理</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Java中整数型字面量默认被当做int类型来处理，如果要表示long类型的整数，需要在字面量后面加上'L'或'l'标记。例如，下面是表示int和long类型整数的字面量的示例：</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int x = 10; // 10是一个int类型的字面量</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long y = 10L; // 10L是一个long类型的字面量</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需要注意的是，大小写字母'L'和'l'的使用没有区别，但是容易被误解为数字1，因此建议使用大写字母。</a:t>
            </a:r>
          </a:p>
          <a:p>
            <a:pPr marL="0" indent="0" algn="l" defTabSz="914400">
              <a:lnSpc>
                <a:spcPct val="150000"/>
              </a:lnSpc>
              <a:spcAft>
                <a:spcPts val="0"/>
              </a:spcAft>
              <a:buFont typeface="+mj-ea"/>
              <a:buNone/>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请看以下代码有什么问题吗？</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long z = 2147483648;</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编译报错，原因是2147483648被当做int类型处理，而该数字本身已经超出了int最大值，如何修改？</a:t>
            </a:r>
          </a:p>
          <a:p>
            <a:pPr marL="0" indent="45720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long z = 2147483648L;</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26160"/>
            <a:ext cx="5018405" cy="14998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自动类型转换</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在Java中，对于基本数据类型来说，小容量是可以直接赋值给大容量的，这被称为自动类型转换。对于数字类型来说大小关系为：byte &lt; short &lt; int &lt; long &lt; float &lt; double</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6905625" y="1099820"/>
            <a:ext cx="4552950" cy="28860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25525"/>
            <a:ext cx="6199505" cy="42113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强制类型转换</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Java中大容量是无法直接转换成小容量的。因为这种操作可能会导致精度损失，所以这种行为交给了程序员来决定，当然这种后果自然是程序员自己去承担。因此在代码中需要程序员自己亲手加上强制类型转换符，程序才能编译通过</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强制类型转换时，底层二进制是如何变化的？原则：砍掉左侧多余的二进制。</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强制类型转换时，精度可能会损失，也可能不会损失，这要看具体的数据是否真正的超出了强转后的类型的取值范围。如下图：水可能溢出，也可能不会溢出，这要看真实存放的水有多少</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请推算结果：byte b = (byte)150;</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3" name="图片 2"/>
          <p:cNvPicPr>
            <a:picLocks noChangeAspect="1"/>
          </p:cNvPicPr>
          <p:nvPr>
            <p:custDataLst>
              <p:tags r:id="rId2"/>
            </p:custDataLst>
          </p:nvPr>
        </p:nvPicPr>
        <p:blipFill>
          <a:blip r:embed="rId5"/>
          <a:stretch>
            <a:fillRect/>
          </a:stretch>
        </p:blipFill>
        <p:spPr>
          <a:xfrm>
            <a:off x="7833995" y="1694815"/>
            <a:ext cx="3959225" cy="33134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693910" cy="49695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当整数字面量没有超出byte的范围</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在Java中有这样一个规定，当整数型字面量没有超出byte的范围：可以直接赋值给byte类型的变量。</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b = 127; // 这是允许的</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很显然，这是一种编译优化。同时也是为了方便程序员写代码。</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如果超出了范围，例如：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b = 128; // 编译报错</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这样就会报错，需要做强制类型转换，例如：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b = (byte)128;</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它的执行结果你知道吗？可以尝试推算一下</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在整数类型中，除了byte有这个待遇之外，short同样也是支持的。也就是说：如果整数型字面量没有超出short取值范围时，也是支持直接赋值的。</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693910" cy="12814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两个</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int</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类型做运算</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两个int类型的数据做运算，最终的结果还是int类型</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077595" y="2216150"/>
            <a:ext cx="9693910" cy="29794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多种数据类型混合运算</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在Java中，多种数据类型混合运算时，各自先转换成容量最大的类型，再做运算</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a = 100;</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b = 200;</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long c = 300L;</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long d = a + b + c;</a:t>
            </a:r>
          </a:p>
          <a:p>
            <a:pPr marL="0" indent="45720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你可以测试一下，如果d变量是int类型则编译器会报错</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912985" cy="54806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编译器的小心思</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以下程序编译通过：</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x = 10 / 3;</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为什么编译通过？这种情况下都是字面量的时候，编译器可以在编译阶段得出结果是3，而3没有超出byte取值范围。可以直接赋值。</a:t>
            </a:r>
          </a:p>
          <a:p>
            <a:pPr marL="342900" indent="-342900" algn="l" defTabSz="914400">
              <a:lnSpc>
                <a:spcPct val="150000"/>
              </a:lnSpc>
              <a:spcAft>
                <a:spcPts val="0"/>
              </a:spcAft>
              <a:buFont typeface="+mj-ea"/>
              <a:buAutoNum type="circleNumDbPlain"/>
            </a:pPr>
            <a:r>
              <a:rPr lang="zh-CN" altLang="en-US" sz="16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以下程序编译报错：</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a = 10;int b = 3;byte x = a / b;</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为什么编译失败？这种a和b都是变量的情况下，编译器是无法在编译阶段得出结果的，编译器只能检测到结果是int类型。int类型不能直接赋值给byte类型变量。</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怎么解决？要么把x变量声明为int类型，要么强制类型转换，例如：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a = 10;int b = 3;byte x = (byte)(a / b);</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这里需要注意的是：注意小括号的添加，如果不添加小括号，例如：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a = 10;int b = 3;byte x = (byte)a / b;</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这样还是编译报错，因为只是将a强转为byte了，b还是int。byte和int混合运算，结果还是int类型。</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整数型详解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45377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highlight>
                  <a:srgbClr val="FFFF00"/>
                </a:highlight>
                <a:latin typeface="思源黑体 CN Medium" panose="020B0600000000000000" pitchFamily="34" charset="-122"/>
                <a:ea typeface="思源黑体 CN Medium" panose="020B0600000000000000" pitchFamily="34" charset="-122"/>
                <a:sym typeface="思源宋体 CN Heavy" panose="02020900000000000000" charset="-122"/>
              </a:rPr>
              <a:t>浮点型字面量默认被当做</a:t>
            </a:r>
            <a:r>
              <a:rPr lang="en-US" altLang="zh-CN" sz="2000" dirty="0">
                <a:solidFill>
                  <a:schemeClr val="tx1"/>
                </a:solidFill>
                <a:highlight>
                  <a:srgbClr val="FFFF00"/>
                </a:highlight>
                <a:latin typeface="思源黑体 CN Medium" panose="020B0600000000000000" pitchFamily="34" charset="-122"/>
                <a:ea typeface="思源黑体 CN Medium" panose="020B0600000000000000" pitchFamily="34" charset="-122"/>
                <a:sym typeface="思源宋体 CN Heavy" panose="02020900000000000000" charset="-122"/>
              </a:rPr>
              <a:t>double</a:t>
            </a:r>
            <a:endParaRPr lang="zh-CN" altLang="en-US" sz="2000" dirty="0">
              <a:solidFill>
                <a:schemeClr val="tx1"/>
              </a:solidFill>
              <a:highlight>
                <a:srgbClr val="FFFF00"/>
              </a:highlight>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Java中，浮点型字面量默认被当做double类型，如果要当做float类型，需要在数字后面添加 F 或 f。</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float f = 3.0; // 编译报错</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报错原因是：3.0默认被当做double类型，大容量无法直接赋值给小容量。如何修改：</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float f = 3.0F;</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另外，可以通过以下程序的输出结果看到，double精度高于float：</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d = 1.5656856894;</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System.out.println(d);</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float f = 1.5656856894F;</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System.out.println(f);</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浮点型详解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35521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浮点型数据两种表示形式</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第一种形式：十进制</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x = 1.23;</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y = 0.23;</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z = .23;</a:t>
            </a:r>
          </a:p>
          <a:p>
            <a:pPr marL="342900" indent="-342900" algn="l" defTabSz="914400">
              <a:lnSpc>
                <a:spcPct val="150000"/>
              </a:lnSpc>
              <a:spcAft>
                <a:spcPts val="0"/>
              </a:spcAft>
              <a:buFont typeface="+mj-ea"/>
              <a:buAutoNum type="circleNumDbPlain" startAt="2"/>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第二种形式：科学计数法</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x = 0.123E2; // 0.123 * 10的平方</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double y = 123.34E-2; // 123.34 / 10的平方</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浮点型详解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27857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浮点型数据存储原理</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符号位：0表示整数。1表示负数。</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指数位：比如小数0.123E30，其中30就是指数。表示0.123 * 10的30次幂。所以也有把指数位叫做偏移量的。最大偏移量127。</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尾数位：浮点数的小数部分的有效数字。例如：0.00123，那么尾数位存储123对应的二进制。</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从浮点型数据存储原理上可以看到，二进制中的指数位决定了数字呈指数级增大。因此float虽然是4个字节，但却可以表示比long更大的数值。因此float容量比long的容量大。</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浮点型详解</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1355725" y="3919220"/>
            <a:ext cx="9267825" cy="2095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836930"/>
            <a:ext cx="9332595" cy="53289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浮点型数据使用注意事项</a:t>
            </a:r>
          </a:p>
          <a:p>
            <a:pPr marL="342900" indent="-342900" algn="l" defTabSz="914400">
              <a:lnSpc>
                <a:spcPct val="150000"/>
              </a:lnSpc>
              <a:spcAft>
                <a:spcPts val="0"/>
              </a:spcAft>
              <a:buFont typeface="+mj-ea"/>
              <a:buAutoNum type="circleNumDbPlain"/>
            </a:pPr>
            <a:r>
              <a:rPr lang="zh-CN" altLang="en-US" sz="1400" kern="0" dirty="0">
                <a:solidFill>
                  <a:schemeClr val="tx1"/>
                </a:solidFill>
                <a:highlight>
                  <a:srgbClr val="FFFF00"/>
                </a:highlight>
                <a:latin typeface="思源黑体 CN Normal" panose="020B0400000000000000" pitchFamily="34" charset="-122"/>
                <a:ea typeface="思源黑体 CN Normal" panose="020B0400000000000000" pitchFamily="34" charset="-122"/>
              </a:rPr>
              <a:t>一旦有浮点型数据参与运算得出的结果，一定不要使用“==”与其它数字进行“相等比较”</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不要这样：</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x = 6.9;</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y = 3.0;</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z = x / y;</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if(z == 2.3){</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    System.out.println("相等");</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a:t>
            </a:r>
          </a:p>
          <a:p>
            <a:pPr marL="342900" indent="-342900" algn="l" defTabSz="914400">
              <a:lnSpc>
                <a:spcPct val="150000"/>
              </a:lnSpc>
              <a:spcAft>
                <a:spcPts val="0"/>
              </a:spcAft>
              <a:buFont typeface="+mj-ea"/>
              <a:buAutoNum type="circleNumDbPlain" startAt="3"/>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可以这样：</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x = 6.9;</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y = 3.0;</a:t>
            </a:r>
          </a:p>
          <a:p>
            <a:pPr marL="0" indent="0" algn="l" defTabSz="914400">
              <a:lnSpc>
                <a:spcPct val="150000"/>
              </a:lnSpc>
              <a:spcAft>
                <a:spcPts val="0"/>
              </a:spcAft>
              <a:buFont typeface="+mj-ea"/>
              <a:buNone/>
            </a:pPr>
            <a:r>
              <a:rPr lang="zh-CN" altLang="en-US" sz="1400" kern="0" dirty="0">
                <a:solidFill>
                  <a:schemeClr val="tx1"/>
                </a:solidFill>
                <a:latin typeface="思源黑体 CN Normal" panose="020B0400000000000000" pitchFamily="34" charset="-122"/>
                <a:ea typeface="思源黑体 CN Normal" panose="020B0400000000000000" pitchFamily="34" charset="-122"/>
              </a:rPr>
              <a:t>double z = x / y;</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if(z - 2.3 &lt; 0.000001){</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    System.out.println("相等");</a:t>
            </a:r>
          </a:p>
          <a:p>
            <a:pPr marL="0" indent="0" algn="l" defTabSz="914400">
              <a:lnSpc>
                <a:spcPct val="150000"/>
              </a:lnSpc>
              <a:spcAft>
                <a:spcPts val="0"/>
              </a:spcAft>
              <a:buFont typeface="+mj-ea"/>
              <a:buNone/>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浮点型详解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836930"/>
            <a:ext cx="9332595" cy="34455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字符型</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char</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占用两个字节，</a:t>
            </a:r>
            <a:r>
              <a:rPr lang="en-US" altLang="zh-CN" sz="1400" kern="0" dirty="0">
                <a:solidFill>
                  <a:schemeClr val="tx1"/>
                </a:solidFill>
                <a:latin typeface="思源黑体 CN Normal" panose="020B0400000000000000" pitchFamily="34" charset="-122"/>
                <a:ea typeface="思源黑体 CN Normal" panose="020B0400000000000000" pitchFamily="34" charset="-122"/>
              </a:rPr>
              <a:t>0~65535</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，和</a:t>
            </a:r>
            <a:r>
              <a:rPr lang="en-US" altLang="zh-CN" sz="1400" kern="0" dirty="0">
                <a:solidFill>
                  <a:schemeClr val="tx1"/>
                </a:solidFill>
                <a:latin typeface="思源黑体 CN Normal" panose="020B0400000000000000" pitchFamily="34" charset="-122"/>
                <a:ea typeface="思源黑体 CN Normal" panose="020B0400000000000000" pitchFamily="34" charset="-122"/>
              </a:rPr>
              <a:t>short</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容量相同，但</a:t>
            </a:r>
            <a:r>
              <a:rPr lang="en-US" altLang="zh-CN" sz="1400" kern="0" dirty="0">
                <a:solidFill>
                  <a:schemeClr val="tx1"/>
                </a:solidFill>
                <a:latin typeface="思源黑体 CN Normal" panose="020B0400000000000000" pitchFamily="34" charset="-122"/>
                <a:ea typeface="思源黑体 CN Normal" panose="020B0400000000000000" pitchFamily="34" charset="-122"/>
              </a:rPr>
              <a:t>char</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可以取更大的整数</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单个字符，使用单引号括起来，不能是多个字符</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可以保存一个汉字</a:t>
            </a:r>
          </a:p>
          <a:p>
            <a:pPr marL="342900" indent="-3429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char c = ‘’;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这是不允许的</a:t>
            </a:r>
          </a:p>
          <a:p>
            <a:pPr marL="342900" indent="-3429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char c = ‘\u0000’;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这表示一个空字符，也是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char</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的默认值。</a:t>
            </a:r>
            <a:r>
              <a:rPr lang="en-US" altLang="zh-CN" sz="1400" kern="0" dirty="0">
                <a:solidFill>
                  <a:schemeClr val="tx1"/>
                </a:solidFill>
                <a:latin typeface="思源黑体 CN Normal" panose="020B0400000000000000" pitchFamily="34" charset="-122"/>
                <a:ea typeface="思源黑体 CN Normal" panose="020B0400000000000000" pitchFamily="34" charset="-122"/>
              </a:rPr>
              <a:t>\u0000</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是一个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Unicode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码。</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空字符与空格字符是不同的。空字符表示什么也没有。空格字符表示一个空格。</a:t>
            </a:r>
          </a:p>
          <a:p>
            <a:pPr marL="342900" indent="-342900" algn="l" defTabSz="914400">
              <a:lnSpc>
                <a:spcPct val="150000"/>
              </a:lnSpc>
              <a:spcAft>
                <a:spcPts val="0"/>
              </a:spcAft>
              <a:buFont typeface="+mj-ea"/>
              <a:buAutoNum type="circleNumDbPlain"/>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836930"/>
            <a:ext cx="9332595" cy="24860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转义字符</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\t: 表示制表符，相当于按下 Tab 键</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\n: 表示换行符</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表示双引号（"）</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表示单引号（'）</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表示反斜线（\）本身</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836930"/>
            <a:ext cx="9332595" cy="25215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字符编码</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字符编码是人为规定的文字与二进制之间的转换关系。</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在早期计算机系统中，字符编码主要采用的是 ASCII 编码，采用1个字节编码。最多可以表示256个字符。（实际上ASCII码表只用了128个。），程序员需要记住这几个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a:t>
            </a:r>
          </a:p>
          <a:p>
            <a:pPr marL="457200" lvl="1"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a 对应ASCII码 97（b是98，以此类推）</a:t>
            </a:r>
          </a:p>
          <a:p>
            <a:pPr marL="457200" lvl="1"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A 对应ASCII码 65（B是66，以此类推）</a:t>
            </a:r>
          </a:p>
          <a:p>
            <a:pPr marL="457200" lvl="1"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0 对应ASCII码 48（1是49，以此类推）</a:t>
            </a: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3" name="图片 2" descr="无标题"/>
          <p:cNvPicPr>
            <a:picLocks noChangeAspect="1"/>
          </p:cNvPicPr>
          <p:nvPr/>
        </p:nvPicPr>
        <p:blipFill>
          <a:blip r:embed="rId4"/>
          <a:stretch>
            <a:fillRect/>
          </a:stretch>
        </p:blipFill>
        <p:spPr>
          <a:xfrm>
            <a:off x="6202680" y="2243455"/>
            <a:ext cx="2301240" cy="37947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40043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什么是编码？什么是解码？乱码是怎么产生的？</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字符在计算机系统中，解码（Decoding）和编码（Encoding）是两个常用的概念，分别表示将二进制数据转换为字符和将字符转换为二进制数据。</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编码是将字符转换为二进制数据的过程。解码是将二进制数据转换为字符的过程。例如：</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'a' ---------按照ASCII码表编码-----------&gt; 01100001</a:t>
            </a:r>
          </a:p>
          <a:p>
            <a:pPr marL="457200" lvl="1"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01100001 --------按照ASCII码表解码------------&gt; 'a'</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乱码是指在字符编码和解码的过程中，由于编码和解码所采用的字符集不一致，或者编码和解码所采用的字符集不支持某些字符，导致最终显示的字符与原始字符不一致。为了避免乱码的问题，我们需要统一使用一个字符集，并且在进行字符编码和解码时要保持一致。</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52978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常见的字符编码</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ASCII 编码（American Standard Code for Information Interchange：美国信息交换标准编码）：采用1个字节编码，包括字母、数字、符号和控制字符等。 </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Latin-1编码（ISO 8859-1），采用1个字节编码。该编码方式是为了表示欧洲语言（如荷兰语、西班牙语、法语、德语等）中的字符而设计的，共支持 256 个字符。</a:t>
            </a:r>
          </a:p>
          <a:p>
            <a:pPr marL="342900" indent="-3429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ANSI 编码（American National Standards Institute：美国国家标准协会）：采用1个字节编码，支持英文、拉丁文等字符。两个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ANSI</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码可以表示一个汉字。 </a:t>
            </a:r>
          </a:p>
          <a:p>
            <a:pPr marL="342900" indent="-342900" algn="l" defTabSz="914400">
              <a:lnSpc>
                <a:spcPct val="150000"/>
              </a:lnSpc>
              <a:spcAft>
                <a:spcPts val="0"/>
              </a:spcAft>
              <a:buFont typeface="+mj-ea"/>
              <a:buAutoNum type="circleNumDbPlain"/>
            </a:pPr>
            <a:r>
              <a:rPr lang="zh-CN" altLang="en-US" sz="1400" kern="0" dirty="0">
                <a:solidFill>
                  <a:srgbClr val="FF0000"/>
                </a:solidFill>
                <a:latin typeface="思源黑体 CN Normal" panose="020B0400000000000000" pitchFamily="34" charset="-122"/>
                <a:ea typeface="思源黑体 CN Normal" panose="020B0400000000000000" pitchFamily="34" charset="-122"/>
              </a:rPr>
              <a:t>Unicode 编码：可表示所有语言的字符。采用了十六进制表示，占用 2 个字节或 4 个字节，最多可表示超过一百万个字符。 （使用这种方式是有点浪费空间的，例如英文字符'a'其实采用一个字节存储就够了。）</a:t>
            </a:r>
          </a:p>
          <a:p>
            <a:pPr marL="342900" indent="-342900" algn="l" defTabSz="914400">
              <a:lnSpc>
                <a:spcPct val="150000"/>
              </a:lnSpc>
              <a:spcAft>
                <a:spcPts val="0"/>
              </a:spcAft>
              <a:buFont typeface="+mj-ea"/>
              <a:buAutoNum type="circleNumDbPlain"/>
            </a:pPr>
            <a:r>
              <a:rPr lang="zh-CN" altLang="en-US" sz="1400" kern="0" dirty="0">
                <a:solidFill>
                  <a:schemeClr val="accent1">
                    <a:lumMod val="75000"/>
                  </a:schemeClr>
                </a:solidFill>
                <a:latin typeface="思源黑体 CN Normal" panose="020B0400000000000000" pitchFamily="34" charset="-122"/>
                <a:ea typeface="思源黑体 CN Normal" panose="020B0400000000000000" pitchFamily="34" charset="-122"/>
              </a:rPr>
              <a:t>UTF-8 编码（Unicode Transformation Format，8-bit）：基于 Unicode 编码的可变长度字符编码，能够支持多语言和国际化的需求，使用 1~4 个字节来表示一个字符，是目前 Web 开发中最常用的字符编码方式。 （一个英文字母1个字节，一个汉字3个字节。）</a:t>
            </a:r>
          </a:p>
          <a:p>
            <a:pPr marL="342900" indent="-342900" algn="l" defTabSz="914400">
              <a:lnSpc>
                <a:spcPct val="150000"/>
              </a:lnSpc>
              <a:spcAft>
                <a:spcPts val="0"/>
              </a:spcAft>
              <a:buFont typeface="+mj-ea"/>
              <a:buAutoNum type="circleNumDbPlain"/>
            </a:pPr>
            <a:r>
              <a:rPr lang="zh-CN" altLang="en-US" sz="1400" kern="0" dirty="0">
                <a:solidFill>
                  <a:schemeClr val="accent1">
                    <a:lumMod val="75000"/>
                  </a:schemeClr>
                </a:solidFill>
                <a:latin typeface="思源黑体 CN Normal" panose="020B0400000000000000" pitchFamily="34" charset="-122"/>
                <a:ea typeface="思源黑体 CN Normal" panose="020B0400000000000000" pitchFamily="34" charset="-122"/>
              </a:rPr>
              <a:t>UTF-16 编码：基于 Unicode 编码的可变长度字符编码，使用 2 或 4 个字节来表示一个字符，应用于很多较早的系统和编程语言中。 （一个英文字母2个字节。一个汉字4个字节。）</a:t>
            </a:r>
          </a:p>
          <a:p>
            <a:pPr marL="342900" indent="-342900" algn="l" defTabSz="914400">
              <a:lnSpc>
                <a:spcPct val="150000"/>
              </a:lnSpc>
              <a:spcAft>
                <a:spcPts val="0"/>
              </a:spcAft>
              <a:buFont typeface="+mj-ea"/>
              <a:buAutoNum type="circleNumDbPlain"/>
            </a:pPr>
            <a:r>
              <a:rPr lang="zh-CN" altLang="en-US" sz="1400" kern="0" dirty="0">
                <a:solidFill>
                  <a:schemeClr val="accent1">
                    <a:lumMod val="75000"/>
                  </a:schemeClr>
                </a:solidFill>
                <a:latin typeface="思源黑体 CN Normal" panose="020B0400000000000000" pitchFamily="34" charset="-122"/>
                <a:ea typeface="思源黑体 CN Normal" panose="020B0400000000000000" pitchFamily="34" charset="-122"/>
              </a:rPr>
              <a:t>UTF-32编码：基于Unicode编码的固定长度字符编码，其特点是每个字符占用4个字节。</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48856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常见的字符编码</a:t>
            </a:r>
            <a:endParaRPr lang="en-US" altLang="zh-CN" sz="1400" kern="0" dirty="0">
              <a:solidFill>
                <a:srgbClr val="FF0000"/>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GB2312 编码（小）：是中国国家标准的简体中文字符集，使用 2 个字节来表示一个汉字，是 GBK 编码的前身。 </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GBK 编码（Guo Biao Ku）（中）：是针对中文设计的一个汉字编码方式，使用 2 个字节来表示一个汉字，能够表示中国内地的所有汉字。 </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GB18030编码（大）：是中国国家标准GB 18030-2005《信息技术 中文编码字符集》中规定的字符集编码方案，用于取代GB2312和GBK编码。</a:t>
            </a:r>
          </a:p>
          <a:p>
            <a:pPr marL="342900" indent="-3429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Big5 编码（大五码）：是台湾地区的繁体中文字符集，使用 2 个字节来表示一个汉字，适用于使用繁体中文的应用场景。</a:t>
            </a:r>
          </a:p>
          <a:p>
            <a:pPr marL="0" indent="0" algn="l" defTabSz="914400">
              <a:lnSpc>
                <a:spcPct val="150000"/>
              </a:lnSpc>
              <a:spcAft>
                <a:spcPts val="0"/>
              </a:spcAft>
              <a:buFont typeface="+mj-ea"/>
              <a:buNone/>
            </a:pPr>
            <a:endParaRPr lang="zh-CN" altLang="en-US" sz="16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每种编码方式都有其特点和适用场景。在进行软件开发、网站开发和数据存储时，需要根据实际情况选择适合的编码方式。</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9332595" cy="11925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Unicode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码表的一部分</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网络上也有很多在线转码工具，例如：http://www.jsons.cn/unicode/</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2" name="图片 1" descr="无标题"/>
          <p:cNvPicPr>
            <a:picLocks noChangeAspect="1"/>
          </p:cNvPicPr>
          <p:nvPr/>
        </p:nvPicPr>
        <p:blipFill>
          <a:blip r:embed="rId4"/>
          <a:stretch>
            <a:fillRect/>
          </a:stretch>
        </p:blipFill>
        <p:spPr>
          <a:xfrm>
            <a:off x="8277225" y="1318260"/>
            <a:ext cx="2360930" cy="48044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63625"/>
            <a:ext cx="9332595" cy="47301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char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参与的运算</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Java中允许将一个整数赋值给char类型变量，但这个整数会被当做ASCII码值来处理</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需要特别注意的是，这个码值有要求，不能超出char的取值范围</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只要没有超出byte short char的取值范围，是可以直接赋值给byte short char类型变量的</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+ 1);结果是什么？</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char c = 'a' + 1;结果是什么？</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以下程序结果是什么？</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b = 1;</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short s = 1;</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char c = 1;</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short num = b + s + c;</a:t>
            </a:r>
          </a:p>
          <a:p>
            <a:pPr marL="342900" indent="-342900" algn="l" defTabSz="457200" hangingPunct="0">
              <a:lnSpc>
                <a:spcPct val="150000"/>
              </a:lnSpc>
              <a:spcAft>
                <a:spcPts val="0"/>
              </a:spcAft>
              <a:buClrTx/>
              <a:buSzTx/>
              <a:buFont typeface="+mj-ea"/>
              <a:buAutoNum type="circleNumDbPlain" startAt="7"/>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byte short char混合运算时，各自会先转换成int再做运算!!!!!</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字符型详解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63625"/>
            <a:ext cx="9332595" cy="38106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boolean</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类型</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boolean</a:t>
            </a:r>
            <a:r>
              <a:rPr lang="zh-CN" altLang="en-US" sz="1600" kern="0" dirty="0">
                <a:solidFill>
                  <a:schemeClr val="tx1"/>
                </a:solidFill>
                <a:latin typeface="思源黑体 CN Normal" panose="020B0400000000000000" pitchFamily="34" charset="-122"/>
                <a:ea typeface="思源黑体 CN Normal" panose="020B0400000000000000" pitchFamily="34" charset="-122"/>
              </a:rPr>
              <a:t>类型只有两个值：</a:t>
            </a:r>
            <a:r>
              <a:rPr lang="en-US" altLang="zh-CN" sz="16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600" kern="0" dirty="0">
                <a:solidFill>
                  <a:schemeClr val="tx1"/>
                </a:solidFill>
                <a:latin typeface="思源黑体 CN Normal" panose="020B0400000000000000" pitchFamily="34" charset="-122"/>
                <a:ea typeface="思源黑体 CN Normal" panose="020B0400000000000000" pitchFamily="34" charset="-122"/>
              </a:rPr>
              <a:t>。没有其它值，没有</a:t>
            </a:r>
            <a:r>
              <a:rPr lang="en-US" altLang="zh-CN" sz="1600" kern="0" dirty="0">
                <a:solidFill>
                  <a:schemeClr val="tx1"/>
                </a:solidFill>
                <a:latin typeface="思源黑体 CN Normal" panose="020B0400000000000000" pitchFamily="34" charset="-122"/>
                <a:ea typeface="思源黑体 CN Normal" panose="020B0400000000000000" pitchFamily="34" charset="-122"/>
              </a:rPr>
              <a:t>0</a:t>
            </a:r>
            <a:r>
              <a:rPr lang="zh-CN" altLang="en-US" sz="1600" kern="0" dirty="0">
                <a:solidFill>
                  <a:schemeClr val="tx1"/>
                </a:solidFill>
                <a:latin typeface="思源黑体 CN Normal" panose="020B0400000000000000" pitchFamily="34" charset="-122"/>
                <a:ea typeface="思源黑体 CN Normal" panose="020B0400000000000000" pitchFamily="34" charset="-122"/>
              </a:rPr>
              <a:t>和</a:t>
            </a:r>
            <a:r>
              <a:rPr lang="en-US" altLang="zh-CN" sz="1600" kern="0" dirty="0">
                <a:solidFill>
                  <a:schemeClr val="tx1"/>
                </a:solidFill>
                <a:latin typeface="思源黑体 CN Normal" panose="020B0400000000000000" pitchFamily="34" charset="-122"/>
                <a:ea typeface="思源黑体 CN Normal" panose="020B0400000000000000" pitchFamily="34" charset="-122"/>
              </a:rPr>
              <a:t>1</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这一说。</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通常用于表示一些逻辑上的真假值，并在程序中进行逻辑控制，例如以下代码：</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boolean gender = true;</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if(gender){</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System.out.println("男");</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}else{</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System.out.println("女");</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布尔型详解</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63625"/>
            <a:ext cx="9332595" cy="44405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基本数据类型转换规则</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八种基本数据类型，除布尔型之外，其它类型都可以互相转换。</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小容量转换为大容量，叫做自动类型转换，容量从小到大的排序为：</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a. byte &lt; short(char) &lt; int &lt; long &lt; float &lt; double</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b. 注意char比short可以表示更大的整数</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大容量转换为小容量，叫做强制类型转换，需要加强制类型转换符才能编译通过，运行时可能损失精度，也可能不会损失。</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4. 整数字面量如果没有超出byte short char的取值范围，可以直接赋值给byte short char类型的变量。</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5. byte short char混合运算，各自先转换为int再做运算。</a:t>
            </a:r>
          </a:p>
          <a:p>
            <a:pPr marL="0" indent="0" algn="l" defTabSz="457200" hangingPunct="0">
              <a:lnSpc>
                <a:spcPct val="150000"/>
              </a:lnSpc>
              <a:spcAft>
                <a:spcPts val="0"/>
              </a:spcAft>
              <a:buFont typeface="+mj-ea"/>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6. 多种类型混合运算，各自先转换成容量最大的类型，再做运算。</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063625"/>
            <a:ext cx="9332595" cy="39662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1.请定义合理的变量用来存储个人信息（姓名、年龄、性别、联系电话），并编写程序定义这些变量，给变量赋值，并打印输出。输出效果如下</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姓名		年龄		性别		联系电话</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张三		20		男		12545457585</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李四		30		女		15622525855</a:t>
            </a:r>
          </a:p>
          <a:p>
            <a:pPr marL="0" indent="0" algn="l" defTabSz="457200" hangingPunct="0">
              <a:lnSpc>
                <a:spcPct val="150000"/>
              </a:lnSpc>
              <a:spcAft>
                <a:spcPts val="0"/>
              </a:spcAft>
              <a:buNone/>
              <a:defRPr/>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2.有两个变量a和b，a变量中存储的数据100，b变量中存储的数据200，请编写程序交换两个变量中的数据。让a变量存储200，让b变量存储100。并且计算两个int类型数据的和，要求最终输出200+100=300的效果。</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作业题</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1110615"/>
            <a:ext cx="9332595" cy="44996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1.请分析以下程序中哪些是可以编译通过的，哪些是报错的</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short s = 100;</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 = s - 99;</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byte b = 100;</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 = b + 1;</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char c = 'a';</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i = 20;</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float f = .3F;</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double d = c + i + f;</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byte b1 = 11;</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short s1 = 22;</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short x = b1 + s1;</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22211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08</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数据类型</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作业题</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772160"/>
            <a:ext cx="10076180" cy="50184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运算符</a:t>
            </a: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算术运算符：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关系运算符：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&gt;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&gt;=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&lt;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&lt;=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逻辑运算符：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&amp;</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&amp;&amp;</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按位运算符：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&amp;</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&lt;&lt;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&gt;&gt;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&gt;&gt;&gt;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赋值运算符：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r>
              <a:rPr lang="zh-CN" altLang="en-US" sz="1600" kern="0" dirty="0">
                <a:solidFill>
                  <a:srgbClr val="FF0000"/>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&amp;=</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&lt;&lt;=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&gt;&gt;=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r>
              <a:rPr lang="en-US" altLang="zh-CN" sz="1600" kern="0" dirty="0">
                <a:solidFill>
                  <a:schemeClr val="tx1"/>
                </a:solidFill>
                <a:latin typeface="思源黑体 CN Normal" panose="020B0400000000000000" pitchFamily="34" charset="-122"/>
                <a:ea typeface="思源黑体 CN Normal" panose="020B0400000000000000" pitchFamily="34" charset="-122"/>
              </a:rPr>
              <a:t>&gt;&gt;&gt;=</a:t>
            </a:r>
            <a:endParaRPr lang="zh-CN" altLang="en-US" sz="1600" kern="0" dirty="0">
              <a:solidFill>
                <a:srgbClr val="FF0000"/>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rgbClr val="FF0000"/>
                </a:solidFill>
                <a:latin typeface="思源黑体 CN Normal" panose="020B0400000000000000" pitchFamily="34" charset="-122"/>
                <a:ea typeface="思源黑体 CN Normal" panose="020B0400000000000000" pitchFamily="34" charset="-122"/>
              </a:rPr>
              <a:t>条件运算符：</a:t>
            </a:r>
            <a:r>
              <a:rPr lang="en-US" altLang="zh-CN" sz="1600" kern="0" dirty="0">
                <a:solidFill>
                  <a:srgbClr val="FF0000"/>
                </a:solidFill>
                <a:latin typeface="思源黑体 CN Normal" panose="020B0400000000000000" pitchFamily="34" charset="-122"/>
                <a:ea typeface="思源黑体 CN Normal" panose="020B0400000000000000" pitchFamily="34" charset="-122"/>
              </a:rPr>
              <a:t>?:</a:t>
            </a: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instanceof</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运算符：</a:t>
            </a:r>
            <a:r>
              <a:rPr lang="en-US" altLang="zh-CN" sz="1600" kern="0" dirty="0">
                <a:solidFill>
                  <a:schemeClr val="tx1"/>
                </a:solidFill>
                <a:latin typeface="思源黑体 CN Normal" panose="020B0400000000000000" pitchFamily="34" charset="-122"/>
                <a:ea typeface="思源黑体 CN Normal" panose="020B0400000000000000" pitchFamily="34" charset="-122"/>
              </a:rPr>
              <a:t>instanceof</a:t>
            </a: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new</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运算符：</a:t>
            </a:r>
            <a:r>
              <a:rPr lang="en-US" altLang="zh-CN" sz="1600" kern="0" dirty="0">
                <a:solidFill>
                  <a:schemeClr val="tx1"/>
                </a:solidFill>
                <a:latin typeface="思源黑体 CN Normal" panose="020B0400000000000000" pitchFamily="34" charset="-122"/>
                <a:ea typeface="思源黑体 CN Normal" panose="020B0400000000000000" pitchFamily="34" charset="-122"/>
              </a:rPr>
              <a:t>new</a:t>
            </a: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运算符：</a:t>
            </a:r>
            <a:r>
              <a:rPr lang="en-US" altLang="zh-CN" sz="1600" kern="0" dirty="0">
                <a:solidFill>
                  <a:schemeClr val="tx1"/>
                </a:solidFill>
                <a:latin typeface="思源黑体 CN Normal" panose="020B0400000000000000" pitchFamily="34" charset="-122"/>
                <a:ea typeface="思源黑体 CN Normal" panose="020B0400000000000000" pitchFamily="34" charset="-122"/>
              </a:rPr>
              <a:t>.</a:t>
            </a:r>
          </a:p>
          <a:p>
            <a:pPr marL="228600" indent="-2286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注意：运算符有优先级，关于优先级不需要记忆，不确定的添加小括号，添加小括号的优先级高，会先执行</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273431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03605"/>
            <a:ext cx="10076180" cy="33032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算术运算符</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：求和、字符串拼接、正数</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：相减、负数</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：乘积</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：商（除法）</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：取模（求余数）</a:t>
            </a:r>
          </a:p>
          <a:p>
            <a:pPr marL="800100" lvl="1" indent="-342900" algn="l" defTabSz="914400">
              <a:lnSpc>
                <a:spcPct val="150000"/>
              </a:lnSpc>
              <a:spcAft>
                <a:spcPts val="0"/>
              </a:spcAft>
              <a:buFont typeface="+mj-lt"/>
              <a:buAutoNum type="arabicPeriod"/>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取模公式：</a:t>
            </a:r>
            <a:r>
              <a:rPr lang="en-US" altLang="zh-CN" sz="1400" kern="0" dirty="0">
                <a:solidFill>
                  <a:srgbClr val="FF0000"/>
                </a:solidFill>
                <a:latin typeface="思源黑体 CN Normal" panose="020B0400000000000000" pitchFamily="34" charset="-122"/>
                <a:ea typeface="思源黑体 CN Normal" panose="020B0400000000000000" pitchFamily="34" charset="-122"/>
              </a:rPr>
              <a:t>x - x / y * y</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：自加</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p>
          <a:p>
            <a:pPr marL="228600" indent="-228600" algn="l" defTabSz="914400">
              <a:lnSpc>
                <a:spcPct val="150000"/>
              </a:lnSpc>
              <a:spcAft>
                <a:spcPts val="0"/>
              </a:spcAft>
              <a:buFont typeface="+mj-ea"/>
              <a:buAutoNum type="circleNumDbPlain"/>
            </a:pPr>
            <a:r>
              <a:rPr lang="en-US" altLang="zh-CN" sz="1400" kern="0" dirty="0">
                <a:solidFill>
                  <a:schemeClr val="tx1"/>
                </a:solidFill>
                <a:latin typeface="思源黑体 CN Normal" panose="020B0400000000000000" pitchFamily="34" charset="-122"/>
                <a:ea typeface="思源黑体 CN Normal" panose="020B0400000000000000" pitchFamily="34" charset="-122"/>
              </a:rPr>
              <a:t>-- </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：自减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p>
          <a:p>
            <a:pPr marL="228600" indent="-228600" algn="l" defTabSz="914400">
              <a:lnSpc>
                <a:spcPct val="150000"/>
              </a:lnSpc>
              <a:spcAft>
                <a:spcPts val="0"/>
              </a:spcAft>
              <a:buFont typeface="+mj-ea"/>
              <a:buAutoNum type="circleNumDbPlain"/>
            </a:pP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18870" y="4110355"/>
            <a:ext cx="10076180" cy="23952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接收用户键盘输入</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java.util.Scanner scanner = new java.util.Scanner(System.in);</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String s1 = scanner.next();</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String s2 = scanner.nextLine();</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i = scanner.nextInt();</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double d = scanner.nextDouble();</a:t>
            </a:r>
          </a:p>
          <a:p>
            <a:pPr marL="228600" indent="-2286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03605"/>
            <a:ext cx="10076180" cy="33032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栈数据结构（</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Stack</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栈结构特点：</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先进后出</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后进先出</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相关术语：</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入栈、压栈、</a:t>
            </a:r>
            <a:r>
              <a:rPr lang="en-US" altLang="zh-CN" sz="1215" kern="0" dirty="0">
                <a:solidFill>
                  <a:schemeClr val="tx1"/>
                </a:solidFill>
                <a:latin typeface="思源黑体 CN Normal" panose="020B0400000000000000" pitchFamily="34" charset="-122"/>
                <a:ea typeface="思源黑体 CN Normal" panose="020B0400000000000000" pitchFamily="34" charset="-122"/>
              </a:rPr>
              <a:t>push</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出栈、弹栈、</a:t>
            </a:r>
            <a:r>
              <a:rPr lang="en-US" altLang="zh-CN" sz="1215" kern="0" dirty="0">
                <a:solidFill>
                  <a:schemeClr val="tx1"/>
                </a:solidFill>
                <a:latin typeface="思源黑体 CN Normal" panose="020B0400000000000000" pitchFamily="34" charset="-122"/>
                <a:ea typeface="思源黑体 CN Normal" panose="020B0400000000000000" pitchFamily="34" charset="-122"/>
              </a:rPr>
              <a:t>pop</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栈帧</a:t>
            </a:r>
          </a:p>
          <a:p>
            <a:pPr marL="800100" lvl="1" indent="-342900" algn="l" defTabSz="914400">
              <a:lnSpc>
                <a:spcPct val="150000"/>
              </a:lnSpc>
              <a:spcAft>
                <a:spcPts val="0"/>
              </a:spcAft>
              <a:buFont typeface="+mj-lt"/>
              <a:buAutoNum type="arabicPeriod"/>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栈顶、栈底</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3" name="图片 2" descr="stack1"/>
          <p:cNvPicPr>
            <a:picLocks noChangeAspect="1"/>
          </p:cNvPicPr>
          <p:nvPr/>
        </p:nvPicPr>
        <p:blipFill>
          <a:blip r:embed="rId4"/>
          <a:stretch>
            <a:fillRect/>
          </a:stretch>
        </p:blipFill>
        <p:spPr>
          <a:xfrm>
            <a:off x="5693410" y="1533525"/>
            <a:ext cx="4653280" cy="32111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3940"/>
            <a:ext cx="10076180" cy="52063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字节码解读</a:t>
            </a:r>
          </a:p>
          <a:p>
            <a:pPr marL="228600" indent="-228600" algn="l" defTabSz="914400">
              <a:lnSpc>
                <a:spcPct val="150000"/>
              </a:lnSpc>
              <a:spcAft>
                <a:spcPts val="0"/>
              </a:spcAft>
              <a:buFont typeface="+mj-ea"/>
              <a:buAutoNum type="circleNumDbPlain"/>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查看字节码的命令：</a:t>
            </a:r>
            <a:r>
              <a:rPr lang="en-US" altLang="zh-CN" sz="1215" kern="0" dirty="0">
                <a:solidFill>
                  <a:schemeClr val="tx1"/>
                </a:solidFill>
                <a:latin typeface="思源黑体 CN Normal" panose="020B0400000000000000" pitchFamily="34" charset="-122"/>
                <a:ea typeface="思源黑体 CN Normal" panose="020B0400000000000000" pitchFamily="34" charset="-122"/>
              </a:rPr>
              <a:t>javap -c </a:t>
            </a:r>
            <a:r>
              <a:rPr lang="zh-CN" altLang="en-US" sz="1215" kern="0" dirty="0">
                <a:solidFill>
                  <a:schemeClr val="tx1"/>
                </a:solidFill>
                <a:latin typeface="思源黑体 CN Normal" panose="020B0400000000000000" pitchFamily="34" charset="-122"/>
                <a:ea typeface="思源黑体 CN Normal" panose="020B0400000000000000" pitchFamily="34" charset="-122"/>
              </a:rPr>
              <a:t>字节码文件</a:t>
            </a:r>
          </a:p>
          <a:p>
            <a:pPr marL="228600" indent="-228600" algn="l" defTabSz="914400">
              <a:lnSpc>
                <a:spcPct val="150000"/>
              </a:lnSpc>
              <a:spcAft>
                <a:spcPts val="0"/>
              </a:spcAft>
              <a:buFont typeface="+mj-ea"/>
              <a:buAutoNum type="circleNumDbPlain"/>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查看以下程序的字节码</a:t>
            </a:r>
          </a:p>
          <a:p>
            <a:pPr marL="0" indent="45720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public class ReadClass{</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    </a:t>
            </a:r>
            <a:r>
              <a:rPr lang="en-US" altLang="zh-CN" sz="1215" kern="0" dirty="0">
                <a:solidFill>
                  <a:schemeClr val="tx1"/>
                </a:solidFill>
                <a:latin typeface="思源黑体 CN Normal" panose="020B0400000000000000" pitchFamily="34" charset="-122"/>
                <a:ea typeface="思源黑体 CN Normal" panose="020B0400000000000000" pitchFamily="34" charset="-122"/>
              </a:rPr>
              <a:t>	</a:t>
            </a:r>
            <a:r>
              <a:rPr lang="zh-CN" altLang="en-US" sz="1215" kern="0" dirty="0">
                <a:solidFill>
                  <a:schemeClr val="tx1"/>
                </a:solidFill>
                <a:latin typeface="思源黑体 CN Normal" panose="020B0400000000000000" pitchFamily="34" charset="-122"/>
                <a:ea typeface="思源黑体 CN Normal" panose="020B0400000000000000" pitchFamily="34" charset="-122"/>
              </a:rPr>
              <a:t>public static void main(String[] args){</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        </a:t>
            </a:r>
            <a:r>
              <a:rPr lang="en-US" altLang="zh-CN" sz="1215" kern="0" dirty="0">
                <a:solidFill>
                  <a:schemeClr val="tx1"/>
                </a:solidFill>
                <a:latin typeface="思源黑体 CN Normal" panose="020B0400000000000000" pitchFamily="34" charset="-122"/>
                <a:ea typeface="思源黑体 CN Normal" panose="020B0400000000000000" pitchFamily="34" charset="-122"/>
              </a:rPr>
              <a:t>		</a:t>
            </a:r>
            <a:r>
              <a:rPr lang="zh-CN" altLang="en-US" sz="1215" kern="0" dirty="0">
                <a:solidFill>
                  <a:schemeClr val="tx1"/>
                </a:solidFill>
                <a:latin typeface="思源黑体 CN Normal" panose="020B0400000000000000" pitchFamily="34" charset="-122"/>
                <a:ea typeface="思源黑体 CN Normal" panose="020B0400000000000000" pitchFamily="34" charset="-122"/>
              </a:rPr>
              <a:t>int i = 10;</a:t>
            </a:r>
          </a:p>
          <a:p>
            <a:pPr marL="1371600" lvl="3" indent="45720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int j = i;</a:t>
            </a:r>
          </a:p>
          <a:p>
            <a:pPr marL="1371600" lvl="3" indent="45720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j++;</a:t>
            </a:r>
            <a:endParaRPr lang="zh-CN" altLang="en-US" sz="1215"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    </a:t>
            </a:r>
            <a:r>
              <a:rPr lang="en-US" altLang="zh-CN" sz="1215" kern="0" dirty="0">
                <a:solidFill>
                  <a:schemeClr val="tx1"/>
                </a:solidFill>
                <a:latin typeface="思源黑体 CN Normal" panose="020B0400000000000000" pitchFamily="34" charset="-122"/>
                <a:ea typeface="思源黑体 CN Normal" panose="020B0400000000000000" pitchFamily="34" charset="-122"/>
              </a:rPr>
              <a:t>	</a:t>
            </a:r>
            <a:r>
              <a:rPr lang="zh-CN" altLang="en-US" sz="1215" kern="0" dirty="0">
                <a:solidFill>
                  <a:schemeClr val="tx1"/>
                </a:solidFill>
                <a:latin typeface="思源黑体 CN Normal" panose="020B0400000000000000" pitchFamily="34" charset="-122"/>
                <a:ea typeface="思源黑体 CN Normal" panose="020B0400000000000000" pitchFamily="34" charset="-122"/>
              </a:rPr>
              <a:t>}</a:t>
            </a:r>
          </a:p>
          <a:p>
            <a:pPr marL="0" indent="45720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查看字节码：</a:t>
            </a:r>
            <a:r>
              <a:rPr lang="en-US" altLang="zh-CN" sz="1215" kern="0" dirty="0">
                <a:solidFill>
                  <a:schemeClr val="tx1"/>
                </a:solidFill>
                <a:latin typeface="思源黑体 CN Normal" panose="020B0400000000000000" pitchFamily="34" charset="-122"/>
                <a:ea typeface="思源黑体 CN Normal" panose="020B0400000000000000" pitchFamily="34" charset="-122"/>
              </a:rPr>
              <a:t>javap -c ReadClass.class</a:t>
            </a:r>
            <a:endParaRPr lang="zh-CN" altLang="en-US" sz="1215"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3"/>
            </a:pPr>
            <a:r>
              <a:rPr lang="zh-CN" altLang="en-US" sz="1215" kern="0" dirty="0">
                <a:solidFill>
                  <a:schemeClr val="tx1"/>
                </a:solidFill>
                <a:latin typeface="思源黑体 CN Normal" panose="020B0400000000000000" pitchFamily="34" charset="-122"/>
                <a:ea typeface="思源黑体 CN Normal" panose="020B0400000000000000" pitchFamily="34" charset="-122"/>
              </a:rPr>
              <a:t>字节码指令：</a:t>
            </a:r>
          </a:p>
          <a:p>
            <a:pPr marL="0" indent="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bipush</a:t>
            </a:r>
            <a:r>
              <a:rPr lang="zh-CN" altLang="en-US" sz="1215" kern="0" dirty="0">
                <a:solidFill>
                  <a:schemeClr val="tx1"/>
                </a:solidFill>
                <a:latin typeface="思源黑体 CN Normal" panose="020B0400000000000000" pitchFamily="34" charset="-122"/>
                <a:ea typeface="思源黑体 CN Normal" panose="020B0400000000000000" pitchFamily="34" charset="-122"/>
              </a:rPr>
              <a:t>指令：将字面量压入操作数栈</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istore_1指令：将操作数栈中顶部数据弹出，然后将该数据存放到局部变量表的第1个位置</a:t>
            </a:r>
          </a:p>
          <a:p>
            <a:pPr marL="0" indent="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iload_1</a:t>
            </a:r>
            <a:r>
              <a:rPr lang="zh-CN" altLang="en-US" sz="1215" kern="0" dirty="0">
                <a:solidFill>
                  <a:schemeClr val="tx1"/>
                </a:solidFill>
                <a:latin typeface="思源黑体 CN Normal" panose="020B0400000000000000" pitchFamily="34" charset="-122"/>
                <a:ea typeface="思源黑体 CN Normal" panose="020B0400000000000000" pitchFamily="34" charset="-122"/>
              </a:rPr>
              <a:t>指令：将局部变量表</a:t>
            </a:r>
            <a:r>
              <a:rPr lang="en-US" altLang="zh-CN" sz="1215" kern="0" dirty="0">
                <a:solidFill>
                  <a:schemeClr val="tx1"/>
                </a:solidFill>
                <a:latin typeface="思源黑体 CN Normal" panose="020B0400000000000000" pitchFamily="34" charset="-122"/>
                <a:ea typeface="思源黑体 CN Normal" panose="020B0400000000000000" pitchFamily="34" charset="-122"/>
              </a:rPr>
              <a:t>1</a:t>
            </a:r>
            <a:r>
              <a:rPr lang="zh-CN" altLang="en-US" sz="1215" kern="0" dirty="0">
                <a:solidFill>
                  <a:schemeClr val="tx1"/>
                </a:solidFill>
                <a:latin typeface="思源黑体 CN Normal" panose="020B0400000000000000" pitchFamily="34" charset="-122"/>
                <a:ea typeface="思源黑体 CN Normal" panose="020B0400000000000000" pitchFamily="34" charset="-122"/>
              </a:rPr>
              <a:t>号槽位的数据压入操作数栈</a:t>
            </a:r>
          </a:p>
          <a:p>
            <a:pPr marL="0" indent="0" algn="l" defTabSz="914400">
              <a:lnSpc>
                <a:spcPct val="150000"/>
              </a:lnSpc>
              <a:spcAft>
                <a:spcPts val="0"/>
              </a:spcAft>
              <a:buFont typeface="+mj-ea"/>
              <a:buNone/>
            </a:pPr>
            <a:r>
              <a:rPr lang="en-US" altLang="zh-CN" sz="1215" kern="0" dirty="0">
                <a:solidFill>
                  <a:schemeClr val="tx1"/>
                </a:solidFill>
                <a:latin typeface="思源黑体 CN Normal" panose="020B0400000000000000" pitchFamily="34" charset="-122"/>
                <a:ea typeface="思源黑体 CN Normal" panose="020B0400000000000000" pitchFamily="34" charset="-122"/>
              </a:rPr>
              <a:t>iinc</a:t>
            </a:r>
            <a:r>
              <a:rPr lang="zh-CN" altLang="en-US" sz="1215" kern="0" dirty="0">
                <a:solidFill>
                  <a:schemeClr val="tx1"/>
                </a:solidFill>
                <a:latin typeface="思源黑体 CN Normal" panose="020B0400000000000000" pitchFamily="34" charset="-122"/>
                <a:ea typeface="思源黑体 CN Normal" panose="020B0400000000000000" pitchFamily="34" charset="-122"/>
              </a:rPr>
              <a:t>指令：将局部变量表中第1个位置数据加1</a:t>
            </a:r>
          </a:p>
          <a:p>
            <a:pPr marL="342900" indent="-342900" algn="l" defTabSz="914400">
              <a:lnSpc>
                <a:spcPct val="150000"/>
              </a:lnSpc>
              <a:spcAft>
                <a:spcPts val="0"/>
              </a:spcAft>
              <a:buClrTx/>
              <a:buSzTx/>
              <a:buFont typeface="+mj-ea"/>
              <a:buAutoNum type="circleNumDbPlain" startAt="4"/>
            </a:pPr>
            <a:r>
              <a:rPr lang="zh-CN" altLang="en-US" sz="1215" kern="0" dirty="0">
                <a:solidFill>
                  <a:schemeClr val="tx1"/>
                </a:solidFill>
                <a:latin typeface="思源黑体 CN Normal" panose="020B0400000000000000" pitchFamily="34" charset="-122"/>
                <a:ea typeface="思源黑体 CN Normal" panose="020B0400000000000000" pitchFamily="34" charset="-122"/>
              </a:rPr>
              <a:t>什么是局部变量表和操作数栈？</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5233670" y="989330"/>
            <a:ext cx="5671185" cy="37433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3940"/>
            <a:ext cx="10076180" cy="52063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算术运算符作业</a:t>
            </a:r>
          </a:p>
          <a:p>
            <a:pPr marL="228600" indent="-228600" algn="l" defTabSz="914400">
              <a:lnSpc>
                <a:spcPct val="150000"/>
              </a:lnSpc>
              <a:spcAft>
                <a:spcPts val="0"/>
              </a:spcAft>
              <a:buFont typeface="+mj-ea"/>
              <a:buAutoNum type="circleNumDbPlain"/>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题目1：采用字节码解读的方式分析以下代码的区别</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k = i++;</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int k = ++i;</a:t>
            </a:r>
          </a:p>
          <a:p>
            <a:pPr marL="342900" indent="-342900" algn="l" defTabSz="914400">
              <a:lnSpc>
                <a:spcPct val="150000"/>
              </a:lnSpc>
              <a:spcAft>
                <a:spcPts val="0"/>
              </a:spcAft>
              <a:buFont typeface="+mj-ea"/>
              <a:buAutoNum type="circleNumDbPlain" startAt="2"/>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题目2：以下程序输出结果是？</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a = 5;</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b = a++;</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b = a++;</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System.out.println("a = " + a);</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System.out.println("b = " + b);</a:t>
            </a:r>
          </a:p>
          <a:p>
            <a:pPr marL="228600" indent="-228600" algn="l" defTabSz="914400">
              <a:lnSpc>
                <a:spcPct val="150000"/>
              </a:lnSpc>
              <a:spcAft>
                <a:spcPts val="0"/>
              </a:spcAft>
              <a:buFont typeface="+mj-ea"/>
              <a:buAutoNum type="circleNumDbPlain"/>
            </a:pPr>
            <a:endParaRPr lang="zh-CN" altLang="en-US" sz="1215"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c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d = --c;</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System.out.println("c = " + c);</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System.out.println("d = " + d);</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10076180" cy="52152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算术运算符作业</a:t>
            </a:r>
          </a:p>
          <a:p>
            <a:pPr marL="228600" indent="-228600" algn="l" defTabSz="914400">
              <a:lnSpc>
                <a:spcPct val="150000"/>
              </a:lnSpc>
              <a:spcAft>
                <a:spcPts val="0"/>
              </a:spcAft>
              <a:buFont typeface="+mj-ea"/>
              <a:buAutoNum type="circleNumDbPlain"/>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题目3：以下程序输出结果是？</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k = i++ + ++i;</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System.out.println(k);</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f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m = f++ +f;</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System.out.println(m);</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System.out.println(f);</a:t>
            </a:r>
          </a:p>
          <a:p>
            <a:pPr marL="342900" indent="-342900" algn="l" defTabSz="914400">
              <a:lnSpc>
                <a:spcPct val="150000"/>
              </a:lnSpc>
              <a:spcAft>
                <a:spcPts val="0"/>
              </a:spcAft>
              <a:buFont typeface="+mj-ea"/>
              <a:buAutoNum type="circleNumDbPlain" startAt="2"/>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题目4：以下程序输出结果是？经典面试题</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i = i++;</a:t>
            </a:r>
          </a:p>
          <a:p>
            <a:pPr marL="0" indent="0" algn="l" defTabSz="914400">
              <a:lnSpc>
                <a:spcPct val="150000"/>
              </a:lnSpc>
              <a:spcAft>
                <a:spcPts val="0"/>
              </a:spcAft>
              <a:buFont typeface="+mj-ea"/>
              <a:buNone/>
            </a:pPr>
            <a:r>
              <a:rPr lang="zh-CN" altLang="en-US" sz="1215" kern="0" dirty="0">
                <a:solidFill>
                  <a:schemeClr val="tx1"/>
                </a:solidFill>
                <a:latin typeface="思源黑体 CN Normal" panose="020B0400000000000000" pitchFamily="34" charset="-122"/>
                <a:ea typeface="思源黑体 CN Normal" panose="020B0400000000000000" pitchFamily="34" charset="-122"/>
              </a:rPr>
              <a:t>System.out.println(i);</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int i = 10;</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i = ++i;</a:t>
            </a:r>
          </a:p>
          <a:p>
            <a:pPr marL="0" indent="0" algn="l" defTabSz="914400">
              <a:lnSpc>
                <a:spcPct val="150000"/>
              </a:lnSpc>
              <a:spcAft>
                <a:spcPts val="0"/>
              </a:spcAft>
              <a:buFont typeface="+mj-ea"/>
              <a:buNone/>
            </a:pPr>
            <a:r>
              <a:rPr lang="zh-CN" altLang="en-US" sz="1215" kern="0" dirty="0">
                <a:solidFill>
                  <a:srgbClr val="FF0000"/>
                </a:solidFill>
                <a:latin typeface="思源黑体 CN Normal" panose="020B0400000000000000" pitchFamily="34" charset="-122"/>
                <a:ea typeface="思源黑体 CN Normal" panose="020B0400000000000000" pitchFamily="34" charset="-122"/>
              </a:rPr>
              <a:t>System.out.println(i);</a:t>
            </a:r>
          </a:p>
          <a:p>
            <a:pPr marL="342900" indent="-342900" algn="l" defTabSz="914400">
              <a:lnSpc>
                <a:spcPct val="150000"/>
              </a:lnSpc>
              <a:spcAft>
                <a:spcPts val="0"/>
              </a:spcAft>
              <a:buFont typeface="+mj-ea"/>
              <a:buAutoNum type="circleNumDbPlain" startAt="3"/>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题目5：从键盘上接收一个整数三位数，请分别输出它的个位、十位、百位。</a:t>
            </a:r>
          </a:p>
          <a:p>
            <a:pPr marL="342900" indent="-342900" algn="l" defTabSz="914400">
              <a:lnSpc>
                <a:spcPct val="150000"/>
              </a:lnSpc>
              <a:spcAft>
                <a:spcPts val="0"/>
              </a:spcAft>
              <a:buFont typeface="+mj-ea"/>
              <a:buAutoNum type="circleNumDbPlain" startAt="3"/>
            </a:pPr>
            <a:r>
              <a:rPr lang="zh-CN" altLang="en-US" sz="1215" kern="0" dirty="0">
                <a:solidFill>
                  <a:schemeClr val="tx1"/>
                </a:solidFill>
                <a:latin typeface="思源黑体 CN Normal" panose="020B0400000000000000" pitchFamily="34" charset="-122"/>
                <a:ea typeface="思源黑体 CN Normal" panose="020B0400000000000000" pitchFamily="34" charset="-122"/>
              </a:rPr>
              <a:t>题目6：681分钟是多少个小时+多少分钟。</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算术运算符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10076180" cy="430784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关系运算符</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关系运算符又叫做比较运算符。包括：&gt;、 &gt;=、 &lt;、 &lt;=、 ==、 !=</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所有关系运算符的运算结果都是布尔类型，不是true，就是false。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a = 10;</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int b = 10;</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&gt; b); // false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&gt;= b); // true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&lt; b); // false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&lt;= b); // true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 b); // true</a:t>
            </a:r>
          </a:p>
          <a:p>
            <a:pPr marL="0" indent="0" algn="l" defTabSz="914400">
              <a:lnSpc>
                <a:spcPct val="150000"/>
              </a:lnSpc>
              <a:spcAft>
                <a:spcPts val="0"/>
              </a:spcAft>
              <a:buFont typeface="+mj-ea"/>
              <a:buNone/>
            </a:pPr>
            <a:r>
              <a:rPr lang="zh-CN" altLang="en-US" sz="1600" kern="0" dirty="0">
                <a:solidFill>
                  <a:schemeClr val="tx1"/>
                </a:solidFill>
                <a:latin typeface="思源黑体 CN Normal" panose="020B0400000000000000" pitchFamily="34" charset="-122"/>
                <a:ea typeface="思源黑体 CN Normal" panose="020B0400000000000000" pitchFamily="34" charset="-122"/>
              </a:rPr>
              <a:t>System.out.println(a != b); // false</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关系运算符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896620"/>
            <a:ext cx="10480675" cy="506476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逻辑运算符</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逻辑运算符：&amp;（逻辑与）、 |（逻辑或）、 !（逻辑非）、^（逻辑异或）、 &amp;&amp;（短路与）、 ||（短路或）</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逻辑运算符特点：逻辑运算符两边的操作数要求必须是布尔类型，并且最终运算结果也一定是布尔类型。</a:t>
            </a:r>
          </a:p>
          <a:p>
            <a:pPr marL="228600" indent="-228600" algn="l" defTabSz="914400">
              <a:lnSpc>
                <a:spcPct val="150000"/>
              </a:lnSpc>
              <a:spcAft>
                <a:spcPts val="0"/>
              </a:spcAft>
              <a:buFont typeface="+mj-ea"/>
              <a:buAutoNum type="circleNumDbPlain"/>
            </a:pPr>
            <a:endParaRPr lang="zh-CN" altLang="en-US" sz="16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逻辑与&amp;：两边操作数都是true，结果才是true。可以翻译为“并且”。</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逻辑或|：两边操作数只要有一个是true，结果就是true。可以翻译为“或者”。</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逻辑非!： !false就是true，!true就是false。</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逻辑异或^：咱俩不一样，结果就是true。</a:t>
            </a:r>
          </a:p>
          <a:p>
            <a:pPr marL="228600" indent="-228600" algn="l" defTabSz="914400">
              <a:lnSpc>
                <a:spcPct val="150000"/>
              </a:lnSpc>
              <a:spcAft>
                <a:spcPts val="0"/>
              </a:spcAft>
              <a:buFont typeface="+mj-ea"/>
              <a:buAutoNum type="circleNumDbPlain"/>
            </a:pPr>
            <a:endParaRPr lang="zh-CN" altLang="en-US" sz="16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短路与&amp;&amp;：和逻辑与&amp;的运算结果相同。只是存在一种短路现象。（左边操作数为false时，右边操作数不执行）</a:t>
            </a: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短路或||：和逻辑或|的运算结果相同。只是存在一种短路现象。（左边操作数为true时，右边操作数不执行）</a:t>
            </a:r>
          </a:p>
          <a:p>
            <a:pPr marL="228600" indent="-228600" algn="l" defTabSz="914400">
              <a:lnSpc>
                <a:spcPct val="150000"/>
              </a:lnSpc>
              <a:spcAft>
                <a:spcPts val="0"/>
              </a:spcAft>
              <a:buFont typeface="+mj-ea"/>
              <a:buAutoNum type="circleNumDbPlain"/>
            </a:pPr>
            <a:endParaRPr lang="zh-CN" altLang="en-US" sz="16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zh-CN" altLang="en-US" sz="1600" kern="0" dirty="0">
                <a:solidFill>
                  <a:schemeClr val="tx1"/>
                </a:solidFill>
                <a:latin typeface="思源黑体 CN Normal" panose="020B0400000000000000" pitchFamily="34" charset="-122"/>
                <a:ea typeface="思源黑体 CN Normal" panose="020B0400000000000000" pitchFamily="34" charset="-122"/>
              </a:rPr>
              <a:t>虽然短路与&amp;&amp;效率高于逻辑与&amp;，但逻辑与&amp;也有用武之地，具体看需求是怎样的。</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0342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逻辑运算符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38188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按位运算符</a:t>
            </a: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按位运算符用于在二进制位级别上处理整数数据。主要包括：</a:t>
            </a: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左移 &lt;&lt;</a:t>
            </a: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右移 &gt;&gt;</a:t>
            </a: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无符号右移 &gt;&gt;&gt;</a:t>
            </a: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按位与 &amp;</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按位或 |</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按位异或 ^</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742950" lvl="1" indent="-285750" algn="l" defTabSz="914400">
              <a:lnSpc>
                <a:spcPct val="150000"/>
              </a:lnSpc>
              <a:spcAft>
                <a:spcPts val="0"/>
              </a:spcAft>
              <a:buFont typeface="Wingdings" panose="05000000000000000000" charset="0"/>
              <a:buChar char="l"/>
            </a:pP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按位取反 ~</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注意：按位运算符的操作数要求必须是整数。否则会出现编译错误</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38188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左移</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&lt;&lt;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228600" indent="-2286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它能够将一个二进制数的所有位向左移动指定的位数。左移运算符的运算规则如下：</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将二进制数左移n位，相当于将数值乘以2的n次方。</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例如，将二进制数0b1011左移2位，即为0b101100，相当于将11乘以2的2次方（即4），得到44。</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左移运算符不会改变操作数的符号。</a:t>
            </a:r>
            <a:r>
              <a:rPr lang="zh-CN" altLang="en-US" sz="1600" kern="0" dirty="0">
                <a:solidFill>
                  <a:schemeClr val="tx1"/>
                </a:solidFill>
                <a:latin typeface="思源黑体 CN Normal" panose="020B0400000000000000" pitchFamily="34" charset="-122"/>
                <a:ea typeface="思源黑体 CN Normal" panose="020B0400000000000000" pitchFamily="34" charset="-122"/>
              </a:rPr>
              <a:t>左移后，右补</a:t>
            </a:r>
            <a:r>
              <a:rPr lang="en-US" altLang="zh-CN" sz="1600" kern="0" dirty="0">
                <a:solidFill>
                  <a:schemeClr val="tx1"/>
                </a:solidFill>
                <a:latin typeface="思源黑体 CN Normal" panose="020B0400000000000000" pitchFamily="34" charset="-122"/>
                <a:ea typeface="思源黑体 CN Normal" panose="020B0400000000000000" pitchFamily="34" charset="-122"/>
              </a:rPr>
              <a:t>0</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无论操作数是正数、负数还是零，左移运算符都只进行位级移动，不会改变符号。</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左移运算符会对溢出进行截断。</a:t>
            </a:r>
          </a:p>
          <a:p>
            <a:pPr marL="228600" indent="-2286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应用一下：如何将2快速变成8？</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38188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右移</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&gt;&gt;</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它能够将一个二进制数的所有位向右移动指定的位数。右移运算符的运算规则如下：</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将二进制数右移n位，相当于将数值除以2的n次方。</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例如，将二进制数0b101100右移2位，即为0b1011，相当于将44除以2的2次方（即4），得到11。</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右移运算符对正数、负数和零的处理方式不同。</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对于正数，符号位不变，右移时左补0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对于负数，符号位不变，右移时左补1。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对于零，右移运算符操作后结果仍为零。</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右移运算符会对溢出进行截断。</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27438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无符号右移</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&gt;&gt;&gt;</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它能够将一个二进制数的所有位向右移动指定的位数，而不考虑符号位。无符号右移运算符的运算规则如下：</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将二进制数右移n位，相当于将数值除以2的n次方，并将最高位填充为0。</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任意一个数字经过无符号右移之后，最终结果一定是非负数（0或正整数）</a:t>
            </a:r>
          </a:p>
          <a:p>
            <a:pPr marL="0" indent="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无符号右移运算符对溢出进行截断。</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458597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按位与</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&amp;</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将两个整数的二进制表示按位进行与运算，只有当相应的二进制位都为1时，结果才为1，否则结果为0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a = 32;</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b = 25;</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System.out.println(a &amp; b); // 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a的二进制：00100000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b的二进制：00011001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按位与之后：00000000</a:t>
            </a:r>
          </a:p>
          <a:p>
            <a:pPr marL="0" indent="0" algn="l" defTabSz="914400">
              <a:lnSpc>
                <a:spcPct val="150000"/>
              </a:lnSpc>
              <a:spcAft>
                <a:spcPts val="0"/>
              </a:spcAft>
              <a:buFont typeface="+mj-ea"/>
              <a:buNone/>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应用一下：请使用按位与运算符判断某个数字是否为奇数？思路：拿着这个数字和1进行按位与，如果结果是1，则表示该数字为奇数。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10426065" cy="49441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按位或</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将两个整数的二进制表示按位进行或运算，只有当相应的二进制位都为0时，结果才为0，否则结果为1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a = 32;</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b = 25;</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System.out.println(a | b); // 57</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a的二进制：00100000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b的二进制：00011001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按位或之后：00111001</a:t>
            </a:r>
          </a:p>
          <a:p>
            <a:pPr marL="342900" indent="-3429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应用一下：请将0这个数字中第4位的二进制位设置为1</a:t>
            </a:r>
            <a:r>
              <a:rPr lang="zh-CN" altLang="en-US" sz="1600" kern="0" dirty="0">
                <a:solidFill>
                  <a:schemeClr val="tx1"/>
                </a:solidFill>
                <a:latin typeface="思源黑体 CN Normal" panose="020B0400000000000000" pitchFamily="34" charset="-122"/>
                <a:ea typeface="思源黑体 CN Normal" panose="020B0400000000000000" pitchFamily="34" charset="-122"/>
              </a:rPr>
              <a:t>（按位或的具体应用，将某个二进制位设置为</a:t>
            </a:r>
            <a:r>
              <a:rPr lang="en-US" altLang="zh-CN" sz="1600" kern="0" dirty="0">
                <a:solidFill>
                  <a:schemeClr val="tx1"/>
                </a:solidFill>
                <a:latin typeface="思源黑体 CN Normal" panose="020B0400000000000000" pitchFamily="34" charset="-122"/>
                <a:ea typeface="思源黑体 CN Normal" panose="020B0400000000000000" pitchFamily="34" charset="-122"/>
              </a:rPr>
              <a:t>1</a:t>
            </a:r>
            <a:r>
              <a:rPr lang="zh-CN" altLang="en-US" sz="1600" kern="0" dirty="0">
                <a:solidFill>
                  <a:schemeClr val="tx1"/>
                </a:solidFill>
                <a:latin typeface="思源黑体 CN Normal" panose="020B0400000000000000" pitchFamily="34" charset="-122"/>
                <a:ea typeface="思源黑体 CN Normal" panose="020B0400000000000000" pitchFamily="34" charset="-122"/>
              </a:rPr>
              <a:t>）</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flag = 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flag = flag | (1 &lt;&lt; 3);</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10426065" cy="52539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按位异或</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将两个整数的二进制表示按位进行异或运算，只有当相应的二进制位不同，结果才为1，否则结果为0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a = 100;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b = 200;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System.out.println(a ^ b); // 172</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a的二进制：01100100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b的二进制：11001000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按位异或之后：10101100</a:t>
            </a: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按位异或运算符具有自反性，所谓的自反性是指：数字A连续对数字B进行两次按位异或运算之后，可以得到原始的数字A。因为按位异或运算符具有这样的特征，所以在密码学方面应用广泛。通常使用它可以完成加密和解密操作。</a:t>
            </a:r>
          </a:p>
          <a:p>
            <a:pPr marL="342900" indent="-342900" algn="l" defTabSz="914400">
              <a:lnSpc>
                <a:spcPct val="150000"/>
              </a:lnSpc>
              <a:spcAft>
                <a:spcPts val="0"/>
              </a:spcAft>
              <a:buFont typeface="+mj-ea"/>
              <a:buAutoNum type="circleNumDbPlain" startAt="2"/>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应用一下：按位异或可以实现简单的加密和解密。</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10426065" cy="47790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按位取反</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endPar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将整数的二进制表示按位进行取反运算，即0变为1，1变为0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System.out.println(~100); // -101</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100的二进制：01100100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取反后：10011011（这是一个补码哦）</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将补码转为原码：11100101 （-101）</a:t>
            </a:r>
          </a:p>
          <a:p>
            <a:pPr marL="342900" indent="-342900" algn="l" defTabSz="914400">
              <a:lnSpc>
                <a:spcPct val="150000"/>
              </a:lnSpc>
              <a:spcAft>
                <a:spcPts val="0"/>
              </a:spcAft>
              <a:buFont typeface="+mj-ea"/>
              <a:buAutoNum type="circleNumDbPlain"/>
            </a:pP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342900" indent="-342900" algn="l" defTabSz="914400">
              <a:lnSpc>
                <a:spcPct val="150000"/>
              </a:lnSpc>
              <a:spcAft>
                <a:spcPts val="0"/>
              </a:spcAft>
              <a:buFont typeface="+mj-ea"/>
              <a:buAutoNum type="circleNumDbPlain" startAt="2"/>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应用一下：位清除操作（将某个二进制位中指定位清除为0），例如有这样一个二进制：0b01101101，将第4个低位清除为0</a:t>
            </a: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value = 0b01101101;</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 待清除数据</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flag = 1 &lt;&lt; 3; </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 需要清除第4个低位</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a:p>
            <a:pPr marL="0" indent="457200" algn="l" defTabSz="914400">
              <a:lnSpc>
                <a:spcPct val="150000"/>
              </a:lnSpc>
              <a:spcAft>
                <a:spcPts val="0"/>
              </a:spcAft>
              <a:buFont typeface="+mj-ea"/>
              <a:buNone/>
            </a:pPr>
            <a:r>
              <a:rPr lang="en-US" altLang="zh-CN" sz="1600" kern="0" dirty="0">
                <a:solidFill>
                  <a:schemeClr val="tx1"/>
                </a:solidFill>
                <a:latin typeface="思源黑体 CN Normal" panose="020B0400000000000000" pitchFamily="34" charset="-122"/>
                <a:ea typeface="思源黑体 CN Normal" panose="020B0400000000000000" pitchFamily="34" charset="-122"/>
              </a:rPr>
              <a:t>int result = value &amp; (~flag);</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 使用</a:t>
            </a:r>
            <a:r>
              <a:rPr lang="zh-CN" altLang="en-US" sz="1600" kern="0" dirty="0">
                <a:solidFill>
                  <a:schemeClr val="tx1"/>
                </a:solidFill>
                <a:latin typeface="思源黑体 CN Normal" panose="020B0400000000000000" pitchFamily="34" charset="-122"/>
                <a:ea typeface="思源黑体 CN Normal" panose="020B0400000000000000" pitchFamily="34" charset="-122"/>
                <a:sym typeface="+mn-ea"/>
              </a:rPr>
              <a:t>这种</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方式运算进行位清除</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按位运算符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10426065" cy="10090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基本赋值运算符</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等号右边先执行，将直接结果赋值给左边的变量</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赋值运算符</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077595" y="2142490"/>
            <a:ext cx="10426065" cy="261937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扩展赋值运算符</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+=、-=、*=、/=、%=、&amp;=、|=、^=、&gt;&gt;=、&lt;&lt;=、&gt;&gt;&gt;=</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以 += 为例。i += 3; 表示 i = i + 3;</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 就是先+后=，也就是先求和，然后将求和的结果重新赋值。</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对于扩展赋值运算符来说，有一个非常重要的运算规则需要注意：扩展赋值运算符不会改变运算结果的类型。（即使精度损失了，也不会改变运算结果类型。）</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10426065" cy="51555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条件运算符</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Java 语言中的条件运算符由 ? 和 : 组成，也被称为三元运算符。它的语法格式为：</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布尔表达式 ? 表达式1 : 表达式2</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当布尔表达式的值为 true 时，条件运算符的结果为表达式1的值，否则为表达式2的值。这种运算符常用于简化 if-else 语句的代码量。</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下面是一个条件运算符的简单示例：</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int a = 5, b = 7;</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int max = (a &gt; b) ? a : b;</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System.out.println("最大值为：" + max);</a:t>
            </a:r>
          </a:p>
          <a:p>
            <a:pPr marL="457200" lvl="1" indent="0" algn="l" defTabSz="914400">
              <a:lnSpc>
                <a:spcPct val="150000"/>
              </a:lnSpc>
              <a:spcAft>
                <a:spcPts val="0"/>
              </a:spcAft>
              <a:buFont typeface="+mj-ea"/>
              <a:buNone/>
            </a:pPr>
            <a:r>
              <a:rPr lang="en-US" altLang="zh-CN" sz="1390" kern="0" dirty="0">
                <a:solidFill>
                  <a:schemeClr val="tx1"/>
                </a:solidFill>
                <a:latin typeface="思源黑体 CN Normal" panose="020B0400000000000000" pitchFamily="34" charset="-122"/>
                <a:ea typeface="思源黑体 CN Normal" panose="020B0400000000000000" pitchFamily="34" charset="-122"/>
              </a:rPr>
              <a:t>在上述代码中，首先定义了两个变量 a 和 b，然后使用条件运算符比较这两个变量的大小，取其中较大值作为变量 max 的值，最后输出结果。当 a &gt; b 的结果为 false 时，条件运算符的结果为表达式2，即 b 的值为变量 max 的值。当 a &gt; b 的结果为 true 时，条件运算符的结果为表达式1，即 a 的值为变量 max 的值。</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总的来说，条件运算符在 Java 中的使用相对简单，能够减少代码重复和代码量，常用于简单的条件处理和表达式值的判断。</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条件运算符</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77595" y="934720"/>
            <a:ext cx="10426065" cy="35172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 Java 代码，输入一个半径值，计算圆的面积和周长，并输出结果。注意：圆的面积公式为 π * r * r，周长公式为 2 * </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π </a:t>
            </a:r>
            <a:r>
              <a:rPr lang="en-US" altLang="zh-CN" sz="1600" kern="0" dirty="0">
                <a:solidFill>
                  <a:schemeClr val="tx1"/>
                </a:solidFill>
                <a:latin typeface="思源黑体 CN Normal" panose="020B0400000000000000" pitchFamily="34" charset="-122"/>
                <a:ea typeface="思源黑体 CN Normal" panose="020B0400000000000000" pitchFamily="34" charset="-122"/>
              </a:rPr>
              <a:t>* r，其中 </a:t>
            </a:r>
            <a:r>
              <a:rPr lang="en-US" altLang="zh-CN" sz="1600" kern="0" dirty="0">
                <a:solidFill>
                  <a:schemeClr val="tx1"/>
                </a:solidFill>
                <a:latin typeface="思源黑体 CN Normal" panose="020B0400000000000000" pitchFamily="34" charset="-122"/>
                <a:ea typeface="思源黑体 CN Normal" panose="020B0400000000000000" pitchFamily="34" charset="-122"/>
                <a:sym typeface="+mn-ea"/>
              </a:rPr>
              <a:t>π</a:t>
            </a:r>
            <a:r>
              <a:rPr lang="en-US" altLang="zh-CN" sz="1600" kern="0" dirty="0">
                <a:solidFill>
                  <a:schemeClr val="tx1"/>
                </a:solidFill>
                <a:latin typeface="思源黑体 CN Normal" panose="020B0400000000000000" pitchFamily="34" charset="-122"/>
                <a:ea typeface="思源黑体 CN Normal" panose="020B0400000000000000" pitchFamily="34" charset="-122"/>
              </a:rPr>
              <a:t> 取 3.14</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假设变量 a、b、c 分别为 6、9、10，请编写 Java 代码输出它们的最大值</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假设变量 n 为整数，请编写 Java 代码判断它是不是一个偶数</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 Java 代码，输入三个整数，分别判断第一个数是否大于 0，第二个数是否小于 10，第三个数是否是偶数。如果都满足条件，则输出“三个条件都满足”，否则输出“不满足所有条件”</a:t>
            </a:r>
          </a:p>
          <a:p>
            <a:pPr marL="342900" indent="-342900" algn="l" defTabSz="914400">
              <a:lnSpc>
                <a:spcPct val="150000"/>
              </a:lnSpc>
              <a:spcAft>
                <a:spcPts val="0"/>
              </a:spcAft>
              <a:buFont typeface="+mj-ea"/>
              <a:buAutoNum type="circleNumDbPlain"/>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 Java 代码，输入一个年份，判断它是否是闰年。若该年份能被 4 整除且不能被 100 整除，或者能被 400 整除，则该年份为闰年。输出结果为“该年是闰年”或“该年不是闰年”</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13004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09</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运算符</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作业题</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417449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控制语句：用于控制程序的执行流程，改变程序执行的次序。</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分支语句</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语句</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switch</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语句</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循环语句</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for</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循环</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while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循环</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do while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循环</a:t>
            </a:r>
          </a:p>
          <a:p>
            <a:pPr marL="228600" indent="-228600" algn="l" defTabSz="914400">
              <a:lnSpc>
                <a:spcPct val="150000"/>
              </a:lnSpc>
              <a:spcAft>
                <a:spcPts val="0"/>
              </a:spcAft>
              <a:buFont typeface="+mj-ea"/>
              <a:buAutoNum type="circleNumDbPlain"/>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跳转语句</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break</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语句</a:t>
            </a:r>
          </a:p>
          <a:p>
            <a:pPr marL="800100" lvl="1" indent="-342900" algn="l" defTabSz="914400">
              <a:lnSpc>
                <a:spcPct val="150000"/>
              </a:lnSpc>
              <a:spcAft>
                <a:spcPts val="0"/>
              </a:spcAft>
              <a:buFont typeface="+mj-lt"/>
              <a:buAutoNum type="arabicPeriod"/>
            </a:pPr>
            <a:r>
              <a:rPr lang="en-US" altLang="zh-CN" sz="1400" kern="0" dirty="0">
                <a:solidFill>
                  <a:schemeClr val="tx1"/>
                </a:solidFill>
                <a:latin typeface="思源黑体 CN Normal" panose="020B0400000000000000" pitchFamily="34" charset="-122"/>
                <a:ea typeface="思源黑体 CN Normal" panose="020B0400000000000000" pitchFamily="34" charset="-122"/>
              </a:rPr>
              <a:t>continue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语句</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356108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概述</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46856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语句的第一种写法：</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分支语句</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None/>
              <a:defRPr/>
            </a:pP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原理：如果布尔表达式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，则执行分支语句。如果为</a:t>
            </a:r>
            <a:r>
              <a:rPr lang="en-US" altLang="zh-CN" sz="14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，则不执行。</a:t>
            </a:r>
          </a:p>
          <a:p>
            <a:pPr marL="0" indent="0" algn="l" defTabSz="457200" hangingPunct="0">
              <a:lnSpc>
                <a:spcPct val="150000"/>
              </a:lnSpc>
              <a:spcAft>
                <a:spcPts val="0"/>
              </a:spcAft>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练一练：</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编写一个程序，输入一个人的年龄age，如果他的年龄大于等于18岁，则输出"你已经成年了"，否则不输出任何东西。</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编写一个程序，输入一个学生的分数score（百分制），如果学生的分数大于等于60，则输出"你已经及格了"，否则不输出任何东西。</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编写一个程序，输入一个学生的分数score（百分制），如果学生的分数大于等于60，则输出"你已经及格了"，如果学生的分数小于60，则输出“很抱歉，你不及格”。</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88060"/>
            <a:ext cx="9582785" cy="539750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语句的第二种写法：</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1;</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2;</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原理：如果布尔表达式</a:t>
            </a:r>
            <a:r>
              <a:rPr lang="en-US" altLang="zh-CN" sz="14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，则执行分支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1</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。如果为</a:t>
            </a:r>
            <a:r>
              <a:rPr lang="en-US" altLang="zh-CN" sz="14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，则执行分支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2</a:t>
            </a:r>
            <a:r>
              <a:rPr lang="zh-CN" altLang="en-US" sz="1400" kern="0" dirty="0">
                <a:solidFill>
                  <a:schemeClr val="tx1"/>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练一练：</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编写一个程序，输入一个学生的分数score（百分制），如果学生的分数大于等于60，则输出"你已经及格了"，如果学生的分数小于60，则输出“很抱歉，你不及格”。</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编写一个程序，输入一个数字num，判断它是否为7的倍数。如果是，则输出"num是7的倍数"，否则输出"num不是7的倍数"。</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编写一个程序，输入一个数字num，判断它是否同时为3的倍数和5的倍数。如果是，则输出"num既是3的倍数又是5的倍数"，否则输出"num不同时是3的倍数和5的倍数"。</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编写程序模拟用户登录，用户名和密码正确则登录成功，反之则登录失败。</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88060"/>
            <a:ext cx="9582785" cy="38214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语句的第三种写法：</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1;</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 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2;</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 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3;</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原理：</a:t>
            </a:r>
            <a:r>
              <a:rPr lang="zh-CN" sz="1400" kern="0" dirty="0">
                <a:solidFill>
                  <a:schemeClr val="tx1"/>
                </a:solidFill>
                <a:latin typeface="思源黑体 CN Normal" panose="020B0400000000000000" pitchFamily="34" charset="-122"/>
                <a:ea typeface="思源黑体 CN Normal" panose="020B0400000000000000" pitchFamily="34" charset="-122"/>
              </a:rPr>
              <a:t>从上往下依次判断布尔表达式，只要遇到布尔表达式为</a:t>
            </a:r>
            <a:r>
              <a:rPr lang="en-US" altLang="zh-CN" sz="14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，则执行对应的分支，整个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结束。如果都是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，没有分支执行。</a:t>
            </a:r>
          </a:p>
          <a:p>
            <a:pPr marL="0" indent="0" algn="l" defTabSz="457200" hangingPunct="0">
              <a:lnSpc>
                <a:spcPct val="150000"/>
              </a:lnSpc>
              <a:spcAft>
                <a:spcPts val="0"/>
              </a:spcAft>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88060"/>
            <a:ext cx="9582785" cy="48952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语句的第四种写法：</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1;</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 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2;</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 if(</a:t>
            </a: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布尔表达式</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3;</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}else{</a:t>
            </a:r>
          </a:p>
          <a:p>
            <a:pPr marL="0" indent="457200" algn="l" defTabSz="457200" hangingPunct="0">
              <a:lnSpc>
                <a:spcPct val="150000"/>
              </a:lnSpc>
              <a:spcAft>
                <a:spcPts val="0"/>
              </a:spcAft>
              <a:buNone/>
              <a:defRPr/>
            </a:pPr>
            <a:r>
              <a:rPr lang="zh-CN" altLang="en-US" sz="1400" b="1" kern="0" dirty="0">
                <a:solidFill>
                  <a:srgbClr val="FF0000"/>
                </a:solidFill>
                <a:latin typeface="思源黑体 CN Normal" panose="020B0400000000000000" pitchFamily="34" charset="-122"/>
                <a:ea typeface="思源黑体 CN Normal" panose="020B0400000000000000" pitchFamily="34" charset="-122"/>
              </a:rPr>
              <a:t>分支</a:t>
            </a:r>
            <a:r>
              <a:rPr lang="en-US" altLang="zh-CN" sz="1400" b="1" kern="0" dirty="0">
                <a:solidFill>
                  <a:srgbClr val="FF0000"/>
                </a:solidFill>
                <a:latin typeface="思源黑体 CN Normal" panose="020B0400000000000000" pitchFamily="34" charset="-122"/>
                <a:ea typeface="思源黑体 CN Normal" panose="020B0400000000000000" pitchFamily="34" charset="-122"/>
              </a:rPr>
              <a:t>4;</a:t>
            </a:r>
          </a:p>
          <a:p>
            <a:pPr marL="0" indent="0" algn="l" defTabSz="457200" hangingPunct="0">
              <a:lnSpc>
                <a:spcPct val="150000"/>
              </a:lnSpc>
              <a:spcAft>
                <a:spcPts val="0"/>
              </a:spcAft>
              <a:buNone/>
              <a:defRPr/>
            </a:pPr>
            <a:r>
              <a:rPr lang="en-US" altLang="zh-CN" sz="1400" b="1" kern="0" dirty="0">
                <a:solidFill>
                  <a:srgbClr val="FF0000"/>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None/>
              <a:defRPr/>
            </a:pPr>
            <a:endParaRPr lang="en-US" altLang="zh-CN" sz="1400" kern="0" dirty="0">
              <a:solidFill>
                <a:schemeClr val="tx1"/>
              </a:solidFill>
              <a:latin typeface="思源黑体 CN Normal" panose="020B0400000000000000" pitchFamily="34" charset="-122"/>
              <a:ea typeface="思源黑体 CN Normal" panose="020B0400000000000000" pitchFamily="34" charset="-122"/>
            </a:endParaRPr>
          </a:p>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原理：</a:t>
            </a:r>
            <a:r>
              <a:rPr lang="zh-CN" sz="1400" kern="0" dirty="0">
                <a:solidFill>
                  <a:schemeClr val="tx1"/>
                </a:solidFill>
                <a:latin typeface="思源黑体 CN Normal" panose="020B0400000000000000" pitchFamily="34" charset="-122"/>
                <a:ea typeface="思源黑体 CN Normal" panose="020B0400000000000000" pitchFamily="34" charset="-122"/>
              </a:rPr>
              <a:t>从上往下依次判断布尔表达式，只要遇到布尔表达式为</a:t>
            </a:r>
            <a:r>
              <a:rPr lang="en-US" altLang="zh-CN" sz="1400" kern="0" dirty="0">
                <a:solidFill>
                  <a:schemeClr val="tx1"/>
                </a:solidFill>
                <a:latin typeface="思源黑体 CN Normal" panose="020B0400000000000000" pitchFamily="34" charset="-122"/>
                <a:ea typeface="思源黑体 CN Normal" panose="020B0400000000000000" pitchFamily="34" charset="-122"/>
              </a:rPr>
              <a:t>true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，则执行对应的分支，整个</a:t>
            </a:r>
            <a:r>
              <a:rPr lang="en-US" altLang="zh-CN" sz="14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400" kern="0" dirty="0">
                <a:solidFill>
                  <a:schemeClr val="tx1"/>
                </a:solidFill>
                <a:latin typeface="思源黑体 CN Normal" panose="020B0400000000000000" pitchFamily="34" charset="-122"/>
                <a:ea typeface="思源黑体 CN Normal" panose="020B0400000000000000" pitchFamily="34" charset="-122"/>
              </a:rPr>
              <a:t>结束。如果都是</a:t>
            </a:r>
            <a:r>
              <a:rPr lang="en-US" altLang="zh-CN" sz="1400" kern="0" dirty="0">
                <a:solidFill>
                  <a:schemeClr val="tx1"/>
                </a:solidFill>
                <a:latin typeface="思源黑体 CN Normal" panose="020B0400000000000000" pitchFamily="34" charset="-122"/>
                <a:ea typeface="思源黑体 CN Normal" panose="020B0400000000000000" pitchFamily="34" charset="-122"/>
              </a:rPr>
              <a:t>false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，没则执行最后的</a:t>
            </a:r>
            <a:r>
              <a:rPr lang="en-US" altLang="zh-CN" sz="1400" kern="0" dirty="0">
                <a:solidFill>
                  <a:schemeClr val="tx1"/>
                </a:solidFill>
                <a:latin typeface="思源黑体 CN Normal" panose="020B0400000000000000" pitchFamily="34" charset="-122"/>
                <a:ea typeface="思源黑体 CN Normal" panose="020B0400000000000000" pitchFamily="34" charset="-122"/>
              </a:rPr>
              <a:t>else</a:t>
            </a:r>
            <a:r>
              <a:rPr lang="zh-CN" altLang="en-US" sz="1400" kern="0" dirty="0">
                <a:solidFill>
                  <a:schemeClr val="tx1"/>
                </a:solidFill>
                <a:latin typeface="思源黑体 CN Normal" panose="020B0400000000000000" pitchFamily="34" charset="-122"/>
                <a:ea typeface="思源黑体 CN Normal" panose="020B0400000000000000" pitchFamily="34" charset="-122"/>
              </a:rPr>
              <a:t>分支。</a:t>
            </a:r>
          </a:p>
          <a:p>
            <a:pPr marL="0" indent="0" algn="l" defTabSz="457200" hangingPunct="0">
              <a:lnSpc>
                <a:spcPct val="150000"/>
              </a:lnSpc>
              <a:spcAft>
                <a:spcPts val="0"/>
              </a:spcAft>
              <a:buNone/>
              <a:defRPr/>
            </a:pPr>
            <a:endParaRPr lang="zh-CN" altLang="en-US" sz="14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44996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练一练：</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编写一个程序，输入一个数字num，判断它是否为正数、负数或零，并输出对应的信息。例如，如果num是正数，则输出"num是正数"，如果num是负数，则输出"num是负数"，如果num等于0，则输出"num等于0"。</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学生的分数score（百分制），根据成绩的不同输出不同的评价。如果学生的分数大于等于90分，则输出"你的成绩是优秀"；如果分数大于等于80分但小于90分，则输出"你的成绩是良好"；如果分数大于等于70分但小于80分，则输出"你的成绩是中等"；如果分数大于等于60分但小于70分，则输出"你的成绩是及格"；否则输出"你的成绩不及格"。</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编写一个程序，输入一个年份year和一个月份month，判断这个月份有多少天。判断方法如下：</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如果month为1、3、5、7、8、10、12中的一个，输出"month有31天"；</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如果month为4、6、9、11中的一个，输出"month有30天"；</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如果month为2并且year为闰年，输出"month有29天"；（如果一个年份能够被4整除但不能被100整除，或者能够被400整除，那么它就是闰年）</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如果month为2并且year不是闰年，输出"month有28天"。</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52057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语句的使用注意事项：</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对于任何一个if语句来说，最多只能有一个分支执行。</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分支中如果只有一条Java语句，大括号可以省略。</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对于以上第2种和第4种，这两种写法是可以保证一定会有一个分支执行的。因为这两种写法都有else分支。</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对于以上第1种和第3种，这两种写法可能会没有分支执行。</a:t>
            </a:r>
          </a:p>
          <a:p>
            <a:pPr marL="342900" indent="-342900" algn="l" defTabSz="457200" hangingPunct="0">
              <a:lnSpc>
                <a:spcPct val="150000"/>
              </a:lnSpc>
              <a:spcAft>
                <a:spcPts val="0"/>
              </a:spcAft>
              <a:buFont typeface="+mj-ea"/>
              <a:buAutoNum type="circleNumDbPlain"/>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在if选择结构中还可以嵌套别的选择结构或循环结构。</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练一练：</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请输入性别以及当前气温：</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如果是男：</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气温低于5度(含5度)，输出“请穿军大衣”</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气温在5~10度(含10度)，输出“请穿皮夹克”</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气温高于10度，输出“你是硬汉子，请穿短袖”</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如果是女：</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气温低于5度(含5度)，输出“请穿花棉袄”</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气温在5~20度(含20度)，输出“请穿羊绒衫”</a:t>
            </a:r>
          </a:p>
          <a:p>
            <a:pPr marL="0" indent="0" algn="l" defTabSz="457200" hangingPunct="0">
              <a:lnSpc>
                <a:spcPct val="150000"/>
              </a:lnSpc>
              <a:spcAft>
                <a:spcPts val="0"/>
              </a:spcAft>
              <a:buFont typeface="+mj-ea"/>
              <a:buNone/>
              <a:defRPr/>
            </a:pPr>
            <a:r>
              <a:rPr lang="zh-CN" altLang="en-US" sz="1400" kern="0" dirty="0">
                <a:solidFill>
                  <a:schemeClr val="tx1"/>
                </a:solidFill>
                <a:latin typeface="思源黑体 CN Normal" panose="020B0400000000000000" pitchFamily="34" charset="-122"/>
                <a:ea typeface="思源黑体 CN Normal" panose="020B0400000000000000" pitchFamily="34" charset="-122"/>
              </a:rPr>
              <a:t>		气温高于20度，输出“请穿花裙子”</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52120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if</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58875"/>
            <a:ext cx="9582785" cy="59118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语句完整格式：</a:t>
            </a:r>
            <a:endParaRPr lang="en-US" altLang="zh-CN" sz="1600" kern="0" dirty="0">
              <a:solidFill>
                <a:schemeClr val="tx1"/>
              </a:solidFill>
              <a:latin typeface="思源黑体 CN Normal" panose="020B0400000000000000" pitchFamily="34" charset="-122"/>
              <a:ea typeface="思源黑体 CN Normal" panose="020B0400000000000000" pitchFamily="34"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switch</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1118870" y="1974215"/>
            <a:ext cx="6268085" cy="34905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934720"/>
            <a:ext cx="9582785" cy="48374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语句使用注意事项：</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1.  switch 语句适用</a:t>
            </a:r>
            <a:r>
              <a:rPr lang="zh-CN" altLang="en-US" sz="1600" kern="0" dirty="0">
                <a:solidFill>
                  <a:schemeClr val="tx1"/>
                </a:solidFill>
                <a:latin typeface="思源黑体 CN Normal" panose="020B0400000000000000" pitchFamily="34" charset="-122"/>
                <a:ea typeface="思源黑体 CN Normal" panose="020B0400000000000000" pitchFamily="34" charset="-122"/>
              </a:rPr>
              <a:t>于判断固定值</a:t>
            </a:r>
            <a:r>
              <a:rPr lang="en-US" altLang="zh-CN" sz="16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语句适用于判断范围或区间时使用。</a:t>
            </a:r>
            <a:r>
              <a:rPr lang="en-US" altLang="zh-CN" sz="1600" kern="0" dirty="0">
                <a:solidFill>
                  <a:schemeClr val="tx1"/>
                </a:solidFill>
                <a:latin typeface="思源黑体 CN Normal" panose="020B0400000000000000" pitchFamily="34" charset="-122"/>
                <a:ea typeface="思源黑体 CN Normal" panose="020B0400000000000000" pitchFamily="34" charset="-122"/>
              </a:rPr>
              <a:t>switch</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能做的</a:t>
            </a:r>
            <a:r>
              <a:rPr lang="en-US" altLang="zh-CN" sz="16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肯定能做，</a:t>
            </a:r>
            <a:r>
              <a:rPr lang="en-US" altLang="zh-CN" sz="1600" kern="0" dirty="0">
                <a:solidFill>
                  <a:schemeClr val="tx1"/>
                </a:solidFill>
                <a:latin typeface="思源黑体 CN Normal" panose="020B0400000000000000" pitchFamily="34" charset="-122"/>
                <a:ea typeface="思源黑体 CN Normal" panose="020B0400000000000000" pitchFamily="34" charset="-122"/>
              </a:rPr>
              <a:t>if</a:t>
            </a:r>
            <a:r>
              <a:rPr lang="zh-CN" altLang="en-US" sz="1600" kern="0" dirty="0">
                <a:solidFill>
                  <a:schemeClr val="tx1"/>
                </a:solidFill>
                <a:latin typeface="思源黑体 CN Normal" panose="020B0400000000000000" pitchFamily="34" charset="-122"/>
                <a:ea typeface="思源黑体 CN Normal" panose="020B0400000000000000" pitchFamily="34" charset="-122"/>
              </a:rPr>
              <a:t>能完成的</a:t>
            </a:r>
            <a:r>
              <a:rPr lang="en-US" altLang="zh-CN" sz="1600" kern="0" dirty="0">
                <a:solidFill>
                  <a:schemeClr val="tx1"/>
                </a:solidFill>
                <a:latin typeface="思源黑体 CN Normal" panose="020B0400000000000000" pitchFamily="34" charset="-122"/>
                <a:ea typeface="思源黑体 CN Normal" panose="020B0400000000000000" pitchFamily="34" charset="-122"/>
              </a:rPr>
              <a:t>switch</a:t>
            </a:r>
            <a:r>
              <a:rPr lang="zh-CN" altLang="en-US" sz="1600" kern="0" dirty="0">
                <a:solidFill>
                  <a:schemeClr val="tx1"/>
                </a:solidFill>
                <a:latin typeface="思源黑体 CN Normal" panose="020B0400000000000000" pitchFamily="34" charset="-122"/>
                <a:ea typeface="思源黑体 CN Normal" panose="020B0400000000000000" pitchFamily="34" charset="-122"/>
              </a:rPr>
              <a:t>不一定能完成。</a:t>
            </a:r>
            <a:r>
              <a:rPr lang="en-US" altLang="zh-CN" sz="1600" kern="0" dirty="0">
                <a:solidFill>
                  <a:schemeClr val="tx1"/>
                </a:solidFill>
                <a:latin typeface="思源黑体 CN Normal" panose="020B0400000000000000" pitchFamily="34" charset="-122"/>
                <a:ea typeface="思源黑体 CN Normal" panose="020B0400000000000000" pitchFamily="34" charset="-122"/>
              </a:rPr>
              <a:t> </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2.  JDK7之前，switch只支持int类型、枚举类型，在JDK7之后，增加了对字符串类型的支持。</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3.  case 语句中的值必须是字面量，不能是变量。 </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4.  case 语句中的值必须和switch后面的值是同一类型，或者能够相互转换。 </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5.  case可以合并。</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6.  在每个 case 分支中要加上 break 语句，以避免case穿透现象。 </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7.  在 switch 语句中，一般都应该有一个 default 分支，用于处理一些特殊情况，以避免程序出错。  （当然，default语句不写，也不会编译报错。）</a:t>
            </a:r>
          </a:p>
          <a:p>
            <a:pPr marL="0" indent="0" algn="l" defTabSz="457200" hangingPunct="0">
              <a:lnSpc>
                <a:spcPct val="150000"/>
              </a:lnSpc>
              <a:spcAft>
                <a:spcPts val="0"/>
              </a:spcAft>
              <a:buNone/>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8.  switch 语句中的 default 分支可以放在 switch 块的任意位置，但是通常建议将 default 分支放在所有 case 分支的最后面。（可读性好）</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switch</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107440"/>
            <a:ext cx="9582785" cy="417703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编写一个程序，根据输入的月份，输出该月份所属的季节。 </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编写一个程序，根据输入的运算符符号，输出两个数的运算结果。例如输入符号为“+”，则输出两个数的和；输入符号为“-”，则输出两个数的差，以此类推。 </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编写一个程序，根据输入的图形名称，输出对应图形的边数。例如输入“三角形”，则输出“三角形有 3 条边”，以此类推。 </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编写一个程序，根据输入的成绩，输出对应的等级。例如输入成绩为 90~100，则输出“优秀”；输入成绩为 70~89，则输出“良好”，以此类推。</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Normal" panose="020B0400000000000000" pitchFamily="34" charset="-122"/>
                <a:ea typeface="思源黑体 CN Normal" panose="020B0400000000000000" pitchFamily="34" charset="-122"/>
              </a:rPr>
              <a:t>查询水果的价格，根据输入水果(fruit)的名字，输出对应的水果的价格，例如苹果6块/斤，香蕉3元/斤，榴莲20元/斤，西瓜0.8元/斤   </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switch</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772160"/>
            <a:ext cx="9582785" cy="57931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Java12</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中</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引入了新特性，代码变得更加简洁：</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switch(x){</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    case 1 -&gt; System.out.println(1);</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    case 2 -&gt; System.out.println(2);</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    default -&gt; System.out.println("default");</a:t>
            </a:r>
          </a:p>
          <a:p>
            <a:pPr marL="0" indent="0" algn="l" defTabSz="457200" hangingPunct="0">
              <a:lnSpc>
                <a:spcPct val="150000"/>
              </a:lnSpc>
              <a:spcAft>
                <a:spcPts val="0"/>
              </a:spcAft>
              <a:buFont typeface="+mj-ea"/>
              <a:buNone/>
              <a:defRPr/>
            </a:pPr>
            <a:r>
              <a:rPr lang="en-US" altLang="zh-CN" sz="1600" b="1" kern="0" dirty="0">
                <a:solidFill>
                  <a:srgbClr val="FF0000"/>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Font typeface="+mj-ea"/>
              <a:buNone/>
              <a:defRPr/>
            </a:pPr>
            <a:r>
              <a:rPr lang="en-US" altLang="zh-CN" sz="1600" b="1" kern="0" dirty="0">
                <a:solidFill>
                  <a:schemeClr val="accent6">
                    <a:lumMod val="75000"/>
                  </a:schemeClr>
                </a:solidFill>
                <a:latin typeface="思源黑体 CN Normal" panose="020B0400000000000000" pitchFamily="34" charset="-122"/>
                <a:ea typeface="思源黑体 CN Normal" panose="020B0400000000000000" pitchFamily="34" charset="-122"/>
              </a:rPr>
              <a:t>switch(x){</a:t>
            </a:r>
          </a:p>
          <a:p>
            <a:pPr marL="0" indent="0" algn="l" defTabSz="457200" hangingPunct="0">
              <a:lnSpc>
                <a:spcPct val="150000"/>
              </a:lnSpc>
              <a:spcAft>
                <a:spcPts val="0"/>
              </a:spcAft>
              <a:buFont typeface="+mj-ea"/>
              <a:buNone/>
              <a:defRPr/>
            </a:pPr>
            <a:r>
              <a:rPr lang="en-US" altLang="zh-CN" sz="1600" b="1" kern="0" dirty="0">
                <a:solidFill>
                  <a:schemeClr val="accent6">
                    <a:lumMod val="75000"/>
                  </a:schemeClr>
                </a:solidFill>
                <a:latin typeface="思源黑体 CN Normal" panose="020B0400000000000000" pitchFamily="34" charset="-122"/>
                <a:ea typeface="思源黑体 CN Normal" panose="020B0400000000000000" pitchFamily="34" charset="-122"/>
              </a:rPr>
              <a:t>    case 1, 2, 3 -&gt; System.out.println("123");</a:t>
            </a:r>
          </a:p>
          <a:p>
            <a:pPr marL="0" indent="0" algn="l" defTabSz="457200" hangingPunct="0">
              <a:lnSpc>
                <a:spcPct val="150000"/>
              </a:lnSpc>
              <a:spcAft>
                <a:spcPts val="0"/>
              </a:spcAft>
              <a:buFont typeface="+mj-ea"/>
              <a:buNone/>
              <a:defRPr/>
            </a:pPr>
            <a:r>
              <a:rPr lang="en-US" altLang="zh-CN" sz="1600" b="1" kern="0" dirty="0">
                <a:solidFill>
                  <a:schemeClr val="accent6">
                    <a:lumMod val="75000"/>
                  </a:schemeClr>
                </a:solidFill>
                <a:latin typeface="思源黑体 CN Normal" panose="020B0400000000000000" pitchFamily="34" charset="-122"/>
                <a:ea typeface="思源黑体 CN Normal" panose="020B0400000000000000" pitchFamily="34" charset="-122"/>
              </a:rPr>
              <a:t>}</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switch(x){</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    case 1 -&gt; {</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        System.out.println(1);</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        System.out.println(1);</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    }</a:t>
            </a:r>
          </a:p>
          <a:p>
            <a:pPr marL="0" indent="0" algn="l" defTabSz="457200" hangingPunct="0">
              <a:lnSpc>
                <a:spcPct val="150000"/>
              </a:lnSpc>
              <a:spcAft>
                <a:spcPts val="0"/>
              </a:spcAft>
              <a:buFont typeface="+mj-ea"/>
              <a:buNone/>
              <a:defRPr/>
            </a:pPr>
            <a:r>
              <a:rPr lang="en-US" altLang="zh-CN" sz="1600" b="1" kern="0" dirty="0">
                <a:solidFill>
                  <a:schemeClr val="accent2">
                    <a:lumMod val="75000"/>
                  </a:schemeClr>
                </a:solidFill>
                <a:latin typeface="思源黑体 CN Normal" panose="020B0400000000000000" pitchFamily="34" charset="-122"/>
                <a:ea typeface="思源黑体 CN Normal" panose="020B0400000000000000" pitchFamily="34" charset="-122"/>
              </a:rPr>
              <a:t>}</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分支语句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switch</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0130"/>
            <a:ext cx="9582785" cy="11734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循环语句：</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当某代码片段需要频繁多次执行时，可以采用循环语句</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5"/>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6"/>
          <a:stretch>
            <a:fillRect/>
          </a:stretch>
        </p:blipFill>
        <p:spPr>
          <a:xfrm>
            <a:off x="1803400" y="2419350"/>
            <a:ext cx="2761615" cy="2775585"/>
          </a:xfrm>
          <a:prstGeom prst="rect">
            <a:avLst/>
          </a:prstGeom>
        </p:spPr>
      </p:pic>
      <p:pic>
        <p:nvPicPr>
          <p:cNvPr id="3" name="图片 2"/>
          <p:cNvPicPr>
            <a:picLocks noChangeAspect="1"/>
          </p:cNvPicPr>
          <p:nvPr>
            <p:custDataLst>
              <p:tags r:id="rId3"/>
            </p:custDataLst>
          </p:nvPr>
        </p:nvPicPr>
        <p:blipFill>
          <a:blip r:embed="rId7"/>
          <a:stretch>
            <a:fillRect/>
          </a:stretch>
        </p:blipFill>
        <p:spPr>
          <a:xfrm>
            <a:off x="5353685" y="2531745"/>
            <a:ext cx="3360420" cy="8972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0130"/>
            <a:ext cx="9582785" cy="5213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循环原理：</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for</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4" name="图片 3" descr="image"/>
          <p:cNvPicPr>
            <a:picLocks noChangeAspect="1"/>
          </p:cNvPicPr>
          <p:nvPr/>
        </p:nvPicPr>
        <p:blipFill>
          <a:blip r:embed="rId4"/>
          <a:stretch>
            <a:fillRect/>
          </a:stretch>
        </p:blipFill>
        <p:spPr>
          <a:xfrm>
            <a:off x="1205230" y="1961515"/>
            <a:ext cx="5147945" cy="23323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0130"/>
            <a:ext cx="9582785" cy="275082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循环练一练：</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 输出1~10</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2. 输出1~100中所有的偶数</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3. 输出100,97,94,91...........1</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4. 计算1~100所有奇数的和。</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5. 计算n的阶乘。</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for</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18870" y="1040130"/>
            <a:ext cx="9582785" cy="499935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循环嵌套：</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 循环嵌套 for 循环指的是在一个 for 循环的循环体中再嵌套另一个 for 循环。通过嵌套 for 循环，可以在外层循环的每次迭代中执行内层循环若干次。</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例如，以下代码使用 for 循环嵌套打印九九乘法表：</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 (int i = 1; i &lt;= 9; i++) {</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for (int j = 1; j &lt;= i; j++) {</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System.out.print(j + " x " + i + " = " + i * j + "\t");</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System.out.println();</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0" indent="0" algn="l" defTabSz="457200" hangingPunct="0">
              <a:lnSpc>
                <a:spcPct val="150000"/>
              </a:lnSpc>
              <a:spcAft>
                <a:spcPts val="0"/>
              </a:spcAft>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这段代码中，外层循环的循环变量为 i，它的取值范围是 1 到 9，每次迭代时执行内层循环。内层循环的循环变量为 j，它的取值范围是 1 到 i，这样可以确保每行只打印到当前行数的结果。在内层循环中，打印出 j 和 i 的积，用 tab 键隔开，使结果排列整齐。</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for</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1486535"/>
            <a:ext cx="9582785" cy="38842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循环练一练：</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输出右侧图形</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找出1~100的所有质数</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找出1~1000的所有质数，输出时每8个换一行</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输入一个正整数n，计算1-2+3-4+5-6+…-(n-1)+n的和</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输出1到1000之间既能被5整除又能被3整除的数，并且每行输出5个</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求100到999之间的水仙花数。水仙花数的每个位上的数字的3次幂之和等于它本身（例如：1^3 + 5^3+ 3^3 = 153）</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找1~100之间的质数，并输出两两相邻的质数差值等于 2 的质数对，例如（3，5），（5，7），（11，13），（17，19）等等</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for</a:t>
            </a:r>
          </a:p>
        </p:txBody>
      </p:sp>
      <p:pic>
        <p:nvPicPr>
          <p:cNvPr id="10" name="图片 9" descr="5d0495981e06a4beefc1a7ac3c41024d"/>
          <p:cNvPicPr>
            <a:picLocks noChangeAspect="1"/>
          </p:cNvPicPr>
          <p:nvPr>
            <p:custDataLst>
              <p:tags r:id="rId1"/>
            </p:custDataLst>
          </p:nvPr>
        </p:nvPicPr>
        <p:blipFill>
          <a:blip r:embed="rId6"/>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7"/>
          <a:stretch>
            <a:fillRect/>
          </a:stretch>
        </p:blipFill>
        <p:spPr>
          <a:xfrm>
            <a:off x="5836285" y="1188720"/>
            <a:ext cx="923925" cy="1790700"/>
          </a:xfrm>
          <a:prstGeom prst="rect">
            <a:avLst/>
          </a:prstGeom>
        </p:spPr>
      </p:pic>
      <p:pic>
        <p:nvPicPr>
          <p:cNvPr id="3" name="图片 2"/>
          <p:cNvPicPr>
            <a:picLocks noChangeAspect="1"/>
          </p:cNvPicPr>
          <p:nvPr>
            <p:custDataLst>
              <p:tags r:id="rId3"/>
            </p:custDataLst>
          </p:nvPr>
        </p:nvPicPr>
        <p:blipFill>
          <a:blip r:embed="rId8"/>
          <a:stretch>
            <a:fillRect/>
          </a:stretch>
        </p:blipFill>
        <p:spPr>
          <a:xfrm>
            <a:off x="6873875" y="1486535"/>
            <a:ext cx="904875" cy="1047750"/>
          </a:xfrm>
          <a:prstGeom prst="rect">
            <a:avLst/>
          </a:prstGeom>
        </p:spPr>
      </p:pic>
      <p:pic>
        <p:nvPicPr>
          <p:cNvPr id="4" name="图片 3"/>
          <p:cNvPicPr>
            <a:picLocks noChangeAspect="1"/>
          </p:cNvPicPr>
          <p:nvPr>
            <p:custDataLst>
              <p:tags r:id="rId4"/>
            </p:custDataLst>
          </p:nvPr>
        </p:nvPicPr>
        <p:blipFill>
          <a:blip r:embed="rId9"/>
          <a:stretch>
            <a:fillRect/>
          </a:stretch>
        </p:blipFill>
        <p:spPr>
          <a:xfrm>
            <a:off x="8144510" y="1638935"/>
            <a:ext cx="2600325" cy="742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934720"/>
            <a:ext cx="9582785" cy="469963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循环语法格式：</a:t>
            </a:r>
          </a:p>
          <a:p>
            <a:pPr marL="0" indent="457200" algn="l" defTabSz="457200" hangingPunct="0">
              <a:lnSpc>
                <a:spcPct val="150000"/>
              </a:lnSpc>
              <a:spcAft>
                <a:spcPts val="0"/>
              </a:spcAft>
              <a:buFont typeface="+mj-ea"/>
              <a:buNone/>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布尔表达式</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457200" lvl="1" indent="45720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循环体</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0" indent="457200" algn="l" defTabSz="457200" hangingPunct="0">
              <a:lnSpc>
                <a:spcPct val="150000"/>
              </a:lnSpc>
              <a:spcAft>
                <a:spcPts val="0"/>
              </a:spcAft>
              <a:buFont typeface="+mj-ea"/>
              <a:buNone/>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startAt="2"/>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执行原理：只要布尔表达式为</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true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就会一直循环，直到布尔表达式结果为</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false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，循环结束。</a:t>
            </a:r>
          </a:p>
          <a:p>
            <a:pPr marL="342900"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循环体的执行次数可能是：</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0 - n</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次。</a:t>
            </a:r>
          </a:p>
          <a:p>
            <a:pPr marL="342900"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循环适用于循环次数固定的。</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循环适用于循环次数不固定的。</a:t>
            </a:r>
          </a:p>
          <a:p>
            <a:pPr marL="0" indent="0" algn="l" defTabSz="457200" hangingPunct="0">
              <a:lnSpc>
                <a:spcPct val="150000"/>
              </a:lnSpc>
              <a:spcAft>
                <a:spcPts val="0"/>
              </a:spcAft>
              <a:buFont typeface="+mj-ea"/>
              <a:buNone/>
              <a:defRPr/>
            </a:pP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p>
          <a:p>
            <a:pPr marL="0" indent="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猜数字小游戏：程序生成 1~100 之间的一个随机数，要求用户猜这个数是多少，程序做出相应的提示，如果猜中了则输出恭喜信息，并记录猜的次数，如果猜错了可以提示用户再猜一次。使用 while 循环实现游戏的主体流程。</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4688205"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while</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7546975" y="1055370"/>
            <a:ext cx="2773045" cy="1823085"/>
          </a:xfrm>
          <a:prstGeom prst="rect">
            <a:avLst/>
          </a:prstGeom>
          <a:effectLst>
            <a:innerShdw blurRad="114300">
              <a:prstClr val="black"/>
            </a:innerShdw>
          </a:effectLst>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867410"/>
            <a:ext cx="9582785" cy="533146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 while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 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循环语法格式：</a:t>
            </a:r>
          </a:p>
          <a:p>
            <a:pPr marL="0" indent="457200" algn="l" defTabSz="457200" hangingPunct="0">
              <a:lnSpc>
                <a:spcPct val="150000"/>
              </a:lnSpc>
              <a:spcAft>
                <a:spcPts val="0"/>
              </a:spcAft>
              <a:buFont typeface="+mj-ea"/>
              <a:buNone/>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a:t>
            </a:r>
          </a:p>
          <a:p>
            <a:pPr marL="457200" lvl="1" indent="45720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循环体</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0" indent="457200" algn="l" defTabSz="457200" hangingPunct="0">
              <a:lnSpc>
                <a:spcPct val="150000"/>
              </a:lnSpc>
              <a:spcAft>
                <a:spcPts val="0"/>
              </a:spcAft>
              <a:buFont typeface="+mj-ea"/>
              <a:buNone/>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布尔表达式</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startAt="2"/>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执行原理：先执行一次循环体，再判断布尔表达式，为</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true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继续循环，直到布尔表达式结果为</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false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，循环结束。</a:t>
            </a:r>
          </a:p>
          <a:p>
            <a:pPr marL="342900"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 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循环体的执行次数可能是：</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1 - n</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次。</a:t>
            </a:r>
          </a:p>
          <a:p>
            <a:pPr marL="342900"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do while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循环比较适合用在不管条件是否成立，第一次必须要执行的业务。</a:t>
            </a: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p>
          <a:p>
            <a:pPr marL="342900" indent="-342900" algn="l" defTabSz="457200" hangingPunct="0">
              <a:lnSpc>
                <a:spcPct val="150000"/>
              </a:lnSpc>
              <a:spcAft>
                <a:spcPts val="0"/>
              </a:spcAft>
              <a:buFont typeface="+mj-ea"/>
              <a:buAutoNum type="circleNumDbPlain"/>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求平均数：要求用户输入一组数字，用 -1 表示输入结束，使用 do-while 循环计算这些数字的平均数并输出。要使用一个计数器来记录输入的数字个数，遇到 -1 则终止输入并计算平均数。</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循环语句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do while</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pic>
        <p:nvPicPr>
          <p:cNvPr id="2" name="图片 1"/>
          <p:cNvPicPr>
            <a:picLocks noChangeAspect="1"/>
          </p:cNvPicPr>
          <p:nvPr>
            <p:custDataLst>
              <p:tags r:id="rId2"/>
            </p:custDataLst>
          </p:nvPr>
        </p:nvPicPr>
        <p:blipFill>
          <a:blip r:embed="rId5"/>
          <a:stretch>
            <a:fillRect/>
          </a:stretch>
        </p:blipFill>
        <p:spPr>
          <a:xfrm>
            <a:off x="7244715" y="1008380"/>
            <a:ext cx="2562225" cy="1823720"/>
          </a:xfrm>
          <a:prstGeom prst="rect">
            <a:avLst/>
          </a:prstGeom>
          <a:effectLst>
            <a:innerShdw blurRad="114300">
              <a:prstClr val="black"/>
            </a:innerShdw>
          </a:effectLst>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867410"/>
            <a:ext cx="9582785" cy="47085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跳转语句：</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出现在</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语句用来终止</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switch</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语句的执行。</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出现在循环中，用来终止循环的执行。</a:t>
            </a:r>
          </a:p>
          <a:p>
            <a:pPr marL="800100" lvl="1"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用来终止离它最近的循环。</a:t>
            </a:r>
          </a:p>
          <a:p>
            <a:pPr marL="800100" lvl="1"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循环标记</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用来终止指定的循环。</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continue;</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终止当前本次循环，直接进入下一次循环继续执行。</a:t>
            </a:r>
          </a:p>
          <a:p>
            <a:pPr marL="800100" lvl="1"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continue;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终止当前本次循环，直接进入离它最近的循环继续。</a:t>
            </a:r>
          </a:p>
          <a:p>
            <a:pPr marL="800100" lvl="1"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continue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循环标记</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终止当前本次循环，直接进入指定的循环继续。</a:t>
            </a:r>
          </a:p>
          <a:p>
            <a:pPr marL="342900" lvl="1" indent="-342900" algn="l" defTabSz="457200" hangingPunct="0">
              <a:lnSpc>
                <a:spcPct val="150000"/>
              </a:lnSpc>
              <a:spcAft>
                <a:spcPts val="0"/>
              </a:spcAft>
              <a:buClrTx/>
              <a:buSzTx/>
              <a:buFont typeface="+mj-ea"/>
              <a:buAutoNum type="circleNumDbPlain" startAt="3"/>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break;与return;</a:t>
            </a:r>
          </a:p>
          <a:p>
            <a:pPr marL="800100" lvl="2" indent="-342900" algn="l" defTabSz="457200" hangingPunct="0">
              <a:lnSpc>
                <a:spcPct val="150000"/>
              </a:lnSpc>
              <a:spcAft>
                <a:spcPts val="0"/>
              </a:spcAft>
              <a:buClrTx/>
              <a:buSzTx/>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break;</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终止循环。</a:t>
            </a:r>
          </a:p>
          <a:p>
            <a:pPr marL="800100" lvl="2" indent="-342900" algn="l" defTabSz="457200" hangingPunct="0">
              <a:lnSpc>
                <a:spcPct val="150000"/>
              </a:lnSpc>
              <a:spcAft>
                <a:spcPts val="0"/>
              </a:spcAft>
              <a:buClrTx/>
              <a:buSzTx/>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return;</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终止方法。</a:t>
            </a: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跳转语句</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867410"/>
            <a:ext cx="9582785" cy="31934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请设计一个程序，不断的从键盘上接收一个正整数或者负整数，要求计算所有正整数的和，如果接收到0，则程序退出。</a:t>
            </a:r>
          </a:p>
          <a:p>
            <a:pPr marL="0" lvl="1" indent="-342900" algn="l" defTabSz="457200" hangingPunct="0">
              <a:lnSpc>
                <a:spcPct val="150000"/>
              </a:lnSpc>
              <a:spcAft>
                <a:spcPts val="0"/>
              </a:spcAft>
              <a:buFont typeface="+mj-ea"/>
              <a:buAutoNum type="circleNumDbPlain" startAt="2"/>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请编写一个程序，打印1~100所有的奇数，但是跳过所有以数字 3 结尾的数字。</a:t>
            </a:r>
          </a:p>
          <a:p>
            <a:pPr marL="0" lvl="1" indent="-342900" algn="l" defTabSz="457200" hangingPunct="0">
              <a:lnSpc>
                <a:spcPct val="150000"/>
              </a:lnSpc>
              <a:spcAft>
                <a:spcPts val="0"/>
              </a:spcAft>
              <a:buFont typeface="+mj-ea"/>
              <a:buAutoNum type="circleNumDbPlain" startAt="2"/>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韩信点兵，三人一组余两人，五人一组余三人，七人一组余四人，请问最少需要多少士兵</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10</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控制语句</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跳转语句</a:t>
            </a:r>
            <a:endPar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endParaRP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1160780"/>
            <a:ext cx="9582785" cy="204216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方法是什么，有什么用：</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Method</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）是一段可以被重复利用的代码片段。</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一个方法一般都是一个独立的功能。</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语言中叫做函数（</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Function</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934720"/>
            <a:ext cx="9582785" cy="550291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400" b="1"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方法的定义和调用：</a:t>
            </a:r>
            <a:endPar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语法格式：</a:t>
            </a:r>
          </a:p>
          <a:p>
            <a:pPr marL="0" indent="0" algn="l" defTabSz="457200" hangingPunct="0">
              <a:lnSpc>
                <a:spcPct val="150000"/>
              </a:lnSpc>
              <a:spcAft>
                <a:spcPts val="0"/>
              </a:spcAft>
              <a:buFont typeface="+mj-ea"/>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[修饰符列表] 返回值类型 方法名(形式参数列表){</a:t>
            </a:r>
          </a:p>
          <a:p>
            <a:pPr marL="0" indent="0" algn="l" defTabSz="457200" hangingPunct="0">
              <a:lnSpc>
                <a:spcPct val="150000"/>
              </a:lnSpc>
              <a:spcAft>
                <a:spcPts val="0"/>
              </a:spcAft>
              <a:buFont typeface="+mj-ea"/>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方法体;</a:t>
            </a:r>
          </a:p>
          <a:p>
            <a:pPr marL="0" indent="0" algn="l" defTabSz="457200" hangingPunct="0">
              <a:lnSpc>
                <a:spcPct val="150000"/>
              </a:lnSpc>
              <a:spcAft>
                <a:spcPts val="0"/>
              </a:spcAft>
              <a:buFont typeface="+mj-ea"/>
              <a:buNone/>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修饰符列表：可选项。目前固定写法public static，后面课程中再做介绍。</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返回值类型：用来指定方法返回值的数据类型（方法执行结束后的结果类型）。只要是Java合法的数据类型，都可以，例如：byte,short,int,long,float,double,boolean,char,String...。如果方法执行结束时没有返回任何数据，返回值类型也不能空着，需要写void关键字。</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方法名：只要是合法的标识符即可。但最好见名知意。方法通常反应行为，所以方法名一般为动词。</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形式参数列表：简称形参。用来接收数据。参数个数0~N个。如果有多个，使用逗号隔开。例如（int a, double b, long c）。每一个形式参数都可以看做局部变量。</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每个方法都有方法体，方法体是一对大括号。在大括号中编写Java语句。</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方法的调用：如果修饰符列表中static关键字，采用“类名.方法名(实际参数列表);”调用方法。</a:t>
            </a:r>
          </a:p>
          <a:p>
            <a:pPr marL="742950" lvl="1" indent="-285750" algn="l" defTabSz="457200" hangingPunct="0">
              <a:lnSpc>
                <a:spcPct val="150000"/>
              </a:lnSpc>
              <a:spcAft>
                <a:spcPts val="0"/>
              </a:spcAft>
              <a:buFont typeface="Wingdings" panose="05000000000000000000" charset="0"/>
              <a:buChar char="l"/>
              <a:defRPr/>
            </a:pPr>
            <a:r>
              <a:rPr lang="en-US" altLang="zh-CN" sz="1215"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调用者和被调用者在同一个类中，“类名.”可以省略。</a:t>
            </a:r>
          </a:p>
          <a:p>
            <a:pPr marL="742950" lvl="1" indent="-285750" algn="l" defTabSz="457200" hangingPunct="0">
              <a:lnSpc>
                <a:spcPct val="150000"/>
              </a:lnSpc>
              <a:spcAft>
                <a:spcPts val="0"/>
              </a:spcAft>
              <a:buFont typeface="Wingdings" panose="05000000000000000000" charset="0"/>
              <a:buChar char="l"/>
              <a:defRPr/>
            </a:pPr>
            <a:r>
              <a:rPr lang="en-US" altLang="zh-CN" sz="1215"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实际参数列表：简称实参，实参和形参要一一对应，个数对应，数据类型对应。</a:t>
            </a:r>
          </a:p>
          <a:p>
            <a:pPr marL="228600" indent="-228600" algn="l" defTabSz="457200" hangingPunct="0">
              <a:lnSpc>
                <a:spcPct val="150000"/>
              </a:lnSpc>
              <a:spcAft>
                <a:spcPts val="0"/>
              </a:spcAft>
              <a:buFont typeface="+mj-ea"/>
              <a:buAutoNum type="circleNumDbPlain"/>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调用方法，如果方法执行结束后有返回值，可以采用变量接收该返回值。当然，也可以选择不接收。</a:t>
            </a:r>
          </a:p>
          <a:p>
            <a:pPr marL="342900" indent="-342900" algn="l" defTabSz="457200" hangingPunct="0">
              <a:lnSpc>
                <a:spcPct val="150000"/>
              </a:lnSpc>
              <a:spcAft>
                <a:spcPts val="0"/>
              </a:spcAft>
              <a:buFont typeface="+mj-ea"/>
              <a:buAutoNum type="circleNumDbPlain"/>
              <a:defRPr/>
            </a:pPr>
            <a:endPar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84275" y="801370"/>
            <a:ext cx="9582785" cy="242506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方法执行时的内存变化：</a:t>
            </a:r>
            <a:endPar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方法只定义不调用是不会分配内存的。只是方法的字节码指令存储在元空间中。</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方法调用时会给该方法在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JVM</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的栈内存中分配空间，此时发生压栈动作。这个方法的空间被称为栈帧。</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栈帧中主要包括：局部变量表，操作数栈等。</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方法执行结束时，该栈帧弹栈，方法内存空间释放。</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2" name="图片 1" descr="方法执行时的内存图"/>
          <p:cNvPicPr>
            <a:picLocks noChangeAspect="1"/>
          </p:cNvPicPr>
          <p:nvPr/>
        </p:nvPicPr>
        <p:blipFill>
          <a:blip r:embed="rId4"/>
          <a:stretch>
            <a:fillRect/>
          </a:stretch>
        </p:blipFill>
        <p:spPr>
          <a:xfrm>
            <a:off x="2002155" y="3068320"/>
            <a:ext cx="7324725" cy="32791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1042670"/>
            <a:ext cx="9582785" cy="54914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方法重载（</a:t>
            </a: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overload</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）：编译阶段的一种机制（静态多态）</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什么情况下构成方法重载？</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在同一个类中</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方法名相同</a:t>
            </a:r>
          </a:p>
          <a:p>
            <a:pPr marL="800100" lvl="1"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参数列表不同</a:t>
            </a:r>
          </a:p>
          <a:p>
            <a:pPr marL="1257300" lvl="2" indent="-342900" algn="l" defTabSz="457200" hangingPunct="0">
              <a:lnSpc>
                <a:spcPct val="150000"/>
              </a:lnSpc>
              <a:spcAft>
                <a:spcPts val="0"/>
              </a:spcAft>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类型不同算不同</a:t>
            </a:r>
          </a:p>
          <a:p>
            <a:pPr marL="1257300" lvl="2" indent="-342900" algn="l" defTabSz="457200" hangingPunct="0">
              <a:lnSpc>
                <a:spcPct val="150000"/>
              </a:lnSpc>
              <a:spcAft>
                <a:spcPts val="0"/>
              </a:spcAft>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顺序不同算不同</a:t>
            </a:r>
          </a:p>
          <a:p>
            <a:pPr marL="1257300" lvl="2" indent="-342900" algn="l" defTabSz="457200" hangingPunct="0">
              <a:lnSpc>
                <a:spcPct val="150000"/>
              </a:lnSpc>
              <a:spcAft>
                <a:spcPts val="0"/>
              </a:spcAft>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个数不同算不同</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什么时候我们考虑使用方法重载？</a:t>
            </a:r>
          </a:p>
          <a:p>
            <a:pPr marL="800100" lvl="1" indent="-342900" algn="l" defTabSz="457200" hangingPunct="0">
              <a:lnSpc>
                <a:spcPct val="150000"/>
              </a:lnSpc>
              <a:spcAft>
                <a:spcPts val="0"/>
              </a:spcAft>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在同一个类中，如果功能相似，建议使用方法重载。</a:t>
            </a:r>
          </a:p>
          <a:p>
            <a:pPr marL="342900" lvl="1" indent="-342900" algn="l" defTabSz="457200" hangingPunct="0">
              <a:lnSpc>
                <a:spcPct val="150000"/>
              </a:lnSpc>
              <a:spcAft>
                <a:spcPts val="0"/>
              </a:spcAft>
              <a:buClrTx/>
              <a:buSzTx/>
              <a:buFont typeface="+mj-ea"/>
              <a:buAutoNum type="circleNumDbPlain" startAt="3"/>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方法重载好处？</a:t>
            </a:r>
          </a:p>
          <a:p>
            <a:pPr marL="800100" lvl="2" indent="-342900" algn="l" defTabSz="457200" hangingPunct="0">
              <a:lnSpc>
                <a:spcPct val="150000"/>
              </a:lnSpc>
              <a:spcAft>
                <a:spcPts val="0"/>
              </a:spcAft>
              <a:buClrTx/>
              <a:buSzTx/>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简化代码调用。</a:t>
            </a:r>
          </a:p>
          <a:p>
            <a:pPr marL="800100" lvl="2" indent="-342900" algn="l" defTabSz="457200" hangingPunct="0">
              <a:lnSpc>
                <a:spcPct val="150000"/>
              </a:lnSpc>
              <a:spcAft>
                <a:spcPts val="0"/>
              </a:spcAft>
              <a:buClrTx/>
              <a:buSzTx/>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更易维护。</a:t>
            </a:r>
          </a:p>
          <a:p>
            <a:pPr marL="800100" lvl="2" indent="-342900" algn="l" defTabSz="457200" hangingPunct="0">
              <a:lnSpc>
                <a:spcPct val="150000"/>
              </a:lnSpc>
              <a:spcAft>
                <a:spcPts val="0"/>
              </a:spcAft>
              <a:buClrTx/>
              <a:buSzTx/>
              <a:buFont typeface="Wingdings" panose="05000000000000000000" charset="0"/>
              <a:buChar char="l"/>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代码美观。</a:t>
            </a:r>
          </a:p>
          <a:p>
            <a:pPr marL="342900" indent="-342900" algn="l" defTabSz="457200" hangingPunct="0">
              <a:lnSpc>
                <a:spcPct val="150000"/>
              </a:lnSpc>
              <a:spcAft>
                <a:spcPts val="0"/>
              </a:spcAft>
              <a:buFont typeface="+mj-ea"/>
              <a:buAutoNum type="circleNumDbPlain"/>
              <a:defRPr/>
            </a:pPr>
            <a:endPar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867410"/>
            <a:ext cx="9582785" cy="583120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什么是方法的递归调用？</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递归时，内存是如何变化的？</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递归使用注意事项？</a:t>
            </a:r>
          </a:p>
          <a:p>
            <a:pPr marL="800100" lvl="1" indent="-342900" algn="l" defTabSz="457200" hangingPunct="0">
              <a:lnSpc>
                <a:spcPct val="150000"/>
              </a:lnSpc>
              <a:spcAft>
                <a:spcPts val="0"/>
              </a:spcAft>
              <a:buFont typeface="+mj-ea"/>
              <a:buAutoNum type="circleNumDbPlain"/>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递归必须要有结束条件。</a:t>
            </a:r>
          </a:p>
          <a:p>
            <a:pPr marL="800100" lvl="1" indent="-342900" algn="l" defTabSz="457200" hangingPunct="0">
              <a:lnSpc>
                <a:spcPct val="150000"/>
              </a:lnSpc>
              <a:spcAft>
                <a:spcPts val="0"/>
              </a:spcAft>
              <a:buFont typeface="+mj-ea"/>
              <a:buAutoNum type="circleNumDbPlain"/>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递归和循环都能完成的话，优先选择循环。（递归更耗费内存。）</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递归有结束条件，就一定不会栈内存溢出吗？</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实际开发中，使用递归时，发生栈内存溢出，你该怎么办？</a:t>
            </a:r>
          </a:p>
          <a:p>
            <a:pPr marL="0" indent="0" algn="l" defTabSz="457200" hangingPunct="0">
              <a:lnSpc>
                <a:spcPct val="150000"/>
              </a:lnSpc>
              <a:spcAft>
                <a:spcPts val="0"/>
              </a:spcAft>
              <a:buFont typeface="+mj-ea"/>
              <a:buNone/>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练一练：</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使用递归计算</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n</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的阶乘。</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假如有一对兔子，从出生后第3个月起每个月都生一对兔子，小兔子长到第三个月后每个月又生一对兔子，假如兔子都不死，请问第n个月后的兔子有多少对</a:t>
            </a: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11</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方法</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pic>
        <p:nvPicPr>
          <p:cNvPr id="3" name="图片 2" descr="递归调用内存图"/>
          <p:cNvPicPr>
            <a:picLocks noChangeAspect="1"/>
          </p:cNvPicPr>
          <p:nvPr/>
        </p:nvPicPr>
        <p:blipFill>
          <a:blip r:embed="rId4"/>
          <a:stretch>
            <a:fillRect/>
          </a:stretch>
        </p:blipFill>
        <p:spPr>
          <a:xfrm>
            <a:off x="8030210" y="1438275"/>
            <a:ext cx="2289175" cy="14452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992505"/>
            <a:ext cx="9582785" cy="408749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package</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包机制：</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包机制作用：便于代码管理。</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怎么定义包：在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源码第一行编写</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package </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语句。注意：</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package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语句只能出现在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代码第一行。</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包名命名规范中要求是全部小写。</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包名命名规范：公司域名倒序</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 </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项目名</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 </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模块名</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 </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功能名。例如：</a:t>
            </a:r>
          </a:p>
          <a:p>
            <a:pPr marL="800100" lvl="1" indent="-342900" algn="l" defTabSz="457200" hangingPunct="0">
              <a:lnSpc>
                <a:spcPct val="150000"/>
              </a:lnSpc>
              <a:spcAft>
                <a:spcPts val="0"/>
              </a:spcAft>
              <a:buFont typeface="+mj-ea"/>
              <a:buAutoNum type="circleNumDbPlain"/>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com.powernode.oa.empgt.service</a:t>
            </a:r>
            <a:endPar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如果带包编译：</a:t>
            </a:r>
          </a:p>
          <a:p>
            <a:pPr marL="800100" lvl="1" indent="-342900" algn="l" defTabSz="457200" hangingPunct="0">
              <a:lnSpc>
                <a:spcPct val="150000"/>
              </a:lnSpc>
              <a:spcAft>
                <a:spcPts val="0"/>
              </a:spcAft>
              <a:buFont typeface="+mj-ea"/>
              <a:buAutoNum type="circleNumDbPlain"/>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javac -d </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编译后的存放目录</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java</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源文件路径</a:t>
            </a:r>
          </a:p>
          <a:p>
            <a:pPr marL="342900" lvl="1" indent="-342900" algn="l" defTabSz="457200" hangingPunct="0">
              <a:lnSpc>
                <a:spcPct val="150000"/>
              </a:lnSpc>
              <a:spcAft>
                <a:spcPts val="0"/>
              </a:spcAft>
              <a:buClrTx/>
              <a:buSzTx/>
              <a:buFont typeface="+mj-ea"/>
              <a:buAutoNum type="circleNumDbPlain" startAt="6"/>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有了包机制后，完整类名是包含包名的，例如类名是：com.powernode.javase.chapter02.PackageTest</a:t>
            </a: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12package</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和</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import</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62050" y="934720"/>
            <a:ext cx="9582785" cy="356044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语句用来引入其他类。</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类中使用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类和</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类不在同一个包下时，就需要在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类中使用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引入</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B</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类。</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java.lang</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包下的不需要手动引入。</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语句只能出现在</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package</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语句之下，</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class</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定义之前。</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语句可以编写多个。</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语句可以模糊导入：</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java.util.*;</a:t>
            </a: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静态导入：</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import static java.lang.System.*;</a:t>
            </a:r>
          </a:p>
          <a:p>
            <a:pPr marL="342900" indent="-342900" algn="l" defTabSz="457200" hangingPunct="0">
              <a:lnSpc>
                <a:spcPct val="150000"/>
              </a:lnSpc>
              <a:spcAft>
                <a:spcPts val="0"/>
              </a:spcAft>
              <a:buFont typeface="+mj-ea"/>
              <a:buAutoNum type="circleNumDbPlain"/>
              <a:defRPr/>
            </a:pP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12package</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和</a:t>
            </a: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import</a:t>
            </a:r>
          </a:p>
        </p:txBody>
      </p:sp>
      <p:pic>
        <p:nvPicPr>
          <p:cNvPr id="10" name="图片 9" descr="5d0495981e06a4beefc1a7ac3c41024d"/>
          <p:cNvPicPr>
            <a:picLocks noChangeAspect="1"/>
          </p:cNvPicPr>
          <p:nvPr>
            <p:custDataLst>
              <p:tags r:id="rId1"/>
            </p:custDataLst>
          </p:nvPr>
        </p:nvPicPr>
        <p:blipFill>
          <a:blip r:embed="rId3"/>
          <a:stretch>
            <a:fillRect/>
          </a:stretch>
        </p:blipFill>
        <p:spPr>
          <a:xfrm>
            <a:off x="8842375" y="0"/>
            <a:ext cx="4695190" cy="93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13IntelliJ IDEA</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工具的使用</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62050" y="934720"/>
            <a:ext cx="9582785" cy="339598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en-US" altLang="zh-CN"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200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工具的使用：</a:t>
            </a:r>
            <a:endPar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342900" indent="-342900" algn="l" defTabSz="457200" hangingPunct="0">
              <a:lnSpc>
                <a:spcPct val="150000"/>
              </a:lnSpc>
              <a:spcAft>
                <a:spcPts val="0"/>
              </a:spcAft>
              <a:buFont typeface="+mj-ea"/>
              <a:buAutoNum type="circleNumDbPlain"/>
              <a:defRPr/>
            </a:pP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工具的安装。</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如何新建空工程。</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如何设置</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JDK</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以及编译器版本。</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如何新建模块。</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如何新建包，新建类。</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如何运行</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Java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程序。</a:t>
            </a:r>
          </a:p>
          <a:p>
            <a:pPr marL="342900" indent="-342900" algn="l" defTabSz="457200" hangingPunct="0">
              <a:lnSpc>
                <a:spcPct val="150000"/>
              </a:lnSpc>
              <a:spcAft>
                <a:spcPts val="0"/>
              </a:spcAft>
              <a:buFont typeface="+mj-ea"/>
              <a:buAutoNum type="circleNumDbPlain"/>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如何设置字体大小。</a:t>
            </a: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13IntelliJ IDEA</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工具的使用</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62050" y="934720"/>
            <a:ext cx="9582785" cy="550862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Font typeface="+mj-ea"/>
              <a:buNone/>
              <a:defRPr/>
            </a:pP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常用的</a:t>
            </a:r>
            <a:r>
              <a:rPr lang="en-US" altLang="zh-CN"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16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快捷操作</a:t>
            </a:r>
          </a:p>
          <a:p>
            <a:pPr marL="342900"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alt+insert</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（新建</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新增任何东西）</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退出任何窗口</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ESC</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编写源码的窗口最大化</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ctrl+shift+F12</a:t>
            </a:r>
          </a:p>
          <a:p>
            <a:pPr marL="342900"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psvm</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生成</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main</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快速生成输出语句</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sout</a:t>
            </a:r>
          </a:p>
          <a:p>
            <a:pPr marL="342900" indent="-342900" algn="l" defTabSz="457200" hangingPunct="0">
              <a:lnSpc>
                <a:spcPct val="150000"/>
              </a:lnSpc>
              <a:spcAft>
                <a:spcPts val="0"/>
              </a:spcAft>
              <a:buFont typeface="+mj-lt"/>
              <a:buAutoNum type="arabicPeriod"/>
              <a:defRPr/>
            </a:pP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会自动保存，自动编译</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打开</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Project</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窗口</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alt+1</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查找某个类：敲两次</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shift</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，选择</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classes</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，输入类名</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切换选项卡：</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左右方向键</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自动生成变量</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.var</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删除一行</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ctrl+y</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复制一行</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ctrl+d</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在一个类当中查找方法</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ctrl+F12</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生成</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循环：</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fori</a:t>
            </a:r>
          </a:p>
          <a:p>
            <a:pPr marL="342900" indent="-342900" algn="l" defTabSz="457200" hangingPunct="0">
              <a:lnSpc>
                <a:spcPct val="150000"/>
              </a:lnSpc>
              <a:spcAft>
                <a:spcPts val="0"/>
              </a:spcAft>
              <a:buFont typeface="+mj-lt"/>
              <a:buAutoNum type="arabicPeriod"/>
              <a:defRPr/>
            </a:pP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自动生成</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a:t>
            </a:r>
            <a:r>
              <a:rPr lang="en-US" altLang="zh-CN" sz="14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en-US" altLang="zh-CN"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13IntelliJ IDEA</a:t>
            </a: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工具的使用</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162050" y="934720"/>
            <a:ext cx="9582785" cy="5454015"/>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Font typeface="+mj-ea"/>
              <a:buNone/>
              <a:defRPr/>
            </a:pPr>
            <a:r>
              <a:rPr lang="zh-CN" altLang="en-US" sz="20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常用的</a:t>
            </a:r>
            <a:r>
              <a:rPr lang="en-US" altLang="zh-CN" sz="20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20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快捷操作</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单行注释：</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多行注释：</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shift + /</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查看源码：按</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别松手，鼠标移动到对应的类名下方，出现下划线，点击过去，可以查看类源码。</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多行编辑：按</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别松手，鼠标拖动多行，完成多行编辑。</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怎么快速生成创建对象语句：类名</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.new.var</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怎么快速生成</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语句：布尔类型值</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.if</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怎么快速生成</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setter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和</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getter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方法：</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insert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，然后选择</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setter and getter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生成。</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怎么快速生成构造方法：</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insert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，然后选择</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Constructor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在</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IDEA</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当中如何自动纠错：将光标移动到错误的位置，按</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atl + enter</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。会有提示，根据提示进行纠错。</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移动代码到上一行：</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shift + </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上</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下方向</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怎么快速重写方法？</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alt + insert</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，选择</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Override....</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怎么快速重写方法？</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o</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快速向下转型，并同时生成变量名：变量名</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.castvar</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快速查看方法的参数：</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p</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返回上一步：</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alt + </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左方向键。</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 </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下一步：</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alt + </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右方向键。</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代码格式化：</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alt + L</a:t>
            </a: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查看继承结构：</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H</a:t>
            </a:r>
          </a:p>
          <a:p>
            <a:pPr marL="342900" indent="-342900" algn="l" defTabSz="457200" hangingPunct="0">
              <a:lnSpc>
                <a:spcPct val="150000"/>
              </a:lnSpc>
              <a:spcAft>
                <a:spcPts val="0"/>
              </a:spcAft>
              <a:buFont typeface="+mj-lt"/>
              <a:buAutoNum type="arabicPeriod"/>
              <a:defRPr/>
            </a:pPr>
            <a:r>
              <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自动代码包裹：</a:t>
            </a:r>
            <a:r>
              <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ctrl + alt + t</a:t>
            </a:r>
            <a:endParaRPr lang="zh-CN" altLang="en-US"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endParaRPr lang="en-US" altLang="zh-CN" sz="120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95935" y="298450"/>
            <a:ext cx="464820" cy="387350"/>
            <a:chOff x="541" y="471"/>
            <a:chExt cx="979" cy="852"/>
          </a:xfrm>
        </p:grpSpPr>
        <p:sp>
          <p:nvSpPr>
            <p:cNvPr id="22" name="圆角矩形 21"/>
            <p:cNvSpPr/>
            <p:nvPr/>
          </p:nvSpPr>
          <p:spPr>
            <a:xfrm rot="2700000">
              <a:off x="668" y="471"/>
              <a:ext cx="852" cy="852"/>
            </a:xfrm>
            <a:prstGeom prst="roundRect">
              <a:avLst/>
            </a:prstGeom>
            <a:solidFill>
              <a:srgbClr val="ED7D31"/>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3" name="圆角矩形 22"/>
            <p:cNvSpPr/>
            <p:nvPr/>
          </p:nvSpPr>
          <p:spPr>
            <a:xfrm rot="2700000">
              <a:off x="541" y="471"/>
              <a:ext cx="852" cy="852"/>
            </a:xfrm>
            <a:prstGeom prst="roundRect">
              <a:avLst/>
            </a:prstGeom>
            <a:solidFill>
              <a:srgbClr val="01255A"/>
            </a:solidFill>
            <a:ln>
              <a:noFill/>
            </a:ln>
            <a:effectLst>
              <a:outerShdw blurRad="165100" sx="102000" sy="102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黑体 CN Medium" panose="020B0600000000000000" pitchFamily="34" charset="-122"/>
                <a:ea typeface="思源黑体 CN Medium" panose="020B0600000000000000" pitchFamily="34" charset="-122"/>
                <a:cs typeface="+mn-ea"/>
              </a:endParaRPr>
            </a:p>
          </p:txBody>
        </p:sp>
        <p:sp>
          <p:nvSpPr>
            <p:cNvPr id="24" name="图形 2"/>
            <p:cNvSpPr/>
            <p:nvPr/>
          </p:nvSpPr>
          <p:spPr>
            <a:xfrm>
              <a:off x="797" y="690"/>
              <a:ext cx="342" cy="414"/>
            </a:xfrm>
            <a:custGeom>
              <a:avLst/>
              <a:gdLst>
                <a:gd name="connsiteX0" fmla="*/ 394463 w 617210"/>
                <a:gd name="connsiteY0" fmla="*/ 131115 h 747580"/>
                <a:gd name="connsiteX1" fmla="*/ 175068 w 617210"/>
                <a:gd name="connsiteY1" fmla="*/ 131115 h 747580"/>
                <a:gd name="connsiteX2" fmla="*/ 175068 w 617210"/>
                <a:gd name="connsiteY2" fmla="*/ 43581 h 747580"/>
                <a:gd name="connsiteX3" fmla="*/ 219395 w 617210"/>
                <a:gd name="connsiteY3" fmla="*/ 43581 h 747580"/>
                <a:gd name="connsiteX4" fmla="*/ 232059 w 617210"/>
                <a:gd name="connsiteY4" fmla="*/ 12665 h 747580"/>
                <a:gd name="connsiteX5" fmla="*/ 262975 w 617210"/>
                <a:gd name="connsiteY5" fmla="*/ 0 h 747580"/>
                <a:gd name="connsiteX6" fmla="*/ 307301 w 617210"/>
                <a:gd name="connsiteY6" fmla="*/ 0 h 747580"/>
                <a:gd name="connsiteX7" fmla="*/ 338217 w 617210"/>
                <a:gd name="connsiteY7" fmla="*/ 12665 h 747580"/>
                <a:gd name="connsiteX8" fmla="*/ 350882 w 617210"/>
                <a:gd name="connsiteY8" fmla="*/ 43581 h 747580"/>
                <a:gd name="connsiteX9" fmla="*/ 395208 w 617210"/>
                <a:gd name="connsiteY9" fmla="*/ 43581 h 747580"/>
                <a:gd name="connsiteX10" fmla="*/ 394463 w 617210"/>
                <a:gd name="connsiteY10" fmla="*/ 131115 h 747580"/>
                <a:gd name="connsiteX11" fmla="*/ 284952 w 617210"/>
                <a:gd name="connsiteY11" fmla="*/ 91632 h 747580"/>
                <a:gd name="connsiteX12" fmla="*/ 304322 w 617210"/>
                <a:gd name="connsiteY12" fmla="*/ 83437 h 747580"/>
                <a:gd name="connsiteX13" fmla="*/ 312516 w 617210"/>
                <a:gd name="connsiteY13" fmla="*/ 64068 h 747580"/>
                <a:gd name="connsiteX14" fmla="*/ 304322 w 617210"/>
                <a:gd name="connsiteY14" fmla="*/ 44326 h 747580"/>
                <a:gd name="connsiteX15" fmla="*/ 284952 w 617210"/>
                <a:gd name="connsiteY15" fmla="*/ 36504 h 747580"/>
                <a:gd name="connsiteX16" fmla="*/ 265210 w 617210"/>
                <a:gd name="connsiteY16" fmla="*/ 44326 h 747580"/>
                <a:gd name="connsiteX17" fmla="*/ 257388 w 617210"/>
                <a:gd name="connsiteY17" fmla="*/ 64068 h 747580"/>
                <a:gd name="connsiteX18" fmla="*/ 265210 w 617210"/>
                <a:gd name="connsiteY18" fmla="*/ 83437 h 747580"/>
                <a:gd name="connsiteX19" fmla="*/ 284952 w 617210"/>
                <a:gd name="connsiteY19" fmla="*/ 91632 h 747580"/>
                <a:gd name="connsiteX20" fmla="*/ 260368 w 617210"/>
                <a:gd name="connsiteY20" fmla="*/ 569904 h 747580"/>
                <a:gd name="connsiteX21" fmla="*/ 259995 w 617210"/>
                <a:gd name="connsiteY21" fmla="*/ 579588 h 747580"/>
                <a:gd name="connsiteX22" fmla="*/ 259623 w 617210"/>
                <a:gd name="connsiteY22" fmla="*/ 590018 h 747580"/>
                <a:gd name="connsiteX23" fmla="*/ 268563 w 617210"/>
                <a:gd name="connsiteY23" fmla="*/ 649989 h 747580"/>
                <a:gd name="connsiteX24" fmla="*/ 294637 w 617210"/>
                <a:gd name="connsiteY24" fmla="*/ 702137 h 747580"/>
                <a:gd name="connsiteX25" fmla="*/ 90141 w 617210"/>
                <a:gd name="connsiteY25" fmla="*/ 702137 h 747580"/>
                <a:gd name="connsiteX26" fmla="*/ 61088 w 617210"/>
                <a:gd name="connsiteY26" fmla="*/ 694314 h 747580"/>
                <a:gd name="connsiteX27" fmla="*/ 31661 w 617210"/>
                <a:gd name="connsiteY27" fmla="*/ 673828 h 747580"/>
                <a:gd name="connsiteX28" fmla="*/ 8940 w 617210"/>
                <a:gd name="connsiteY28" fmla="*/ 645146 h 747580"/>
                <a:gd name="connsiteX29" fmla="*/ 0 w 617210"/>
                <a:gd name="connsiteY29" fmla="*/ 611623 h 747580"/>
                <a:gd name="connsiteX30" fmla="*/ 0 w 617210"/>
                <a:gd name="connsiteY30" fmla="*/ 178048 h 747580"/>
                <a:gd name="connsiteX31" fmla="*/ 7077 w 617210"/>
                <a:gd name="connsiteY31" fmla="*/ 147505 h 747580"/>
                <a:gd name="connsiteX32" fmla="*/ 25329 w 617210"/>
                <a:gd name="connsiteY32" fmla="*/ 118451 h 747580"/>
                <a:gd name="connsiteX33" fmla="*/ 51403 w 617210"/>
                <a:gd name="connsiteY33" fmla="*/ 96474 h 747580"/>
                <a:gd name="connsiteX34" fmla="*/ 82320 w 617210"/>
                <a:gd name="connsiteY34" fmla="*/ 87534 h 747580"/>
                <a:gd name="connsiteX35" fmla="*/ 132233 w 617210"/>
                <a:gd name="connsiteY35" fmla="*/ 87534 h 747580"/>
                <a:gd name="connsiteX36" fmla="*/ 132233 w 617210"/>
                <a:gd name="connsiteY36" fmla="*/ 175069 h 747580"/>
                <a:gd name="connsiteX37" fmla="*/ 438417 w 617210"/>
                <a:gd name="connsiteY37" fmla="*/ 175069 h 747580"/>
                <a:gd name="connsiteX38" fmla="*/ 438417 w 617210"/>
                <a:gd name="connsiteY38" fmla="*/ 87534 h 747580"/>
                <a:gd name="connsiteX39" fmla="*/ 481997 w 617210"/>
                <a:gd name="connsiteY39" fmla="*/ 87534 h 747580"/>
                <a:gd name="connsiteX40" fmla="*/ 514031 w 617210"/>
                <a:gd name="connsiteY40" fmla="*/ 94611 h 747580"/>
                <a:gd name="connsiteX41" fmla="*/ 542340 w 617210"/>
                <a:gd name="connsiteY41" fmla="*/ 113608 h 747580"/>
                <a:gd name="connsiteX42" fmla="*/ 563200 w 617210"/>
                <a:gd name="connsiteY42" fmla="*/ 142290 h 747580"/>
                <a:gd name="connsiteX43" fmla="*/ 571394 w 617210"/>
                <a:gd name="connsiteY43" fmla="*/ 178048 h 747580"/>
                <a:gd name="connsiteX44" fmla="*/ 571394 w 617210"/>
                <a:gd name="connsiteY44" fmla="*/ 426124 h 747580"/>
                <a:gd name="connsiteX45" fmla="*/ 518873 w 617210"/>
                <a:gd name="connsiteY45" fmla="*/ 400796 h 747580"/>
                <a:gd name="connsiteX46" fmla="*/ 459276 w 617210"/>
                <a:gd name="connsiteY46" fmla="*/ 391855 h 747580"/>
                <a:gd name="connsiteX47" fmla="*/ 454433 w 617210"/>
                <a:gd name="connsiteY47" fmla="*/ 391855 h 747580"/>
                <a:gd name="connsiteX48" fmla="*/ 475293 w 617210"/>
                <a:gd name="connsiteY48" fmla="*/ 375839 h 747580"/>
                <a:gd name="connsiteX49" fmla="*/ 483487 w 617210"/>
                <a:gd name="connsiteY49" fmla="*/ 350510 h 747580"/>
                <a:gd name="connsiteX50" fmla="*/ 470450 w 617210"/>
                <a:gd name="connsiteY50" fmla="*/ 319593 h 747580"/>
                <a:gd name="connsiteX51" fmla="*/ 439161 w 617210"/>
                <a:gd name="connsiteY51" fmla="*/ 306929 h 747580"/>
                <a:gd name="connsiteX52" fmla="*/ 131488 w 617210"/>
                <a:gd name="connsiteY52" fmla="*/ 306929 h 747580"/>
                <a:gd name="connsiteX53" fmla="*/ 100199 w 617210"/>
                <a:gd name="connsiteY53" fmla="*/ 319593 h 747580"/>
                <a:gd name="connsiteX54" fmla="*/ 87162 w 617210"/>
                <a:gd name="connsiteY54" fmla="*/ 350510 h 747580"/>
                <a:gd name="connsiteX55" fmla="*/ 100199 w 617210"/>
                <a:gd name="connsiteY55" fmla="*/ 381799 h 747580"/>
                <a:gd name="connsiteX56" fmla="*/ 131488 w 617210"/>
                <a:gd name="connsiteY56" fmla="*/ 394835 h 747580"/>
                <a:gd name="connsiteX57" fmla="*/ 425007 w 617210"/>
                <a:gd name="connsiteY57" fmla="*/ 394835 h 747580"/>
                <a:gd name="connsiteX58" fmla="*/ 348647 w 617210"/>
                <a:gd name="connsiteY58" fmla="*/ 424634 h 747580"/>
                <a:gd name="connsiteX59" fmla="*/ 292030 w 617210"/>
                <a:gd name="connsiteY59" fmla="*/ 482369 h 747580"/>
                <a:gd name="connsiteX60" fmla="*/ 131488 w 617210"/>
                <a:gd name="connsiteY60" fmla="*/ 482369 h 747580"/>
                <a:gd name="connsiteX61" fmla="*/ 100199 w 617210"/>
                <a:gd name="connsiteY61" fmla="*/ 495035 h 747580"/>
                <a:gd name="connsiteX62" fmla="*/ 87162 w 617210"/>
                <a:gd name="connsiteY62" fmla="*/ 525951 h 747580"/>
                <a:gd name="connsiteX63" fmla="*/ 100199 w 617210"/>
                <a:gd name="connsiteY63" fmla="*/ 557240 h 747580"/>
                <a:gd name="connsiteX64" fmla="*/ 131488 w 617210"/>
                <a:gd name="connsiteY64" fmla="*/ 570277 h 747580"/>
                <a:gd name="connsiteX65" fmla="*/ 260368 w 617210"/>
                <a:gd name="connsiteY65" fmla="*/ 569904 h 747580"/>
                <a:gd name="connsiteX66" fmla="*/ 462628 w 617210"/>
                <a:gd name="connsiteY66" fmla="*/ 605290 h 747580"/>
                <a:gd name="connsiteX67" fmla="*/ 433946 w 617210"/>
                <a:gd name="connsiteY67" fmla="*/ 633972 h 747580"/>
                <a:gd name="connsiteX68" fmla="*/ 433946 w 617210"/>
                <a:gd name="connsiteY68" fmla="*/ 651851 h 747580"/>
                <a:gd name="connsiteX69" fmla="*/ 491682 w 617210"/>
                <a:gd name="connsiteY69" fmla="*/ 651851 h 747580"/>
                <a:gd name="connsiteX70" fmla="*/ 491682 w 617210"/>
                <a:gd name="connsiteY70" fmla="*/ 633972 h 747580"/>
                <a:gd name="connsiteX71" fmla="*/ 462628 w 617210"/>
                <a:gd name="connsiteY71" fmla="*/ 605290 h 747580"/>
                <a:gd name="connsiteX72" fmla="*/ 433946 w 617210"/>
                <a:gd name="connsiteY72" fmla="*/ 552770 h 747580"/>
                <a:gd name="connsiteX73" fmla="*/ 462628 w 617210"/>
                <a:gd name="connsiteY73" fmla="*/ 581451 h 747580"/>
                <a:gd name="connsiteX74" fmla="*/ 491309 w 617210"/>
                <a:gd name="connsiteY74" fmla="*/ 552770 h 747580"/>
                <a:gd name="connsiteX75" fmla="*/ 491309 w 617210"/>
                <a:gd name="connsiteY75" fmla="*/ 534891 h 747580"/>
                <a:gd name="connsiteX76" fmla="*/ 433574 w 617210"/>
                <a:gd name="connsiteY76" fmla="*/ 534891 h 747580"/>
                <a:gd name="connsiteX77" fmla="*/ 433574 w 617210"/>
                <a:gd name="connsiteY77" fmla="*/ 552770 h 747580"/>
                <a:gd name="connsiteX78" fmla="*/ 604918 w 617210"/>
                <a:gd name="connsiteY78" fmla="*/ 533773 h 747580"/>
                <a:gd name="connsiteX79" fmla="*/ 571766 w 617210"/>
                <a:gd name="connsiteY79" fmla="*/ 484605 h 747580"/>
                <a:gd name="connsiteX80" fmla="*/ 522598 w 617210"/>
                <a:gd name="connsiteY80" fmla="*/ 451454 h 747580"/>
                <a:gd name="connsiteX81" fmla="*/ 463001 w 617210"/>
                <a:gd name="connsiteY81" fmla="*/ 439162 h 747580"/>
                <a:gd name="connsiteX82" fmla="*/ 402658 w 617210"/>
                <a:gd name="connsiteY82" fmla="*/ 451454 h 747580"/>
                <a:gd name="connsiteX83" fmla="*/ 353490 w 617210"/>
                <a:gd name="connsiteY83" fmla="*/ 484605 h 747580"/>
                <a:gd name="connsiteX84" fmla="*/ 320338 w 617210"/>
                <a:gd name="connsiteY84" fmla="*/ 533773 h 747580"/>
                <a:gd name="connsiteX85" fmla="*/ 308046 w 617210"/>
                <a:gd name="connsiteY85" fmla="*/ 593370 h 747580"/>
                <a:gd name="connsiteX86" fmla="*/ 320338 w 617210"/>
                <a:gd name="connsiteY86" fmla="*/ 653713 h 747580"/>
                <a:gd name="connsiteX87" fmla="*/ 353490 w 617210"/>
                <a:gd name="connsiteY87" fmla="*/ 702881 h 747580"/>
                <a:gd name="connsiteX88" fmla="*/ 402658 w 617210"/>
                <a:gd name="connsiteY88" fmla="*/ 735658 h 747580"/>
                <a:gd name="connsiteX89" fmla="*/ 463001 w 617210"/>
                <a:gd name="connsiteY89" fmla="*/ 747580 h 747580"/>
                <a:gd name="connsiteX90" fmla="*/ 522598 w 617210"/>
                <a:gd name="connsiteY90" fmla="*/ 735658 h 747580"/>
                <a:gd name="connsiteX91" fmla="*/ 571766 w 617210"/>
                <a:gd name="connsiteY91" fmla="*/ 702881 h 747580"/>
                <a:gd name="connsiteX92" fmla="*/ 604918 w 617210"/>
                <a:gd name="connsiteY92" fmla="*/ 653713 h 747580"/>
                <a:gd name="connsiteX93" fmla="*/ 617210 w 617210"/>
                <a:gd name="connsiteY93" fmla="*/ 593370 h 747580"/>
                <a:gd name="connsiteX94" fmla="*/ 604918 w 617210"/>
                <a:gd name="connsiteY94" fmla="*/ 533773 h 747580"/>
                <a:gd name="connsiteX95" fmla="*/ 514776 w 617210"/>
                <a:gd name="connsiteY95" fmla="*/ 633972 h 747580"/>
                <a:gd name="connsiteX96" fmla="*/ 514776 w 617210"/>
                <a:gd name="connsiteY96" fmla="*/ 651851 h 747580"/>
                <a:gd name="connsiteX97" fmla="*/ 525951 w 617210"/>
                <a:gd name="connsiteY97" fmla="*/ 663398 h 747580"/>
                <a:gd name="connsiteX98" fmla="*/ 514403 w 617210"/>
                <a:gd name="connsiteY98" fmla="*/ 674945 h 747580"/>
                <a:gd name="connsiteX99" fmla="*/ 410852 w 617210"/>
                <a:gd name="connsiteY99" fmla="*/ 674945 h 747580"/>
                <a:gd name="connsiteX100" fmla="*/ 399305 w 617210"/>
                <a:gd name="connsiteY100" fmla="*/ 663398 h 747580"/>
                <a:gd name="connsiteX101" fmla="*/ 410480 w 617210"/>
                <a:gd name="connsiteY101" fmla="*/ 651851 h 747580"/>
                <a:gd name="connsiteX102" fmla="*/ 410480 w 617210"/>
                <a:gd name="connsiteY102" fmla="*/ 633972 h 747580"/>
                <a:gd name="connsiteX103" fmla="*/ 429849 w 617210"/>
                <a:gd name="connsiteY103" fmla="*/ 593370 h 747580"/>
                <a:gd name="connsiteX104" fmla="*/ 410480 w 617210"/>
                <a:gd name="connsiteY104" fmla="*/ 552770 h 747580"/>
                <a:gd name="connsiteX105" fmla="*/ 410480 w 617210"/>
                <a:gd name="connsiteY105" fmla="*/ 534891 h 747580"/>
                <a:gd name="connsiteX106" fmla="*/ 399305 w 617210"/>
                <a:gd name="connsiteY106" fmla="*/ 523343 h 747580"/>
                <a:gd name="connsiteX107" fmla="*/ 410852 w 617210"/>
                <a:gd name="connsiteY107" fmla="*/ 511796 h 747580"/>
                <a:gd name="connsiteX108" fmla="*/ 514403 w 617210"/>
                <a:gd name="connsiteY108" fmla="*/ 511796 h 747580"/>
                <a:gd name="connsiteX109" fmla="*/ 525951 w 617210"/>
                <a:gd name="connsiteY109" fmla="*/ 523343 h 747580"/>
                <a:gd name="connsiteX110" fmla="*/ 514776 w 617210"/>
                <a:gd name="connsiteY110" fmla="*/ 534891 h 747580"/>
                <a:gd name="connsiteX111" fmla="*/ 514776 w 617210"/>
                <a:gd name="connsiteY111" fmla="*/ 552770 h 747580"/>
                <a:gd name="connsiteX112" fmla="*/ 495407 w 617210"/>
                <a:gd name="connsiteY112" fmla="*/ 593370 h 747580"/>
                <a:gd name="connsiteX113" fmla="*/ 514776 w 617210"/>
                <a:gd name="connsiteY113" fmla="*/ 633972 h 747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17210" h="747580">
                  <a:moveTo>
                    <a:pt x="394463" y="131115"/>
                  </a:moveTo>
                  <a:lnTo>
                    <a:pt x="175068" y="131115"/>
                  </a:lnTo>
                  <a:lnTo>
                    <a:pt x="175068" y="43581"/>
                  </a:lnTo>
                  <a:lnTo>
                    <a:pt x="219395" y="43581"/>
                  </a:lnTo>
                  <a:cubicBezTo>
                    <a:pt x="219395" y="31289"/>
                    <a:pt x="223492" y="21232"/>
                    <a:pt x="232059" y="12665"/>
                  </a:cubicBezTo>
                  <a:cubicBezTo>
                    <a:pt x="240626" y="4097"/>
                    <a:pt x="250683" y="0"/>
                    <a:pt x="262975" y="0"/>
                  </a:cubicBezTo>
                  <a:lnTo>
                    <a:pt x="307301" y="0"/>
                  </a:lnTo>
                  <a:cubicBezTo>
                    <a:pt x="319593" y="0"/>
                    <a:pt x="329650" y="4097"/>
                    <a:pt x="338217" y="12665"/>
                  </a:cubicBezTo>
                  <a:cubicBezTo>
                    <a:pt x="346785" y="21232"/>
                    <a:pt x="350882" y="31289"/>
                    <a:pt x="350882" y="43581"/>
                  </a:cubicBezTo>
                  <a:lnTo>
                    <a:pt x="395208" y="43581"/>
                  </a:lnTo>
                  <a:lnTo>
                    <a:pt x="394463" y="131115"/>
                  </a:lnTo>
                  <a:close/>
                  <a:moveTo>
                    <a:pt x="284952" y="91632"/>
                  </a:moveTo>
                  <a:cubicBezTo>
                    <a:pt x="292402" y="91632"/>
                    <a:pt x="298734" y="89024"/>
                    <a:pt x="304322" y="83437"/>
                  </a:cubicBezTo>
                  <a:cubicBezTo>
                    <a:pt x="309536" y="78222"/>
                    <a:pt x="312516" y="71517"/>
                    <a:pt x="312516" y="64068"/>
                  </a:cubicBezTo>
                  <a:cubicBezTo>
                    <a:pt x="312516" y="56245"/>
                    <a:pt x="309909" y="49541"/>
                    <a:pt x="304322" y="44326"/>
                  </a:cubicBezTo>
                  <a:cubicBezTo>
                    <a:pt x="299107" y="39111"/>
                    <a:pt x="292402" y="36504"/>
                    <a:pt x="284952" y="36504"/>
                  </a:cubicBezTo>
                  <a:cubicBezTo>
                    <a:pt x="277130" y="36504"/>
                    <a:pt x="270425" y="39111"/>
                    <a:pt x="265210" y="44326"/>
                  </a:cubicBezTo>
                  <a:cubicBezTo>
                    <a:pt x="259995" y="49541"/>
                    <a:pt x="257388" y="55873"/>
                    <a:pt x="257388" y="64068"/>
                  </a:cubicBezTo>
                  <a:cubicBezTo>
                    <a:pt x="257388" y="71517"/>
                    <a:pt x="259995" y="77850"/>
                    <a:pt x="265210" y="83437"/>
                  </a:cubicBezTo>
                  <a:cubicBezTo>
                    <a:pt x="270425" y="89024"/>
                    <a:pt x="277130" y="91632"/>
                    <a:pt x="284952" y="91632"/>
                  </a:cubicBezTo>
                  <a:close/>
                  <a:moveTo>
                    <a:pt x="260368" y="569904"/>
                  </a:moveTo>
                  <a:cubicBezTo>
                    <a:pt x="260368" y="573257"/>
                    <a:pt x="260368" y="576609"/>
                    <a:pt x="259995" y="579588"/>
                  </a:cubicBezTo>
                  <a:cubicBezTo>
                    <a:pt x="259623" y="582941"/>
                    <a:pt x="259623" y="586293"/>
                    <a:pt x="259623" y="590018"/>
                  </a:cubicBezTo>
                  <a:cubicBezTo>
                    <a:pt x="259623" y="610877"/>
                    <a:pt x="262603" y="630992"/>
                    <a:pt x="268563" y="649989"/>
                  </a:cubicBezTo>
                  <a:cubicBezTo>
                    <a:pt x="274523" y="668986"/>
                    <a:pt x="283462" y="686492"/>
                    <a:pt x="294637" y="702137"/>
                  </a:cubicBezTo>
                  <a:lnTo>
                    <a:pt x="90141" y="702137"/>
                  </a:lnTo>
                  <a:cubicBezTo>
                    <a:pt x="81202" y="702137"/>
                    <a:pt x="71518" y="699529"/>
                    <a:pt x="61088" y="694314"/>
                  </a:cubicBezTo>
                  <a:cubicBezTo>
                    <a:pt x="50658" y="689099"/>
                    <a:pt x="40601" y="682395"/>
                    <a:pt x="31661" y="673828"/>
                  </a:cubicBezTo>
                  <a:cubicBezTo>
                    <a:pt x="22722" y="665261"/>
                    <a:pt x="14899" y="655948"/>
                    <a:pt x="8940" y="645146"/>
                  </a:cubicBezTo>
                  <a:cubicBezTo>
                    <a:pt x="2980" y="634344"/>
                    <a:pt x="0" y="623169"/>
                    <a:pt x="0" y="611623"/>
                  </a:cubicBezTo>
                  <a:lnTo>
                    <a:pt x="0" y="178048"/>
                  </a:lnTo>
                  <a:cubicBezTo>
                    <a:pt x="0" y="168364"/>
                    <a:pt x="2235" y="157934"/>
                    <a:pt x="7077" y="147505"/>
                  </a:cubicBezTo>
                  <a:cubicBezTo>
                    <a:pt x="11920" y="137075"/>
                    <a:pt x="17879" y="127390"/>
                    <a:pt x="25329" y="118451"/>
                  </a:cubicBezTo>
                  <a:cubicBezTo>
                    <a:pt x="32779" y="109511"/>
                    <a:pt x="41346" y="102061"/>
                    <a:pt x="51403" y="96474"/>
                  </a:cubicBezTo>
                  <a:cubicBezTo>
                    <a:pt x="61460" y="90886"/>
                    <a:pt x="71518" y="87534"/>
                    <a:pt x="82320" y="87534"/>
                  </a:cubicBezTo>
                  <a:lnTo>
                    <a:pt x="132233" y="87534"/>
                  </a:lnTo>
                  <a:lnTo>
                    <a:pt x="132233" y="175069"/>
                  </a:lnTo>
                  <a:lnTo>
                    <a:pt x="438417" y="175069"/>
                  </a:lnTo>
                  <a:lnTo>
                    <a:pt x="438417" y="87534"/>
                  </a:lnTo>
                  <a:lnTo>
                    <a:pt x="481997" y="87534"/>
                  </a:lnTo>
                  <a:cubicBezTo>
                    <a:pt x="492799" y="87534"/>
                    <a:pt x="503229" y="89769"/>
                    <a:pt x="514031" y="94611"/>
                  </a:cubicBezTo>
                  <a:cubicBezTo>
                    <a:pt x="524461" y="99454"/>
                    <a:pt x="534146" y="105414"/>
                    <a:pt x="542340" y="113608"/>
                  </a:cubicBezTo>
                  <a:cubicBezTo>
                    <a:pt x="550907" y="121431"/>
                    <a:pt x="557612" y="131115"/>
                    <a:pt x="563200" y="142290"/>
                  </a:cubicBezTo>
                  <a:cubicBezTo>
                    <a:pt x="568414" y="153464"/>
                    <a:pt x="571394" y="165384"/>
                    <a:pt x="571394" y="178048"/>
                  </a:cubicBezTo>
                  <a:lnTo>
                    <a:pt x="571394" y="426124"/>
                  </a:lnTo>
                  <a:cubicBezTo>
                    <a:pt x="555005" y="415322"/>
                    <a:pt x="537498" y="407127"/>
                    <a:pt x="518873" y="400796"/>
                  </a:cubicBezTo>
                  <a:cubicBezTo>
                    <a:pt x="500249" y="394835"/>
                    <a:pt x="480507" y="391855"/>
                    <a:pt x="459276" y="391855"/>
                  </a:cubicBezTo>
                  <a:lnTo>
                    <a:pt x="454433" y="391855"/>
                  </a:lnTo>
                  <a:cubicBezTo>
                    <a:pt x="463001" y="388503"/>
                    <a:pt x="469705" y="383288"/>
                    <a:pt x="475293" y="375839"/>
                  </a:cubicBezTo>
                  <a:cubicBezTo>
                    <a:pt x="480507" y="368389"/>
                    <a:pt x="483487" y="359822"/>
                    <a:pt x="483487" y="350510"/>
                  </a:cubicBezTo>
                  <a:cubicBezTo>
                    <a:pt x="483487" y="338218"/>
                    <a:pt x="479017" y="328161"/>
                    <a:pt x="470450" y="319593"/>
                  </a:cubicBezTo>
                  <a:cubicBezTo>
                    <a:pt x="461883" y="311026"/>
                    <a:pt x="451453" y="306929"/>
                    <a:pt x="439161" y="306929"/>
                  </a:cubicBezTo>
                  <a:lnTo>
                    <a:pt x="131488" y="306929"/>
                  </a:lnTo>
                  <a:cubicBezTo>
                    <a:pt x="119196" y="306929"/>
                    <a:pt x="108766" y="311026"/>
                    <a:pt x="100199" y="319593"/>
                  </a:cubicBezTo>
                  <a:cubicBezTo>
                    <a:pt x="91631" y="328161"/>
                    <a:pt x="87162" y="338218"/>
                    <a:pt x="87162" y="350510"/>
                  </a:cubicBezTo>
                  <a:cubicBezTo>
                    <a:pt x="87162" y="362802"/>
                    <a:pt x="91631" y="373232"/>
                    <a:pt x="100199" y="381799"/>
                  </a:cubicBezTo>
                  <a:cubicBezTo>
                    <a:pt x="108766" y="390366"/>
                    <a:pt x="119196" y="394835"/>
                    <a:pt x="131488" y="394835"/>
                  </a:cubicBezTo>
                  <a:lnTo>
                    <a:pt x="425007" y="394835"/>
                  </a:lnTo>
                  <a:cubicBezTo>
                    <a:pt x="397070" y="399678"/>
                    <a:pt x="371369" y="409362"/>
                    <a:pt x="348647" y="424634"/>
                  </a:cubicBezTo>
                  <a:cubicBezTo>
                    <a:pt x="325925" y="439906"/>
                    <a:pt x="306929" y="459275"/>
                    <a:pt x="292030" y="482369"/>
                  </a:cubicBezTo>
                  <a:lnTo>
                    <a:pt x="131488" y="482369"/>
                  </a:lnTo>
                  <a:cubicBezTo>
                    <a:pt x="119196" y="482369"/>
                    <a:pt x="108766" y="486467"/>
                    <a:pt x="100199" y="495035"/>
                  </a:cubicBezTo>
                  <a:cubicBezTo>
                    <a:pt x="91631" y="503602"/>
                    <a:pt x="87162" y="513658"/>
                    <a:pt x="87162" y="525951"/>
                  </a:cubicBezTo>
                  <a:cubicBezTo>
                    <a:pt x="87162" y="538243"/>
                    <a:pt x="91631" y="548673"/>
                    <a:pt x="100199" y="557240"/>
                  </a:cubicBezTo>
                  <a:cubicBezTo>
                    <a:pt x="108766" y="565806"/>
                    <a:pt x="119196" y="570277"/>
                    <a:pt x="131488" y="570277"/>
                  </a:cubicBezTo>
                  <a:lnTo>
                    <a:pt x="260368" y="569904"/>
                  </a:lnTo>
                  <a:close/>
                  <a:moveTo>
                    <a:pt x="462628" y="605290"/>
                  </a:moveTo>
                  <a:cubicBezTo>
                    <a:pt x="446611" y="605290"/>
                    <a:pt x="433946" y="618328"/>
                    <a:pt x="433946" y="633972"/>
                  </a:cubicBezTo>
                  <a:lnTo>
                    <a:pt x="433946" y="651851"/>
                  </a:lnTo>
                  <a:lnTo>
                    <a:pt x="491682" y="651851"/>
                  </a:lnTo>
                  <a:lnTo>
                    <a:pt x="491682" y="633972"/>
                  </a:lnTo>
                  <a:cubicBezTo>
                    <a:pt x="491682" y="618328"/>
                    <a:pt x="478645" y="605290"/>
                    <a:pt x="462628" y="605290"/>
                  </a:cubicBezTo>
                  <a:close/>
                  <a:moveTo>
                    <a:pt x="433946" y="552770"/>
                  </a:moveTo>
                  <a:cubicBezTo>
                    <a:pt x="433946" y="568786"/>
                    <a:pt x="446984" y="581451"/>
                    <a:pt x="462628" y="581451"/>
                  </a:cubicBezTo>
                  <a:cubicBezTo>
                    <a:pt x="478645" y="581451"/>
                    <a:pt x="491309" y="568414"/>
                    <a:pt x="491309" y="552770"/>
                  </a:cubicBezTo>
                  <a:lnTo>
                    <a:pt x="491309" y="534891"/>
                  </a:lnTo>
                  <a:lnTo>
                    <a:pt x="433574" y="534891"/>
                  </a:lnTo>
                  <a:lnTo>
                    <a:pt x="433574" y="552770"/>
                  </a:lnTo>
                  <a:close/>
                  <a:moveTo>
                    <a:pt x="604918" y="533773"/>
                  </a:moveTo>
                  <a:cubicBezTo>
                    <a:pt x="596723" y="515148"/>
                    <a:pt x="585548" y="498759"/>
                    <a:pt x="571766" y="484605"/>
                  </a:cubicBezTo>
                  <a:cubicBezTo>
                    <a:pt x="557985" y="470451"/>
                    <a:pt x="541223" y="459648"/>
                    <a:pt x="522598" y="451454"/>
                  </a:cubicBezTo>
                  <a:cubicBezTo>
                    <a:pt x="503974" y="443259"/>
                    <a:pt x="484232" y="439162"/>
                    <a:pt x="463001" y="439162"/>
                  </a:cubicBezTo>
                  <a:cubicBezTo>
                    <a:pt x="441397" y="439162"/>
                    <a:pt x="421282" y="443259"/>
                    <a:pt x="402658" y="451454"/>
                  </a:cubicBezTo>
                  <a:cubicBezTo>
                    <a:pt x="384034" y="459648"/>
                    <a:pt x="367644" y="470823"/>
                    <a:pt x="353490" y="484605"/>
                  </a:cubicBezTo>
                  <a:cubicBezTo>
                    <a:pt x="339335" y="498759"/>
                    <a:pt x="328533" y="515148"/>
                    <a:pt x="320338" y="533773"/>
                  </a:cubicBezTo>
                  <a:cubicBezTo>
                    <a:pt x="312143" y="552397"/>
                    <a:pt x="308046" y="572139"/>
                    <a:pt x="308046" y="593370"/>
                  </a:cubicBezTo>
                  <a:cubicBezTo>
                    <a:pt x="308046" y="614975"/>
                    <a:pt x="312143" y="635089"/>
                    <a:pt x="320338" y="653713"/>
                  </a:cubicBezTo>
                  <a:cubicBezTo>
                    <a:pt x="328533" y="672338"/>
                    <a:pt x="339708" y="688727"/>
                    <a:pt x="353490" y="702881"/>
                  </a:cubicBezTo>
                  <a:cubicBezTo>
                    <a:pt x="367644" y="717036"/>
                    <a:pt x="384034" y="727839"/>
                    <a:pt x="402658" y="735658"/>
                  </a:cubicBezTo>
                  <a:cubicBezTo>
                    <a:pt x="421282" y="743484"/>
                    <a:pt x="441397" y="747580"/>
                    <a:pt x="463001" y="747580"/>
                  </a:cubicBezTo>
                  <a:cubicBezTo>
                    <a:pt x="483860" y="747580"/>
                    <a:pt x="503974" y="743484"/>
                    <a:pt x="522598" y="735658"/>
                  </a:cubicBezTo>
                  <a:cubicBezTo>
                    <a:pt x="541223" y="727839"/>
                    <a:pt x="557612" y="716663"/>
                    <a:pt x="571766" y="702881"/>
                  </a:cubicBezTo>
                  <a:cubicBezTo>
                    <a:pt x="585921" y="689099"/>
                    <a:pt x="596723" y="672338"/>
                    <a:pt x="604918" y="653713"/>
                  </a:cubicBezTo>
                  <a:cubicBezTo>
                    <a:pt x="613112" y="635089"/>
                    <a:pt x="617210" y="614975"/>
                    <a:pt x="617210" y="593370"/>
                  </a:cubicBezTo>
                  <a:cubicBezTo>
                    <a:pt x="617210" y="572511"/>
                    <a:pt x="613112" y="552397"/>
                    <a:pt x="604918" y="533773"/>
                  </a:cubicBezTo>
                  <a:close/>
                  <a:moveTo>
                    <a:pt x="514776" y="633972"/>
                  </a:moveTo>
                  <a:lnTo>
                    <a:pt x="514776" y="651851"/>
                  </a:lnTo>
                  <a:cubicBezTo>
                    <a:pt x="521108" y="651851"/>
                    <a:pt x="525951" y="657066"/>
                    <a:pt x="525951" y="663398"/>
                  </a:cubicBezTo>
                  <a:cubicBezTo>
                    <a:pt x="525951" y="669730"/>
                    <a:pt x="520736" y="674945"/>
                    <a:pt x="514403" y="674945"/>
                  </a:cubicBezTo>
                  <a:lnTo>
                    <a:pt x="410852" y="674945"/>
                  </a:lnTo>
                  <a:cubicBezTo>
                    <a:pt x="404520" y="674945"/>
                    <a:pt x="399305" y="669730"/>
                    <a:pt x="399305" y="663398"/>
                  </a:cubicBezTo>
                  <a:cubicBezTo>
                    <a:pt x="399305" y="657066"/>
                    <a:pt x="404520" y="651851"/>
                    <a:pt x="410480" y="651851"/>
                  </a:cubicBezTo>
                  <a:lnTo>
                    <a:pt x="410480" y="633972"/>
                  </a:lnTo>
                  <a:cubicBezTo>
                    <a:pt x="410480" y="617582"/>
                    <a:pt x="418302" y="603055"/>
                    <a:pt x="429849" y="593370"/>
                  </a:cubicBezTo>
                  <a:cubicBezTo>
                    <a:pt x="417930" y="583686"/>
                    <a:pt x="410480" y="569159"/>
                    <a:pt x="410480" y="552770"/>
                  </a:cubicBezTo>
                  <a:lnTo>
                    <a:pt x="410480" y="534891"/>
                  </a:lnTo>
                  <a:cubicBezTo>
                    <a:pt x="404148" y="534891"/>
                    <a:pt x="399305" y="529676"/>
                    <a:pt x="399305" y="523343"/>
                  </a:cubicBezTo>
                  <a:cubicBezTo>
                    <a:pt x="399305" y="517011"/>
                    <a:pt x="404520" y="511796"/>
                    <a:pt x="410852" y="511796"/>
                  </a:cubicBezTo>
                  <a:lnTo>
                    <a:pt x="514403" y="511796"/>
                  </a:lnTo>
                  <a:cubicBezTo>
                    <a:pt x="520736" y="511796"/>
                    <a:pt x="525951" y="517011"/>
                    <a:pt x="525951" y="523343"/>
                  </a:cubicBezTo>
                  <a:cubicBezTo>
                    <a:pt x="525951" y="529676"/>
                    <a:pt x="520736" y="534891"/>
                    <a:pt x="514776" y="534891"/>
                  </a:cubicBezTo>
                  <a:lnTo>
                    <a:pt x="514776" y="552770"/>
                  </a:lnTo>
                  <a:cubicBezTo>
                    <a:pt x="514776" y="569159"/>
                    <a:pt x="506954" y="583686"/>
                    <a:pt x="495407" y="593370"/>
                  </a:cubicBezTo>
                  <a:cubicBezTo>
                    <a:pt x="507326" y="603055"/>
                    <a:pt x="514776" y="617582"/>
                    <a:pt x="514776" y="633972"/>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prstClr val="black"/>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27" name="文本框 26"/>
          <p:cNvSpPr txBox="1"/>
          <p:nvPr/>
        </p:nvSpPr>
        <p:spPr>
          <a:xfrm>
            <a:off x="1077595" y="275590"/>
            <a:ext cx="5195570" cy="460375"/>
          </a:xfrm>
          <a:prstGeom prst="rect">
            <a:avLst/>
          </a:prstGeom>
          <a:noFill/>
        </p:spPr>
        <p:txBody>
          <a:bodyPr wrap="square" rtlCol="0">
            <a:spAutoFit/>
          </a:bodyPr>
          <a:lstStyle/>
          <a:p>
            <a:pPr lvl="0">
              <a:defRPr/>
            </a:pPr>
            <a:r>
              <a:rPr lang="zh-CN" altLang="en-US" sz="2400" spc="300" dirty="0">
                <a:solidFill>
                  <a:schemeClr val="bg2">
                    <a:lumMod val="10000"/>
                  </a:schemeClr>
                </a:solidFill>
                <a:latin typeface="思源黑体 CN Bold" panose="020B0800000000000000" pitchFamily="34" charset="-122"/>
                <a:ea typeface="思源黑体 CN Bold" panose="020B0800000000000000" pitchFamily="34" charset="-122"/>
                <a:sym typeface="思源黑体 CN Normal" panose="020B0400000000000000" pitchFamily="34" charset="-122"/>
              </a:rPr>
              <a:t>第二章练习题</a:t>
            </a:r>
          </a:p>
        </p:txBody>
      </p:sp>
      <p:pic>
        <p:nvPicPr>
          <p:cNvPr id="10" name="图片 9" descr="5d0495981e06a4beefc1a7ac3c41024d"/>
          <p:cNvPicPr>
            <a:picLocks noChangeAspect="1"/>
          </p:cNvPicPr>
          <p:nvPr>
            <p:custDataLst>
              <p:tags r:id="rId1"/>
            </p:custDataLst>
          </p:nvPr>
        </p:nvPicPr>
        <p:blipFill>
          <a:blip r:embed="rId4"/>
          <a:stretch>
            <a:fillRect/>
          </a:stretch>
        </p:blipFill>
        <p:spPr>
          <a:xfrm>
            <a:off x="8842375" y="0"/>
            <a:ext cx="4695190" cy="934720"/>
          </a:xfrm>
          <a:prstGeom prst="rect">
            <a:avLst/>
          </a:prstGeom>
        </p:spPr>
      </p:pic>
      <p:sp>
        <p:nvSpPr>
          <p:cNvPr id="2" name="文本框 1"/>
          <p:cNvSpPr txBox="1"/>
          <p:nvPr>
            <p:custDataLst>
              <p:tags r:id="rId2"/>
            </p:custDataLst>
          </p:nvPr>
        </p:nvSpPr>
        <p:spPr>
          <a:xfrm>
            <a:off x="1077595" y="1248410"/>
            <a:ext cx="9582785" cy="4117340"/>
          </a:xfrm>
          <a:prstGeom prst="rect">
            <a:avLst/>
          </a:prstGeom>
        </p:spPr>
        <p:txBody>
          <a:bodyPr wrap="square" lIns="0" tIns="0" rIns="0" bIns="0" anchor="ctr">
            <a:no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Font typeface="+mj-ea"/>
              <a:buNone/>
              <a:defRPr/>
            </a:pP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 猴子第一天摘下若干个桃子，当即吃了一半，还不过瘾，又吃了一个，第二天早上又将剩下的桃子吃了一半，又多吃了一个，以后每天早上都是吃了前一天剩下的一半零一个，到第10天早上再吃的时候，发现只剩下一个桃子了，问一共多少个桃子。</a:t>
            </a:r>
          </a:p>
          <a:p>
            <a:pPr marL="0" indent="0" algn="l" defTabSz="457200" hangingPunct="0">
              <a:lnSpc>
                <a:spcPct val="150000"/>
              </a:lnSpc>
              <a:spcAft>
                <a:spcPts val="0"/>
              </a:spcAft>
              <a:buFont typeface="+mj-ea"/>
              <a:buNone/>
              <a:defRPr/>
            </a:pP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2. 100个和尚吃了100个馒头，100和尚有大和尚和小和尚，一个大和尚能吃3馒头，三个小和尚吃1个馒头，问大和尚和小和尚有多少个？</a:t>
            </a:r>
          </a:p>
          <a:p>
            <a:pPr marL="0" indent="0" algn="l" defTabSz="457200" hangingPunct="0">
              <a:lnSpc>
                <a:spcPct val="150000"/>
              </a:lnSpc>
              <a:spcAft>
                <a:spcPts val="0"/>
              </a:spcAft>
              <a:buFont typeface="+mj-ea"/>
              <a:buNone/>
              <a:defRPr/>
            </a:pP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3. 已知一只公鸡5块钱，母鸡3块钱，小鸡1块钱3只，问100元买100只鸡有哪些方案？</a:t>
            </a:r>
          </a:p>
          <a:p>
            <a:pPr marL="0" indent="45720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提示：</a:t>
            </a:r>
          </a:p>
          <a:p>
            <a:pPr marL="457200" lvl="1" indent="45720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如果拿</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100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元买公鸡，最多买</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20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个。</a:t>
            </a:r>
          </a:p>
          <a:p>
            <a:pPr marL="457200" lvl="1" indent="45720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如果拿</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100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元买母鸡，最多买</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33</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个。</a:t>
            </a:r>
          </a:p>
          <a:p>
            <a:pPr marL="457200" lvl="1" indent="457200" algn="l" defTabSz="457200" hangingPunct="0">
              <a:lnSpc>
                <a:spcPct val="150000"/>
              </a:lnSpc>
              <a:spcAft>
                <a:spcPts val="0"/>
              </a:spcAft>
              <a:buFont typeface="+mj-ea"/>
              <a:buNone/>
              <a:defRPr/>
            </a:pP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如果拿</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100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元买小鸡，最多买</a:t>
            </a:r>
            <a:r>
              <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300</a:t>
            </a:r>
            <a:r>
              <a:rPr lang="zh-CN" altLang="en-US"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rPr>
              <a:t>只。</a:t>
            </a: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a:p>
            <a:pPr marL="0" indent="0" algn="l" defTabSz="457200" hangingPunct="0">
              <a:lnSpc>
                <a:spcPct val="150000"/>
              </a:lnSpc>
              <a:spcAft>
                <a:spcPts val="0"/>
              </a:spcAft>
              <a:buFont typeface="+mj-ea"/>
              <a:buNone/>
              <a:defRPr/>
            </a:pPr>
            <a:endParaRPr lang="en-US" altLang="zh-CN" sz="1390" kern="0" dirty="0">
              <a:solidFill>
                <a:schemeClr val="tx1"/>
              </a:solidFill>
              <a:latin typeface="思源黑体 CN Medium" panose="020B0600000000000000" pitchFamily="34" charset="-122"/>
              <a:ea typeface="思源黑体 CN Medium" panose="020B0600000000000000" pitchFamily="34" charset="-122"/>
              <a:sym typeface="思源宋体 CN Heavy" panose="020209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直角三角形 79"/>
          <p:cNvSpPr/>
          <p:nvPr/>
        </p:nvSpPr>
        <p:spPr>
          <a:xfrm flipV="1">
            <a:off x="0" y="0"/>
            <a:ext cx="1537639" cy="1537639"/>
          </a:xfrm>
          <a:prstGeom prst="rtTriangle">
            <a:avLst/>
          </a:prstGeom>
          <a:solidFill>
            <a:srgbClr val="2C3173">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flipH="1">
            <a:off x="3412274" y="0"/>
            <a:ext cx="8132956" cy="68580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flipH="1">
            <a:off x="4059044" y="0"/>
            <a:ext cx="8132956" cy="6858000"/>
          </a:xfrm>
          <a:custGeom>
            <a:avLst/>
            <a:gdLst>
              <a:gd name="connsiteX0" fmla="*/ 1274956 w 8132956"/>
              <a:gd name="connsiteY0" fmla="*/ 0 h 6858000"/>
              <a:gd name="connsiteX1" fmla="*/ 0 w 8132956"/>
              <a:gd name="connsiteY1" fmla="*/ 0 h 6858000"/>
              <a:gd name="connsiteX2" fmla="*/ 0 w 8132956"/>
              <a:gd name="connsiteY2" fmla="*/ 6858000 h 6858000"/>
              <a:gd name="connsiteX3" fmla="*/ 8132956 w 81329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132956" h="6858000">
                <a:moveTo>
                  <a:pt x="1274956" y="0"/>
                </a:moveTo>
                <a:lnTo>
                  <a:pt x="0" y="0"/>
                </a:lnTo>
                <a:lnTo>
                  <a:pt x="0" y="6858000"/>
                </a:lnTo>
                <a:lnTo>
                  <a:pt x="8132956"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flipH="1">
            <a:off x="7627434" y="2283274"/>
            <a:ext cx="4564566" cy="4564566"/>
          </a:xfrm>
          <a:prstGeom prst="rtTriangle">
            <a:avLst/>
          </a:pr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632575" y="1537335"/>
            <a:ext cx="4479290" cy="4239260"/>
          </a:xfrm>
          <a:prstGeom prst="ellipse">
            <a:avLst/>
          </a:prstGeom>
          <a:solidFill>
            <a:schemeClr val="bg1"/>
          </a:solidFill>
          <a:ln w="22225" cap="flat" cmpd="sng" algn="ctr">
            <a:noFill/>
            <a:prstDash val="solid"/>
            <a:miter lim="800000"/>
          </a:ln>
          <a:effectLst>
            <a:outerShdw blurRad="939800" dist="266700" sx="99000" sy="99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Normal" panose="020B04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nvSpPr>
        <p:spPr>
          <a:xfrm>
            <a:off x="6837680" y="1727200"/>
            <a:ext cx="4105910" cy="3859530"/>
          </a:xfrm>
          <a:prstGeom prst="ellipse">
            <a:avLst/>
          </a:prstGeom>
          <a:noFill/>
          <a:ln>
            <a:solidFill>
              <a:srgbClr val="2C3173">
                <a:alpha val="32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1459B"/>
              </a:solidFill>
            </a:endParaRPr>
          </a:p>
        </p:txBody>
      </p:sp>
      <p:grpSp>
        <p:nvGrpSpPr>
          <p:cNvPr id="32" name="组合 31"/>
          <p:cNvGrpSpPr/>
          <p:nvPr/>
        </p:nvGrpSpPr>
        <p:grpSpPr>
          <a:xfrm>
            <a:off x="5434330" y="2151380"/>
            <a:ext cx="586105" cy="245110"/>
            <a:chOff x="8225" y="1632"/>
            <a:chExt cx="923" cy="386"/>
          </a:xfrm>
          <a:solidFill>
            <a:srgbClr val="002562"/>
          </a:solidFill>
        </p:grpSpPr>
        <p:grpSp>
          <p:nvGrpSpPr>
            <p:cNvPr id="6" name="组合 5"/>
            <p:cNvGrpSpPr/>
            <p:nvPr/>
          </p:nvGrpSpPr>
          <p:grpSpPr>
            <a:xfrm>
              <a:off x="8225" y="1632"/>
              <a:ext cx="416" cy="387"/>
              <a:chOff x="4218240" y="1782762"/>
              <a:chExt cx="525790" cy="489777"/>
            </a:xfrm>
            <a:grpFill/>
          </p:grpSpPr>
          <p:sp>
            <p:nvSpPr>
              <p:cNvPr id="77" name="椭圆 76"/>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8732" y="1632"/>
              <a:ext cx="416" cy="387"/>
              <a:chOff x="4218240" y="1782762"/>
              <a:chExt cx="525790" cy="489777"/>
            </a:xfrm>
            <a:grpFill/>
          </p:grpSpPr>
          <p:sp>
            <p:nvSpPr>
              <p:cNvPr id="3" name="椭圆 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1" name="组合 50"/>
          <p:cNvGrpSpPr/>
          <p:nvPr/>
        </p:nvGrpSpPr>
        <p:grpSpPr>
          <a:xfrm>
            <a:off x="10789920" y="5880100"/>
            <a:ext cx="586105" cy="245110"/>
            <a:chOff x="8225" y="1632"/>
            <a:chExt cx="923" cy="386"/>
          </a:xfrm>
          <a:solidFill>
            <a:srgbClr val="ED7D31"/>
          </a:solidFill>
        </p:grpSpPr>
        <p:grpSp>
          <p:nvGrpSpPr>
            <p:cNvPr id="52" name="组合 51"/>
            <p:cNvGrpSpPr/>
            <p:nvPr/>
          </p:nvGrpSpPr>
          <p:grpSpPr>
            <a:xfrm>
              <a:off x="8225" y="1632"/>
              <a:ext cx="416" cy="387"/>
              <a:chOff x="4218240" y="1782762"/>
              <a:chExt cx="525790" cy="489777"/>
            </a:xfrm>
            <a:grpFill/>
          </p:grpSpPr>
          <p:sp>
            <p:nvSpPr>
              <p:cNvPr id="53" name="椭圆 5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p:cNvGrpSpPr/>
            <p:nvPr/>
          </p:nvGrpSpPr>
          <p:grpSpPr>
            <a:xfrm>
              <a:off x="8732" y="1632"/>
              <a:ext cx="416" cy="387"/>
              <a:chOff x="4218240" y="1782762"/>
              <a:chExt cx="525790" cy="489777"/>
            </a:xfrm>
            <a:grpFill/>
          </p:grpSpPr>
          <p:sp>
            <p:nvSpPr>
              <p:cNvPr id="63" name="椭圆 62"/>
              <p:cNvSpPr/>
              <p:nvPr/>
            </p:nvSpPr>
            <p:spPr>
              <a:xfrm>
                <a:off x="421824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4437920"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4657599" y="1782762"/>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21824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4437920"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7599" y="1984435"/>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1824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437920"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4657599" y="2186108"/>
                <a:ext cx="86431" cy="864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83" name="PA_矩形 29"/>
          <p:cNvSpPr/>
          <p:nvPr>
            <p:custDataLst>
              <p:tags r:id="rId2"/>
            </p:custDataLst>
          </p:nvPr>
        </p:nvSpPr>
        <p:spPr>
          <a:xfrm>
            <a:off x="570123" y="2582387"/>
            <a:ext cx="5490317" cy="2062103"/>
          </a:xfrm>
          <a:prstGeom prst="rect">
            <a:avLst/>
          </a:prstGeom>
          <a:ln>
            <a:noFill/>
          </a:ln>
          <a:effectLst/>
        </p:spPr>
        <p:txBody>
          <a:bodyPr wrap="square">
            <a:spAutoFit/>
          </a:bodyPr>
          <a:lstStyle/>
          <a:p>
            <a:pPr algn="dist"/>
            <a:r>
              <a:rPr lang="zh-CN" altLang="en-US"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口口相传的</a:t>
            </a:r>
            <a:r>
              <a:rPr lang="en-US" altLang="zh-CN"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Java</a:t>
            </a:r>
            <a:r>
              <a:rPr lang="zh-CN" altLang="en-US" sz="6400" b="1" dirty="0">
                <a:solidFill>
                  <a:srgbClr val="ED7D31"/>
                </a:solidFill>
                <a:latin typeface="思源黑体 CN Bold" panose="020B0800000000000000" pitchFamily="34" charset="-122"/>
                <a:ea typeface="思源黑体 CN Bold" panose="020B0800000000000000" pitchFamily="34" charset="-122"/>
                <a:cs typeface="Open Sans" panose="020B0606030504020204" pitchFamily="34" charset="0"/>
              </a:rPr>
              <a:t>黄埔军校</a:t>
            </a:r>
            <a:endParaRPr lang="zh-CN" altLang="en-US" sz="6400" b="1" dirty="0">
              <a:latin typeface="思源黑体 CN Bold" panose="020B0800000000000000" pitchFamily="34" charset="-122"/>
              <a:ea typeface="思源黑体 CN Bold" panose="020B0800000000000000" pitchFamily="34" charset="-122"/>
              <a:cs typeface="Open Sans" panose="020B0606030504020204" pitchFamily="34" charset="0"/>
            </a:endParaRPr>
          </a:p>
        </p:txBody>
      </p:sp>
      <p:sp>
        <p:nvSpPr>
          <p:cNvPr id="84" name="PA_圆角矩形 31"/>
          <p:cNvSpPr/>
          <p:nvPr>
            <p:custDataLst>
              <p:tags r:id="rId3"/>
            </p:custDataLst>
          </p:nvPr>
        </p:nvSpPr>
        <p:spPr>
          <a:xfrm>
            <a:off x="632213" y="5080777"/>
            <a:ext cx="1351751" cy="338839"/>
          </a:xfrm>
          <a:prstGeom prst="roundRect">
            <a:avLst/>
          </a:prstGeom>
          <a:solidFill>
            <a:srgbClr val="00235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a:t>
            </a:r>
            <a:endParaRPr lang="en-US" altLang="zh-CN" sz="1200" dirty="0">
              <a:solidFill>
                <a:schemeClr val="bg1"/>
              </a:solidFill>
              <a:latin typeface="思源黑体 CN Regular" panose="020B0500000000000000" pitchFamily="34" charset="-122"/>
              <a:ea typeface="思源黑体 CN Regular" panose="020B0500000000000000" pitchFamily="34" charset="-122"/>
            </a:endParaRPr>
          </a:p>
        </p:txBody>
      </p:sp>
      <p:sp>
        <p:nvSpPr>
          <p:cNvPr id="86" name="PA_圆角矩形 31"/>
          <p:cNvSpPr/>
          <p:nvPr>
            <p:custDataLst>
              <p:tags r:id="rId4"/>
            </p:custDataLst>
          </p:nvPr>
        </p:nvSpPr>
        <p:spPr>
          <a:xfrm>
            <a:off x="2720523" y="5080777"/>
            <a:ext cx="1351751" cy="338839"/>
          </a:xfrm>
          <a:prstGeom prst="roundRect">
            <a:avLst/>
          </a:prstGeom>
          <a:solidFill>
            <a:srgbClr val="ED7D3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a:t>
            </a:r>
            <a:endParaRPr lang="en-US" altLang="zh-CN" sz="1200" dirty="0">
              <a:solidFill>
                <a:schemeClr val="bg1"/>
              </a:solidFill>
              <a:latin typeface="思源黑体 CN Regular" panose="020B0500000000000000" pitchFamily="34" charset="-122"/>
              <a:ea typeface="思源黑体 CN Regular" panose="020B0500000000000000" pitchFamily="34" charset="-122"/>
            </a:endParaRPr>
          </a:p>
        </p:txBody>
      </p:sp>
      <p:grpSp>
        <p:nvGrpSpPr>
          <p:cNvPr id="89" name="组合 88"/>
          <p:cNvGrpSpPr/>
          <p:nvPr/>
        </p:nvGrpSpPr>
        <p:grpSpPr>
          <a:xfrm>
            <a:off x="695960" y="416560"/>
            <a:ext cx="1627505" cy="390525"/>
            <a:chOff x="7621368" y="4710754"/>
            <a:chExt cx="2609603" cy="626238"/>
          </a:xfrm>
          <a:solidFill>
            <a:schemeClr val="accent2"/>
          </a:solidFill>
        </p:grpSpPr>
        <p:sp>
          <p:nvSpPr>
            <p:cNvPr id="90" name="check-mark_2431"/>
            <p:cNvSpPr/>
            <p:nvPr/>
          </p:nvSpPr>
          <p:spPr>
            <a:xfrm>
              <a:off x="8621327" y="4727994"/>
              <a:ext cx="609685" cy="608998"/>
            </a:xfrm>
            <a:custGeom>
              <a:avLst/>
              <a:gdLst>
                <a:gd name="T0" fmla="*/ 213 w 427"/>
                <a:gd name="T1" fmla="*/ 0 h 427"/>
                <a:gd name="T2" fmla="*/ 0 w 427"/>
                <a:gd name="T3" fmla="*/ 213 h 427"/>
                <a:gd name="T4" fmla="*/ 213 w 427"/>
                <a:gd name="T5" fmla="*/ 427 h 427"/>
                <a:gd name="T6" fmla="*/ 427 w 427"/>
                <a:gd name="T7" fmla="*/ 213 h 427"/>
                <a:gd name="T8" fmla="*/ 213 w 427"/>
                <a:gd name="T9" fmla="*/ 0 h 427"/>
                <a:gd name="T10" fmla="*/ 180 w 427"/>
                <a:gd name="T11" fmla="*/ 312 h 427"/>
                <a:gd name="T12" fmla="*/ 82 w 427"/>
                <a:gd name="T13" fmla="*/ 214 h 427"/>
                <a:gd name="T14" fmla="*/ 120 w 427"/>
                <a:gd name="T15" fmla="*/ 176 h 427"/>
                <a:gd name="T16" fmla="*/ 180 w 427"/>
                <a:gd name="T17" fmla="*/ 236 h 427"/>
                <a:gd name="T18" fmla="*/ 308 w 427"/>
                <a:gd name="T19" fmla="*/ 108 h 427"/>
                <a:gd name="T20" fmla="*/ 346 w 427"/>
                <a:gd name="T21" fmla="*/ 146 h 427"/>
                <a:gd name="T22" fmla="*/ 180 w 427"/>
                <a:gd name="T23" fmla="*/ 31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427">
                  <a:moveTo>
                    <a:pt x="213" y="0"/>
                  </a:moveTo>
                  <a:cubicBezTo>
                    <a:pt x="96" y="0"/>
                    <a:pt x="0" y="96"/>
                    <a:pt x="0" y="213"/>
                  </a:cubicBezTo>
                  <a:cubicBezTo>
                    <a:pt x="0" y="331"/>
                    <a:pt x="96" y="427"/>
                    <a:pt x="213" y="427"/>
                  </a:cubicBezTo>
                  <a:cubicBezTo>
                    <a:pt x="331" y="427"/>
                    <a:pt x="427" y="331"/>
                    <a:pt x="427" y="213"/>
                  </a:cubicBezTo>
                  <a:cubicBezTo>
                    <a:pt x="427" y="96"/>
                    <a:pt x="331" y="0"/>
                    <a:pt x="213" y="0"/>
                  </a:cubicBezTo>
                  <a:close/>
                  <a:moveTo>
                    <a:pt x="180" y="312"/>
                  </a:moveTo>
                  <a:lnTo>
                    <a:pt x="82" y="214"/>
                  </a:lnTo>
                  <a:lnTo>
                    <a:pt x="120" y="176"/>
                  </a:lnTo>
                  <a:lnTo>
                    <a:pt x="180" y="236"/>
                  </a:lnTo>
                  <a:lnTo>
                    <a:pt x="308" y="108"/>
                  </a:lnTo>
                  <a:lnTo>
                    <a:pt x="346" y="146"/>
                  </a:lnTo>
                  <a:lnTo>
                    <a:pt x="180" y="312"/>
                  </a:lnTo>
                  <a:close/>
                </a:path>
              </a:pathLst>
            </a:custGeom>
            <a:solidFill>
              <a:srgbClr val="002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confont-1191-866891"/>
            <p:cNvSpPr/>
            <p:nvPr/>
          </p:nvSpPr>
          <p:spPr>
            <a:xfrm>
              <a:off x="7621368" y="4710754"/>
              <a:ext cx="609685" cy="609522"/>
            </a:xfrm>
            <a:custGeom>
              <a:avLst/>
              <a:gdLst>
                <a:gd name="T0" fmla="*/ 3884 w 7768"/>
                <a:gd name="T1" fmla="*/ 0 h 7766"/>
                <a:gd name="T2" fmla="*/ 0 w 7768"/>
                <a:gd name="T3" fmla="*/ 3883 h 7766"/>
                <a:gd name="T4" fmla="*/ 3884 w 7768"/>
                <a:gd name="T5" fmla="*/ 7766 h 7766"/>
                <a:gd name="T6" fmla="*/ 7768 w 7768"/>
                <a:gd name="T7" fmla="*/ 3883 h 7766"/>
                <a:gd name="T8" fmla="*/ 3884 w 7768"/>
                <a:gd name="T9" fmla="*/ 0 h 7766"/>
                <a:gd name="T10" fmla="*/ 3884 w 7768"/>
                <a:gd name="T11" fmla="*/ 6041 h 7766"/>
                <a:gd name="T12" fmla="*/ 3453 w 7768"/>
                <a:gd name="T13" fmla="*/ 5609 h 7766"/>
                <a:gd name="T14" fmla="*/ 3884 w 7768"/>
                <a:gd name="T15" fmla="*/ 5178 h 7766"/>
                <a:gd name="T16" fmla="*/ 4315 w 7768"/>
                <a:gd name="T17" fmla="*/ 5609 h 7766"/>
                <a:gd name="T18" fmla="*/ 3884 w 7768"/>
                <a:gd name="T19" fmla="*/ 6041 h 7766"/>
                <a:gd name="T20" fmla="*/ 4295 w 7768"/>
                <a:gd name="T21" fmla="*/ 4313 h 7766"/>
                <a:gd name="T22" fmla="*/ 3888 w 7768"/>
                <a:gd name="T23" fmla="*/ 4737 h 7766"/>
                <a:gd name="T24" fmla="*/ 3933 w 7768"/>
                <a:gd name="T25" fmla="*/ 4746 h 7766"/>
                <a:gd name="T26" fmla="*/ 3843 w 7768"/>
                <a:gd name="T27" fmla="*/ 4746 h 7766"/>
                <a:gd name="T28" fmla="*/ 3888 w 7768"/>
                <a:gd name="T29" fmla="*/ 4737 h 7766"/>
                <a:gd name="T30" fmla="*/ 3485 w 7768"/>
                <a:gd name="T31" fmla="*/ 4313 h 7766"/>
                <a:gd name="T32" fmla="*/ 3386 w 7768"/>
                <a:gd name="T33" fmla="*/ 2158 h 7766"/>
                <a:gd name="T34" fmla="*/ 3800 w 7768"/>
                <a:gd name="T35" fmla="*/ 1725 h 7766"/>
                <a:gd name="T36" fmla="*/ 3999 w 7768"/>
                <a:gd name="T37" fmla="*/ 1725 h 7766"/>
                <a:gd name="T38" fmla="*/ 4410 w 7768"/>
                <a:gd name="T39" fmla="*/ 2158 h 7766"/>
                <a:gd name="T40" fmla="*/ 4295 w 7768"/>
                <a:gd name="T41" fmla="*/ 4313 h 7766"/>
                <a:gd name="T42" fmla="*/ 4295 w 7768"/>
                <a:gd name="T43" fmla="*/ 4313 h 7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768" h="7766">
                  <a:moveTo>
                    <a:pt x="3884" y="0"/>
                  </a:moveTo>
                  <a:cubicBezTo>
                    <a:pt x="1739" y="0"/>
                    <a:pt x="0" y="1738"/>
                    <a:pt x="0" y="3883"/>
                  </a:cubicBezTo>
                  <a:cubicBezTo>
                    <a:pt x="0" y="6028"/>
                    <a:pt x="1739" y="7766"/>
                    <a:pt x="3884" y="7766"/>
                  </a:cubicBezTo>
                  <a:cubicBezTo>
                    <a:pt x="6029" y="7766"/>
                    <a:pt x="7768" y="6028"/>
                    <a:pt x="7768" y="3883"/>
                  </a:cubicBezTo>
                  <a:cubicBezTo>
                    <a:pt x="7768" y="1738"/>
                    <a:pt x="6029" y="0"/>
                    <a:pt x="3884" y="0"/>
                  </a:cubicBezTo>
                  <a:close/>
                  <a:moveTo>
                    <a:pt x="3884" y="6041"/>
                  </a:moveTo>
                  <a:cubicBezTo>
                    <a:pt x="3646" y="6041"/>
                    <a:pt x="3453" y="5847"/>
                    <a:pt x="3453" y="5609"/>
                  </a:cubicBezTo>
                  <a:cubicBezTo>
                    <a:pt x="3453" y="5371"/>
                    <a:pt x="3646" y="5178"/>
                    <a:pt x="3884" y="5178"/>
                  </a:cubicBezTo>
                  <a:cubicBezTo>
                    <a:pt x="4122" y="5178"/>
                    <a:pt x="4315" y="5371"/>
                    <a:pt x="4315" y="5609"/>
                  </a:cubicBezTo>
                  <a:cubicBezTo>
                    <a:pt x="4315" y="5847"/>
                    <a:pt x="4122" y="6041"/>
                    <a:pt x="3884" y="6041"/>
                  </a:cubicBezTo>
                  <a:close/>
                  <a:moveTo>
                    <a:pt x="4295" y="4313"/>
                  </a:moveTo>
                  <a:cubicBezTo>
                    <a:pt x="4284" y="4537"/>
                    <a:pt x="4103" y="4714"/>
                    <a:pt x="3888" y="4737"/>
                  </a:cubicBezTo>
                  <a:cubicBezTo>
                    <a:pt x="3904" y="4739"/>
                    <a:pt x="3917" y="4746"/>
                    <a:pt x="3933" y="4746"/>
                  </a:cubicBezTo>
                  <a:lnTo>
                    <a:pt x="3843" y="4746"/>
                  </a:lnTo>
                  <a:cubicBezTo>
                    <a:pt x="3859" y="4746"/>
                    <a:pt x="3873" y="4739"/>
                    <a:pt x="3888" y="4737"/>
                  </a:cubicBezTo>
                  <a:cubicBezTo>
                    <a:pt x="3672" y="4714"/>
                    <a:pt x="3495" y="4541"/>
                    <a:pt x="3485" y="4313"/>
                  </a:cubicBezTo>
                  <a:lnTo>
                    <a:pt x="3386" y="2158"/>
                  </a:lnTo>
                  <a:cubicBezTo>
                    <a:pt x="3375" y="1919"/>
                    <a:pt x="3562" y="1725"/>
                    <a:pt x="3800" y="1725"/>
                  </a:cubicBezTo>
                  <a:lnTo>
                    <a:pt x="3999" y="1725"/>
                  </a:lnTo>
                  <a:cubicBezTo>
                    <a:pt x="4239" y="1725"/>
                    <a:pt x="4424" y="1914"/>
                    <a:pt x="4410" y="2158"/>
                  </a:cubicBezTo>
                  <a:lnTo>
                    <a:pt x="4295" y="4313"/>
                  </a:lnTo>
                  <a:close/>
                  <a:moveTo>
                    <a:pt x="4295" y="4313"/>
                  </a:move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play-button_91268"/>
            <p:cNvSpPr/>
            <p:nvPr/>
          </p:nvSpPr>
          <p:spPr>
            <a:xfrm>
              <a:off x="9621286" y="4727994"/>
              <a:ext cx="609685" cy="608766"/>
            </a:xfrm>
            <a:custGeom>
              <a:avLst/>
              <a:gdLst>
                <a:gd name="T0" fmla="*/ 267 w 533"/>
                <a:gd name="T1" fmla="*/ 0 h 533"/>
                <a:gd name="T2" fmla="*/ 0 w 533"/>
                <a:gd name="T3" fmla="*/ 267 h 533"/>
                <a:gd name="T4" fmla="*/ 267 w 533"/>
                <a:gd name="T5" fmla="*/ 533 h 533"/>
                <a:gd name="T6" fmla="*/ 533 w 533"/>
                <a:gd name="T7" fmla="*/ 267 h 533"/>
                <a:gd name="T8" fmla="*/ 267 w 533"/>
                <a:gd name="T9" fmla="*/ 0 h 533"/>
                <a:gd name="T10" fmla="*/ 356 w 533"/>
                <a:gd name="T11" fmla="*/ 285 h 533"/>
                <a:gd name="T12" fmla="*/ 199 w 533"/>
                <a:gd name="T13" fmla="*/ 376 h 533"/>
                <a:gd name="T14" fmla="*/ 167 w 533"/>
                <a:gd name="T15" fmla="*/ 357 h 533"/>
                <a:gd name="T16" fmla="*/ 167 w 533"/>
                <a:gd name="T17" fmla="*/ 176 h 533"/>
                <a:gd name="T18" fmla="*/ 199 w 533"/>
                <a:gd name="T19" fmla="*/ 157 h 533"/>
                <a:gd name="T20" fmla="*/ 356 w 533"/>
                <a:gd name="T21" fmla="*/ 248 h 533"/>
                <a:gd name="T22" fmla="*/ 356 w 533"/>
                <a:gd name="T23" fmla="*/ 285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3" h="533">
                  <a:moveTo>
                    <a:pt x="267" y="0"/>
                  </a:moveTo>
                  <a:cubicBezTo>
                    <a:pt x="119" y="0"/>
                    <a:pt x="0" y="119"/>
                    <a:pt x="0" y="267"/>
                  </a:cubicBezTo>
                  <a:cubicBezTo>
                    <a:pt x="0" y="414"/>
                    <a:pt x="119" y="533"/>
                    <a:pt x="267" y="533"/>
                  </a:cubicBezTo>
                  <a:cubicBezTo>
                    <a:pt x="414" y="533"/>
                    <a:pt x="533" y="414"/>
                    <a:pt x="533" y="267"/>
                  </a:cubicBezTo>
                  <a:cubicBezTo>
                    <a:pt x="533" y="119"/>
                    <a:pt x="414" y="0"/>
                    <a:pt x="267" y="0"/>
                  </a:cubicBezTo>
                  <a:close/>
                  <a:moveTo>
                    <a:pt x="356" y="285"/>
                  </a:moveTo>
                  <a:lnTo>
                    <a:pt x="199" y="376"/>
                  </a:lnTo>
                  <a:cubicBezTo>
                    <a:pt x="185" y="384"/>
                    <a:pt x="167" y="374"/>
                    <a:pt x="167" y="357"/>
                  </a:cubicBezTo>
                  <a:lnTo>
                    <a:pt x="167" y="176"/>
                  </a:lnTo>
                  <a:cubicBezTo>
                    <a:pt x="167" y="160"/>
                    <a:pt x="185" y="149"/>
                    <a:pt x="199" y="157"/>
                  </a:cubicBezTo>
                  <a:lnTo>
                    <a:pt x="356" y="248"/>
                  </a:lnTo>
                  <a:cubicBezTo>
                    <a:pt x="370" y="256"/>
                    <a:pt x="370" y="277"/>
                    <a:pt x="356" y="285"/>
                  </a:cubicBezTo>
                  <a:close/>
                </a:path>
              </a:pathLst>
            </a:cu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组合 95"/>
          <p:cNvGrpSpPr/>
          <p:nvPr/>
        </p:nvGrpSpPr>
        <p:grpSpPr>
          <a:xfrm>
            <a:off x="695960" y="2163445"/>
            <a:ext cx="482600" cy="145415"/>
            <a:chOff x="1339" y="8078"/>
            <a:chExt cx="760" cy="229"/>
          </a:xfrm>
        </p:grpSpPr>
        <p:sp>
          <p:nvSpPr>
            <p:cNvPr id="97" name="椭圆 96"/>
            <p:cNvSpPr/>
            <p:nvPr>
              <p:custDataLst>
                <p:tags r:id="rId6"/>
              </p:custDataLst>
            </p:nvPr>
          </p:nvSpPr>
          <p:spPr>
            <a:xfrm rot="16200000">
              <a:off x="133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98" name="椭圆 97"/>
            <p:cNvSpPr/>
            <p:nvPr>
              <p:custDataLst>
                <p:tags r:id="rId7"/>
              </p:custDataLst>
            </p:nvPr>
          </p:nvSpPr>
          <p:spPr>
            <a:xfrm rot="16200000">
              <a:off x="1959" y="8127"/>
              <a:ext cx="140" cy="140"/>
            </a:xfrm>
            <a:prstGeom prst="ellipse">
              <a:avLst/>
            </a:prstGeom>
            <a:solidFill>
              <a:srgbClr val="00256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sp>
          <p:nvSpPr>
            <p:cNvPr id="99" name="椭圆 98"/>
            <p:cNvSpPr/>
            <p:nvPr>
              <p:custDataLst>
                <p:tags r:id="rId8"/>
              </p:custDataLst>
            </p:nvPr>
          </p:nvSpPr>
          <p:spPr>
            <a:xfrm rot="16200000">
              <a:off x="1609" y="8078"/>
              <a:ext cx="229" cy="229"/>
            </a:xfrm>
            <a:prstGeom prst="ellipse">
              <a:avLst/>
            </a:prstGeom>
            <a:solidFill>
              <a:srgbClr val="ED7D3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rtlCol="0" anchor="ctr">
              <a:noAutofit/>
            </a:bodyPr>
            <a:lstStyle/>
            <a:p>
              <a:pPr algn="ctr"/>
              <a:endParaRPr lang="zh-CN" altLang="en-US" kern="0">
                <a:solidFill>
                  <a:srgbClr val="3D485D"/>
                </a:solidFill>
                <a:latin typeface="思源黑体 CN Normal" panose="020B0400000000000000" pitchFamily="34" charset="-122"/>
                <a:ea typeface="思源黑体 CN Medium" panose="020B0600000000000000" pitchFamily="34" charset="-122"/>
                <a:sym typeface="思源黑体 CN Normal" panose="020B0400000000000000" pitchFamily="34" charset="-122"/>
              </a:endParaRPr>
            </a:p>
          </p:txBody>
        </p:sp>
      </p:grpSp>
      <p:pic>
        <p:nvPicPr>
          <p:cNvPr id="16" name="图片 15"/>
          <p:cNvPicPr>
            <a:picLocks noChangeAspect="1"/>
          </p:cNvPicPr>
          <p:nvPr>
            <p:custDataLst>
              <p:tags r:id="rId5"/>
            </p:custDataLst>
          </p:nvPr>
        </p:nvPicPr>
        <p:blipFill>
          <a:blip r:embed="rId10"/>
          <a:stretch>
            <a:fillRect/>
          </a:stretch>
        </p:blipFill>
        <p:spPr>
          <a:xfrm>
            <a:off x="7499985" y="2397125"/>
            <a:ext cx="2743835" cy="257048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afterEffect">
                                  <p:stCondLst>
                                    <p:cond delay="0"/>
                                  </p:stCondLst>
                                  <p:iterate type="lt">
                                    <p:tmPct val="10000"/>
                                  </p:iterate>
                                  <p:childTnLst>
                                    <p:set>
                                      <p:cBhvr>
                                        <p:cTn id="6" dur="1" fill="hold">
                                          <p:stCondLst>
                                            <p:cond delay="0"/>
                                          </p:stCondLst>
                                        </p:cTn>
                                        <p:tgtEl>
                                          <p:spTgt spid="83"/>
                                        </p:tgtEl>
                                        <p:attrNameLst>
                                          <p:attrName>style.visibility</p:attrName>
                                        </p:attrNameLst>
                                      </p:cBhvr>
                                      <p:to>
                                        <p:strVal val="visible"/>
                                      </p:to>
                                    </p:set>
                                    <p:anim to="" calcmode="lin" valueType="num">
                                      <p:cBhvr>
                                        <p:cTn id="7" dur="700" fill="hold">
                                          <p:stCondLst>
                                            <p:cond delay="0"/>
                                          </p:stCondLst>
                                        </p:cTn>
                                        <p:tgtEl>
                                          <p:spTgt spid="83"/>
                                        </p:tgtEl>
                                        <p:attrNameLst>
                                          <p:attrName>ppt_y</p:attrName>
                                        </p:attrNameLst>
                                      </p:cBhvr>
                                      <p:tavLst>
                                        <p:tav tm="0" fmla="#ppt_y+#ppt_h/2*((1.5-1.5*$)^3-(1.5-1.5*$)^2)*8/9">
                                          <p:val>
                                            <p:fltVal val="0"/>
                                          </p:val>
                                        </p:tav>
                                        <p:tav tm="100000">
                                          <p:val>
                                            <p:fltVal val="1"/>
                                          </p:val>
                                        </p:tav>
                                      </p:tavLst>
                                    </p:anim>
                                    <p:anim to="" calcmode="lin" valueType="num">
                                      <p:cBhvr>
                                        <p:cTn id="8" dur="700" fill="hold">
                                          <p:stCondLst>
                                            <p:cond delay="0"/>
                                          </p:stCondLst>
                                        </p:cTn>
                                        <p:tgtEl>
                                          <p:spTgt spid="83"/>
                                        </p:tgtEl>
                                        <p:attrNameLst>
                                          <p:attrName>ppt_h</p:attrName>
                                        </p:attrNameLst>
                                      </p:cBhvr>
                                      <p:tavLst>
                                        <p:tav tm="0" fmla="#ppt_h-#ppt_h*((1.5-1.5*$)^3-(1.5-1.5*$)^2)">
                                          <p:val>
                                            <p:fltVal val="0"/>
                                          </p:val>
                                        </p:tav>
                                        <p:tav tm="100000">
                                          <p:val>
                                            <p:fltVal val="1"/>
                                          </p:val>
                                        </p:tav>
                                      </p:tavLst>
                                    </p:anim>
                                    <p:animEffect filter="fade">
                                      <p:cBhvr>
                                        <p:cTn id="9" dur="700">
                                          <p:stCondLst>
                                            <p:cond delay="0"/>
                                          </p:stCondLst>
                                        </p:cTn>
                                        <p:tgtEl>
                                          <p:spTgt spid="83"/>
                                        </p:tgtEl>
                                      </p:cBhvr>
                                    </p:animEffect>
                                  </p:childTnLst>
                                </p:cTn>
                              </p:par>
                            </p:childTnLst>
                          </p:cTn>
                        </p:par>
                        <p:par>
                          <p:cTn id="10" fill="hold">
                            <p:stCondLst>
                              <p:cond delay="1539"/>
                            </p:stCondLst>
                            <p:childTnLst>
                              <p:par>
                                <p:cTn id="11" presetID="42" presetClass="entr" presetSubtype="0" fill="hold" grpId="0" nodeType="afterEffect">
                                  <p:stCondLst>
                                    <p:cond delay="0"/>
                                  </p:stCondLst>
                                  <p:childTnLst>
                                    <p:set>
                                      <p:cBhvr>
                                        <p:cTn id="12" dur="1" fill="hold">
                                          <p:stCondLst>
                                            <p:cond delay="0"/>
                                          </p:stCondLst>
                                        </p:cTn>
                                        <p:tgtEl>
                                          <p:spTgt spid="84"/>
                                        </p:tgtEl>
                                        <p:attrNameLst>
                                          <p:attrName>style.visibility</p:attrName>
                                        </p:attrNameLst>
                                      </p:cBhvr>
                                      <p:to>
                                        <p:strVal val="visible"/>
                                      </p:to>
                                    </p:set>
                                    <p:animEffect transition="in" filter="fade">
                                      <p:cBhvr>
                                        <p:cTn id="13" dur="1000"/>
                                        <p:tgtEl>
                                          <p:spTgt spid="84"/>
                                        </p:tgtEl>
                                      </p:cBhvr>
                                    </p:animEffect>
                                    <p:anim calcmode="lin" valueType="num">
                                      <p:cBhvr>
                                        <p:cTn id="14" dur="1000" fill="hold"/>
                                        <p:tgtEl>
                                          <p:spTgt spid="84"/>
                                        </p:tgtEl>
                                        <p:attrNameLst>
                                          <p:attrName>ppt_x</p:attrName>
                                        </p:attrNameLst>
                                      </p:cBhvr>
                                      <p:tavLst>
                                        <p:tav tm="0">
                                          <p:val>
                                            <p:strVal val="#ppt_x"/>
                                          </p:val>
                                        </p:tav>
                                        <p:tav tm="100000">
                                          <p:val>
                                            <p:strVal val="#ppt_x"/>
                                          </p:val>
                                        </p:tav>
                                      </p:tavLst>
                                    </p:anim>
                                    <p:anim calcmode="lin" valueType="num">
                                      <p:cBhvr>
                                        <p:cTn id="15" dur="1000" fill="hold"/>
                                        <p:tgtEl>
                                          <p:spTgt spid="84"/>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86"/>
                                        </p:tgtEl>
                                        <p:attrNameLst>
                                          <p:attrName>style.visibility</p:attrName>
                                        </p:attrNameLst>
                                      </p:cBhvr>
                                      <p:to>
                                        <p:strVal val="visible"/>
                                      </p:to>
                                    </p:set>
                                    <p:animEffect transition="in" filter="fade">
                                      <p:cBhvr>
                                        <p:cTn id="18" dur="1000"/>
                                        <p:tgtEl>
                                          <p:spTgt spid="86"/>
                                        </p:tgtEl>
                                      </p:cBhvr>
                                    </p:animEffect>
                                    <p:anim calcmode="lin" valueType="num">
                                      <p:cBhvr>
                                        <p:cTn id="19" dur="1000" fill="hold"/>
                                        <p:tgtEl>
                                          <p:spTgt spid="86"/>
                                        </p:tgtEl>
                                        <p:attrNameLst>
                                          <p:attrName>ppt_x</p:attrName>
                                        </p:attrNameLst>
                                      </p:cBhvr>
                                      <p:tavLst>
                                        <p:tav tm="0">
                                          <p:val>
                                            <p:strVal val="#ppt_x"/>
                                          </p:val>
                                        </p:tav>
                                        <p:tav tm="100000">
                                          <p:val>
                                            <p:strVal val="#ppt_x"/>
                                          </p:val>
                                        </p:tav>
                                      </p:tavLst>
                                    </p:anim>
                                    <p:anim calcmode="lin" valueType="num">
                                      <p:cBhvr>
                                        <p:cTn id="20" dur="1000" fill="hold"/>
                                        <p:tgtEl>
                                          <p:spTgt spid="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bldLvl="0" animBg="1"/>
      <p:bldP spid="84" grpId="0" bldLvl="0" animBg="1"/>
      <p:bldP spid="8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ZiMmNiMjBhODhhNzk3MjBiMjM1MzUzMzI3ZDg5ZWYifQ=="/>
</p:tagLst>
</file>

<file path=ppt/tags/tag2.xml><?xml version="1.0" encoding="utf-8"?>
<p:tagLst xmlns:a="http://schemas.openxmlformats.org/drawingml/2006/main" xmlns:r="http://schemas.openxmlformats.org/officeDocument/2006/relationships" xmlns:p="http://schemas.openxmlformats.org/presentationml/2006/main">
  <p:tag name="ISLIDE.ICON" val="#176715;"/>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ISLIDE.ICON" val="#176715;"/>
</p:tagLst>
</file>

<file path=ppt/tags/tag146.xml><?xml version="1.0" encoding="utf-8"?>
<p:tagLst xmlns:a="http://schemas.openxmlformats.org/drawingml/2006/main" xmlns:r="http://schemas.openxmlformats.org/officeDocument/2006/relationships" xmlns:p="http://schemas.openxmlformats.org/presentationml/2006/main">
  <p:tag name="PA" val="v5.2.11"/>
  <p:tag name="RESOURCELIBID_ANIM" val="439"/>
</p:tagLst>
</file>

<file path=ppt/tags/tag147.xml><?xml version="1.0" encoding="utf-8"?>
<p:tagLst xmlns:a="http://schemas.openxmlformats.org/drawingml/2006/main" xmlns:r="http://schemas.openxmlformats.org/officeDocument/2006/relationships" xmlns:p="http://schemas.openxmlformats.org/presentationml/2006/main">
  <p:tag name="PA" val="v3.0.1"/>
</p:tagLst>
</file>

<file path=ppt/tags/tag148.xml><?xml version="1.0" encoding="utf-8"?>
<p:tagLst xmlns:a="http://schemas.openxmlformats.org/drawingml/2006/main" xmlns:r="http://schemas.openxmlformats.org/officeDocument/2006/relationships" xmlns:p="http://schemas.openxmlformats.org/presentationml/2006/main">
  <p:tag name="PA" val="v3.0.1"/>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PA" val="v5.2.11"/>
</p:tagLst>
</file>

<file path=ppt/tags/tag151.xml><?xml version="1.0" encoding="utf-8"?>
<p:tagLst xmlns:a="http://schemas.openxmlformats.org/drawingml/2006/main" xmlns:r="http://schemas.openxmlformats.org/officeDocument/2006/relationships" xmlns:p="http://schemas.openxmlformats.org/presentationml/2006/main">
  <p:tag name="PA" val="v5.2.11"/>
</p:tagLst>
</file>

<file path=ppt/tags/tag152.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15765</Words>
  <Application>Microsoft Office PowerPoint</Application>
  <PresentationFormat>宽屏</PresentationFormat>
  <Paragraphs>1004</Paragraphs>
  <Slides>98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98</vt:i4>
      </vt:variant>
    </vt:vector>
  </HeadingPairs>
  <TitlesOfParts>
    <vt:vector size="109" baseType="lpstr">
      <vt:lpstr>黑体</vt:lpstr>
      <vt:lpstr>思源黑体 CN Bold</vt:lpstr>
      <vt:lpstr>思源黑体 CN Medium</vt:lpstr>
      <vt:lpstr>思源黑体 CN Normal</vt:lpstr>
      <vt:lpstr>思源黑体 CN Regular</vt:lpstr>
      <vt:lpstr>微软雅黑</vt:lpstr>
      <vt:lpstr>Arial</vt:lpstr>
      <vt:lpstr>Arial Black</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柯媛媛</dc:creator>
  <cp:lastModifiedBy>WEIGUO WU</cp:lastModifiedBy>
  <cp:revision>240</cp:revision>
  <dcterms:created xsi:type="dcterms:W3CDTF">2019-09-19T02:01:00Z</dcterms:created>
  <dcterms:modified xsi:type="dcterms:W3CDTF">2026-08-28T13:01:18Z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2052-12.1.0.16250</vt:lpwstr>
  </property>
  <property fmtid="{D5CDD505-2E9C-101B-9397-08002B2CF9AE}" pid="3" name="ICV">
    <vt:lpwstr>B4336ABF8D4B43BBBB25AAA0743935E4_12</vt:lpwstr>
  </property>
</Properties>
</file>