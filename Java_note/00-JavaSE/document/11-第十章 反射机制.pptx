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34" r:id="rId3"/>
    <p:sldId id="535" r:id="rId4"/>
    <p:sldId id="536" r:id="rId5"/>
    <p:sldId id="537" r:id="rId6"/>
    <p:sldId id="546" r:id="rId7"/>
    <p:sldId id="550" r:id="rId8"/>
    <p:sldId id="551" r:id="rId9"/>
    <p:sldId id="547" r:id="rId10"/>
    <p:sldId id="548" r:id="rId11"/>
    <p:sldId id="549" r:id="rId12"/>
    <p:sldId id="552" r:id="rId13"/>
    <p:sldId id="530" r:id="rId14"/>
    <p:sldId id="522" r:id="rId15"/>
    <p:sldId id="531" r:id="rId16"/>
    <p:sldId id="532" r:id="rId17"/>
    <p:sldId id="553" r:id="rId18"/>
  </p:sldIdLst>
  <p:sldSz cx="12192000" cy="6858000"/>
  <p:notesSz cx="7103745" cy="10234295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7" userDrawn="1">
          <p15:clr>
            <a:srgbClr val="A4A3A4"/>
          </p15:clr>
        </p15:guide>
        <p15:guide id="2" pos="3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2562"/>
    <a:srgbClr val="ED7D31"/>
    <a:srgbClr val="01255A"/>
    <a:srgbClr val="002358"/>
    <a:srgbClr val="001D52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5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608" y="192"/>
      </p:cViewPr>
      <p:guideLst>
        <p:guide orient="horz" pos="2297"/>
        <p:guide pos="375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6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3.png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3.png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4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5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5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5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5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5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5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tags" Target="../tags/tag5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tags" Target="../tags/tag5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flipH="1">
            <a:off x="-22225" y="-1270"/>
            <a:ext cx="8779726" cy="6858000"/>
            <a:chOff x="5374" y="0"/>
            <a:chExt cx="13826" cy="10800"/>
          </a:xfrm>
        </p:grpSpPr>
        <p:sp>
          <p:nvSpPr>
            <p:cNvPr id="9" name="任意多边形 8"/>
            <p:cNvSpPr/>
            <p:nvPr/>
          </p:nvSpPr>
          <p:spPr>
            <a:xfrm flipH="1">
              <a:off x="5374" y="0"/>
              <a:ext cx="12808" cy="10800"/>
            </a:xfrm>
            <a:custGeom>
              <a:avLst/>
              <a:gdLst>
                <a:gd name="connsiteX0" fmla="*/ 1274956 w 8132956"/>
                <a:gd name="connsiteY0" fmla="*/ 0 h 6858000"/>
                <a:gd name="connsiteX1" fmla="*/ 0 w 8132956"/>
                <a:gd name="connsiteY1" fmla="*/ 0 h 6858000"/>
                <a:gd name="connsiteX2" fmla="*/ 0 w 8132956"/>
                <a:gd name="connsiteY2" fmla="*/ 6858000 h 6858000"/>
                <a:gd name="connsiteX3" fmla="*/ 8132956 w 813295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32956" h="6858000">
                  <a:moveTo>
                    <a:pt x="127495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2956" y="685800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 flipH="1">
              <a:off x="6392" y="0"/>
              <a:ext cx="12808" cy="10800"/>
            </a:xfrm>
            <a:custGeom>
              <a:avLst/>
              <a:gdLst>
                <a:gd name="connsiteX0" fmla="*/ 1274956 w 8132956"/>
                <a:gd name="connsiteY0" fmla="*/ 0 h 6858000"/>
                <a:gd name="connsiteX1" fmla="*/ 0 w 8132956"/>
                <a:gd name="connsiteY1" fmla="*/ 0 h 6858000"/>
                <a:gd name="connsiteX2" fmla="*/ 0 w 8132956"/>
                <a:gd name="connsiteY2" fmla="*/ 6858000 h 6858000"/>
                <a:gd name="connsiteX3" fmla="*/ 8132956 w 813295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32956" h="6858000">
                  <a:moveTo>
                    <a:pt x="127495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2956" y="68580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直角三角形 4"/>
            <p:cNvSpPr/>
            <p:nvPr/>
          </p:nvSpPr>
          <p:spPr>
            <a:xfrm flipH="1">
              <a:off x="12012" y="3612"/>
              <a:ext cx="7188" cy="7188"/>
            </a:xfrm>
            <a:prstGeom prst="rtTriangle">
              <a:avLst/>
            </a:pr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1501" y="2083"/>
              <a:ext cx="5665" cy="5629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noFill/>
              <a:prstDash val="solid"/>
              <a:miter lim="800000"/>
            </a:ln>
            <a:effectLst>
              <a:outerShdw blurRad="939800" dist="266700" sx="99000" sy="99000" algn="ctr" rotWithShape="0">
                <a:schemeClr val="accent1">
                  <a:lumMod val="5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1726" y="2350"/>
              <a:ext cx="5232" cy="5163"/>
            </a:xfrm>
            <a:prstGeom prst="ellipse">
              <a:avLst/>
            </a:prstGeom>
            <a:noFill/>
            <a:ln>
              <a:solidFill>
                <a:srgbClr val="2C3173">
                  <a:alpha val="3200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1459B"/>
                </a:solidFill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16992" y="9260"/>
              <a:ext cx="923" cy="386"/>
              <a:chOff x="8225" y="1632"/>
              <a:chExt cx="923" cy="386"/>
            </a:xfrm>
            <a:solidFill>
              <a:srgbClr val="ED7D31"/>
            </a:solidFill>
          </p:grpSpPr>
          <p:grpSp>
            <p:nvGrpSpPr>
              <p:cNvPr id="52" name="组合 51"/>
              <p:cNvGrpSpPr/>
              <p:nvPr/>
            </p:nvGrpSpPr>
            <p:grpSpPr>
              <a:xfrm>
                <a:off x="8225" y="1632"/>
                <a:ext cx="416" cy="387"/>
                <a:chOff x="4218240" y="1782762"/>
                <a:chExt cx="525790" cy="489777"/>
              </a:xfrm>
              <a:grpFill/>
            </p:grpSpPr>
            <p:sp>
              <p:nvSpPr>
                <p:cNvPr id="53" name="椭圆 52"/>
                <p:cNvSpPr/>
                <p:nvPr/>
              </p:nvSpPr>
              <p:spPr>
                <a:xfrm>
                  <a:off x="4218240" y="1782762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>
                  <a:off x="4437920" y="1782762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>
                  <a:off x="4657599" y="1782762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4218240" y="1984435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4437920" y="1984435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4657599" y="1984435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4218240" y="2186108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4437920" y="2186108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4657599" y="2186108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8732" y="1632"/>
                <a:ext cx="416" cy="387"/>
                <a:chOff x="4218240" y="1782762"/>
                <a:chExt cx="525790" cy="489777"/>
              </a:xfrm>
              <a:grpFill/>
            </p:grpSpPr>
            <p:sp>
              <p:nvSpPr>
                <p:cNvPr id="63" name="椭圆 62"/>
                <p:cNvSpPr/>
                <p:nvPr/>
              </p:nvSpPr>
              <p:spPr>
                <a:xfrm>
                  <a:off x="4218240" y="1782762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4437920" y="1782762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>
                  <a:off x="4657599" y="1782762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4218240" y="1984435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椭圆 69"/>
                <p:cNvSpPr/>
                <p:nvPr/>
              </p:nvSpPr>
              <p:spPr>
                <a:xfrm>
                  <a:off x="4437920" y="1984435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4657599" y="1984435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4218240" y="2186108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椭圆 75"/>
                <p:cNvSpPr/>
                <p:nvPr/>
              </p:nvSpPr>
              <p:spPr>
                <a:xfrm>
                  <a:off x="4437920" y="2186108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椭圆 80"/>
                <p:cNvSpPr/>
                <p:nvPr/>
              </p:nvSpPr>
              <p:spPr>
                <a:xfrm>
                  <a:off x="4657599" y="2186108"/>
                  <a:ext cx="86431" cy="8643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3810" y="5756275"/>
            <a:ext cx="7391400" cy="1781175"/>
          </a:xfrm>
          <a:prstGeom prst="rect">
            <a:avLst/>
          </a:prstGeom>
        </p:spPr>
      </p:pic>
      <p:cxnSp>
        <p:nvCxnSpPr>
          <p:cNvPr id="21" name="图形"/>
          <p:cNvCxnSpPr/>
          <p:nvPr/>
        </p:nvCxnSpPr>
        <p:spPr>
          <a:xfrm>
            <a:off x="6576002" y="2869771"/>
            <a:ext cx="102919" cy="8736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图形"/>
          <p:cNvCxnSpPr/>
          <p:nvPr/>
        </p:nvCxnSpPr>
        <p:spPr>
          <a:xfrm flipH="1">
            <a:off x="6576002" y="2957132"/>
            <a:ext cx="102919" cy="8736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A-文本框 88"/>
          <p:cNvSpPr txBox="1"/>
          <p:nvPr>
            <p:custDataLst>
              <p:tags r:id="rId2"/>
            </p:custDataLst>
          </p:nvPr>
        </p:nvSpPr>
        <p:spPr>
          <a:xfrm>
            <a:off x="6004560" y="2630170"/>
            <a:ext cx="3609975" cy="830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第十章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反射机制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-175895" y="-695325"/>
            <a:ext cx="7391400" cy="1781175"/>
          </a:xfrm>
          <a:prstGeom prst="rect">
            <a:avLst/>
          </a:prstGeom>
        </p:spPr>
      </p:pic>
      <p:sp>
        <p:nvSpPr>
          <p:cNvPr id="2" name="PA-文本框 88"/>
          <p:cNvSpPr txBox="1"/>
          <p:nvPr>
            <p:custDataLst>
              <p:tags r:id="rId3"/>
            </p:custDataLst>
          </p:nvPr>
        </p:nvSpPr>
        <p:spPr>
          <a:xfrm>
            <a:off x="7147252" y="5629442"/>
            <a:ext cx="4303583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动力节点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-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老杜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28324" y="1993202"/>
            <a:ext cx="2250665" cy="2108039"/>
          </a:xfrm>
          <a:prstGeom prst="rect">
            <a:avLst/>
          </a:prstGeom>
        </p:spPr>
      </p:pic>
      <p:pic>
        <p:nvPicPr>
          <p:cNvPr id="3" name="图片 2" descr="5d0495981e06a4beefc1a7ac3c41024d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8628123" y="4047329"/>
            <a:ext cx="482600" cy="145415"/>
            <a:chOff x="1339" y="8078"/>
            <a:chExt cx="760" cy="229"/>
          </a:xfrm>
        </p:grpSpPr>
        <p:sp>
          <p:nvSpPr>
            <p:cNvPr id="44" name="椭圆 43"/>
            <p:cNvSpPr/>
            <p:nvPr>
              <p:custDataLst>
                <p:tags r:id="rId8"/>
              </p:custDataLst>
            </p:nvPr>
          </p:nvSpPr>
          <p:spPr>
            <a:xfrm rot="16200000">
              <a:off x="1339" y="8127"/>
              <a:ext cx="140" cy="140"/>
            </a:xfrm>
            <a:prstGeom prst="ellipse">
              <a:avLst/>
            </a:prstGeom>
            <a:solidFill>
              <a:srgbClr val="002562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kern="0">
                <a:solidFill>
                  <a:srgbClr val="3D485D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5" name="椭圆 44"/>
            <p:cNvSpPr/>
            <p:nvPr>
              <p:custDataLst>
                <p:tags r:id="rId9"/>
              </p:custDataLst>
            </p:nvPr>
          </p:nvSpPr>
          <p:spPr>
            <a:xfrm rot="16200000">
              <a:off x="1959" y="8127"/>
              <a:ext cx="140" cy="140"/>
            </a:xfrm>
            <a:prstGeom prst="ellipse">
              <a:avLst/>
            </a:prstGeom>
            <a:solidFill>
              <a:srgbClr val="002562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kern="0">
                <a:solidFill>
                  <a:srgbClr val="3D485D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6" name="椭圆 45"/>
            <p:cNvSpPr/>
            <p:nvPr>
              <p:custDataLst>
                <p:tags r:id="rId10"/>
              </p:custDataLst>
            </p:nvPr>
          </p:nvSpPr>
          <p:spPr>
            <a:xfrm rot="16200000">
              <a:off x="1609" y="8078"/>
              <a:ext cx="229" cy="229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kern="0">
                <a:solidFill>
                  <a:srgbClr val="3D485D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976125" y="2537605"/>
            <a:ext cx="10108667" cy="3155928"/>
            <a:chOff x="1037721" y="2414315"/>
            <a:chExt cx="10108667" cy="3155928"/>
          </a:xfrm>
        </p:grpSpPr>
        <p:cxnSp>
          <p:nvCxnSpPr>
            <p:cNvPr id="4" name="直接连接符 3"/>
            <p:cNvCxnSpPr/>
            <p:nvPr>
              <p:custDataLst>
                <p:tags r:id="rId2"/>
              </p:custDataLst>
            </p:nvPr>
          </p:nvCxnSpPr>
          <p:spPr>
            <a:xfrm>
              <a:off x="9042935" y="2414315"/>
              <a:ext cx="0" cy="315592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>
              <a:off x="6092053" y="2414315"/>
              <a:ext cx="0" cy="315592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>
              <p:custDataLst>
                <p:tags r:id="rId4"/>
              </p:custDataLst>
            </p:nvPr>
          </p:nvCxnSpPr>
          <p:spPr>
            <a:xfrm>
              <a:off x="3141171" y="2414315"/>
              <a:ext cx="0" cy="315592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í$ļíḋê"/>
            <p:cNvSpPr/>
            <p:nvPr>
              <p:custDataLst>
                <p:tags r:id="rId5"/>
              </p:custDataLst>
            </p:nvPr>
          </p:nvSpPr>
          <p:spPr bwMode="auto">
            <a:xfrm rot="5400000">
              <a:off x="1642872" y="3566356"/>
              <a:ext cx="45718" cy="1256019"/>
            </a:xfrm>
            <a:prstGeom prst="rect">
              <a:avLst/>
            </a:prstGeom>
            <a:solidFill>
              <a:srgbClr val="01255A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>
                <a:gradFill>
                  <a:gsLst>
                    <a:gs pos="0">
                      <a:srgbClr val="85C04A"/>
                    </a:gs>
                    <a:gs pos="100000">
                      <a:srgbClr val="3C9A47"/>
                    </a:gs>
                  </a:gsLst>
                  <a:lin ang="2700000" scaled="1"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3" name="í$ļîdè"/>
            <p:cNvSpPr/>
            <p:nvPr>
              <p:custDataLst>
                <p:tags r:id="rId6"/>
              </p:custDataLst>
            </p:nvPr>
          </p:nvSpPr>
          <p:spPr bwMode="auto">
            <a:xfrm rot="5400000">
              <a:off x="4593754" y="3552984"/>
              <a:ext cx="45718" cy="1256019"/>
            </a:xfrm>
            <a:prstGeom prst="rect">
              <a:avLst/>
            </a:prstGeom>
            <a:solidFill>
              <a:srgbClr val="ED7D31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>
                <a:gradFill>
                  <a:gsLst>
                    <a:gs pos="0">
                      <a:srgbClr val="85C04A"/>
                    </a:gs>
                    <a:gs pos="100000">
                      <a:srgbClr val="3C9A47"/>
                    </a:gs>
                  </a:gsLst>
                  <a:lin ang="2700000" scaled="1"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5" name="ïṥliḋè"/>
            <p:cNvSpPr/>
            <p:nvPr>
              <p:custDataLst>
                <p:tags r:id="rId7"/>
              </p:custDataLst>
            </p:nvPr>
          </p:nvSpPr>
          <p:spPr bwMode="auto">
            <a:xfrm rot="5400000">
              <a:off x="7544636" y="3566357"/>
              <a:ext cx="45718" cy="1256019"/>
            </a:xfrm>
            <a:prstGeom prst="rect">
              <a:avLst/>
            </a:prstGeom>
            <a:solidFill>
              <a:srgbClr val="01255A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>
                <a:gradFill>
                  <a:gsLst>
                    <a:gs pos="0">
                      <a:srgbClr val="85C04A"/>
                    </a:gs>
                    <a:gs pos="100000">
                      <a:srgbClr val="3C9A47"/>
                    </a:gs>
                  </a:gsLst>
                  <a:lin ang="2700000" scaled="1"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7" name="iṩḻîḓé"/>
            <p:cNvSpPr/>
            <p:nvPr>
              <p:custDataLst>
                <p:tags r:id="rId8"/>
              </p:custDataLst>
            </p:nvPr>
          </p:nvSpPr>
          <p:spPr bwMode="auto">
            <a:xfrm rot="5400000">
              <a:off x="10495520" y="3551413"/>
              <a:ext cx="45718" cy="1256019"/>
            </a:xfrm>
            <a:prstGeom prst="rect">
              <a:avLst/>
            </a:prstGeom>
            <a:solidFill>
              <a:srgbClr val="ED7D31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>
                <a:gradFill>
                  <a:gsLst>
                    <a:gs pos="0">
                      <a:srgbClr val="85C04A"/>
                    </a:gs>
                    <a:gs pos="100000">
                      <a:srgbClr val="3C9A47"/>
                    </a:gs>
                  </a:gsLst>
                  <a:lin ang="2700000" scaled="1"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sp>
        <p:nvSpPr>
          <p:cNvPr id="38" name="矩形 37"/>
          <p:cNvSpPr/>
          <p:nvPr>
            <p:custDataLst>
              <p:tags r:id="rId9"/>
            </p:custDataLst>
          </p:nvPr>
        </p:nvSpPr>
        <p:spPr>
          <a:xfrm>
            <a:off x="405765" y="4769485"/>
            <a:ext cx="2323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反射机制概述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67" name="矩形 66"/>
          <p:cNvSpPr/>
          <p:nvPr>
            <p:custDataLst>
              <p:tags r:id="rId10"/>
            </p:custDataLst>
          </p:nvPr>
        </p:nvSpPr>
        <p:spPr>
          <a:xfrm>
            <a:off x="3316362" y="4763502"/>
            <a:ext cx="2491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获取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Class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3" name="矩形 72"/>
          <p:cNvSpPr/>
          <p:nvPr>
            <p:custDataLst>
              <p:tags r:id="rId11"/>
            </p:custDataLst>
          </p:nvPr>
        </p:nvSpPr>
        <p:spPr>
          <a:xfrm>
            <a:off x="6450330" y="4763770"/>
            <a:ext cx="22231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反射作用的体现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4" name="矩形 73"/>
          <p:cNvSpPr/>
          <p:nvPr>
            <p:custDataLst>
              <p:tags r:id="rId12"/>
            </p:custDataLst>
          </p:nvPr>
        </p:nvSpPr>
        <p:spPr>
          <a:xfrm>
            <a:off x="9451975" y="4802505"/>
            <a:ext cx="2057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反射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Field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090567" y="933562"/>
            <a:ext cx="1888642" cy="1015663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srgbClr val="01255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目录</a:t>
            </a:r>
            <a:endParaRPr kumimoji="0" lang="zh-CN" altLang="en-US" sz="6000" b="0" i="0" u="none" strike="noStrike" kern="1200" cap="none" spc="300" normalizeH="0" baseline="0" noProof="0" dirty="0">
              <a:ln>
                <a:noFill/>
              </a:ln>
              <a:solidFill>
                <a:srgbClr val="01255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062581" y="1179783"/>
            <a:ext cx="243534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CONTENTS</a:t>
            </a:r>
            <a:endParaRPr kumimoji="0" lang="en-US" altLang="zh-CN" sz="3200" b="1" i="0" u="none" strike="noStrike" kern="1200" cap="none" spc="0" normalizeH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48" name="矩形 47"/>
          <p:cNvSpPr/>
          <p:nvPr>
            <p:custDataLst>
              <p:tags r:id="rId13"/>
            </p:custDataLst>
          </p:nvPr>
        </p:nvSpPr>
        <p:spPr>
          <a:xfrm>
            <a:off x="954799" y="2985340"/>
            <a:ext cx="1299736" cy="1046440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200" b="0" i="0" u="none" strike="noStrike" kern="1200" cap="none" spc="300" normalizeH="0" baseline="0" noProof="0">
                <a:ln>
                  <a:noFill/>
                </a:ln>
                <a:solidFill>
                  <a:srgbClr val="01255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01</a:t>
            </a:r>
            <a:endParaRPr kumimoji="0" lang="en-US" altLang="zh-CN" sz="6200" b="0" i="0" u="none" strike="noStrike" kern="1200" cap="none" spc="300" normalizeH="0" baseline="0" noProof="0" dirty="0">
              <a:ln>
                <a:noFill/>
              </a:ln>
              <a:solidFill>
                <a:srgbClr val="01255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49" name="矩形 48"/>
          <p:cNvSpPr/>
          <p:nvPr>
            <p:custDataLst>
              <p:tags r:id="rId14"/>
            </p:custDataLst>
          </p:nvPr>
        </p:nvSpPr>
        <p:spPr>
          <a:xfrm>
            <a:off x="3887918" y="2983717"/>
            <a:ext cx="1299736" cy="1046440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200" b="0" i="0" u="none" strike="noStrike" kern="1200" cap="none" spc="30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02</a:t>
            </a:r>
            <a:endParaRPr kumimoji="0" lang="en-US" altLang="zh-CN" sz="6200" b="0" i="0" u="none" strike="noStrike" kern="1200" cap="none" spc="30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50" name="矩形 49"/>
          <p:cNvSpPr/>
          <p:nvPr>
            <p:custDataLst>
              <p:tags r:id="rId15"/>
            </p:custDataLst>
          </p:nvPr>
        </p:nvSpPr>
        <p:spPr>
          <a:xfrm>
            <a:off x="6851938" y="3019115"/>
            <a:ext cx="1299736" cy="1046440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200" b="0" i="0" u="none" strike="noStrike" kern="1200" cap="none" spc="300" normalizeH="0" baseline="0" noProof="0">
                <a:ln>
                  <a:noFill/>
                </a:ln>
                <a:solidFill>
                  <a:srgbClr val="01255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03</a:t>
            </a:r>
            <a:endParaRPr kumimoji="0" lang="en-US" altLang="zh-CN" sz="6200" b="0" i="0" u="none" strike="noStrike" kern="1200" cap="none" spc="300" normalizeH="0" baseline="0" noProof="0" dirty="0">
              <a:ln>
                <a:noFill/>
              </a:ln>
              <a:solidFill>
                <a:srgbClr val="01255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51" name="矩形 50"/>
          <p:cNvSpPr/>
          <p:nvPr>
            <p:custDataLst>
              <p:tags r:id="rId16"/>
            </p:custDataLst>
          </p:nvPr>
        </p:nvSpPr>
        <p:spPr>
          <a:xfrm>
            <a:off x="9785057" y="3017492"/>
            <a:ext cx="1299736" cy="1046440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200" b="0" i="0" u="none" strike="noStrike" kern="1200" cap="none" spc="30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04</a:t>
            </a:r>
            <a:endParaRPr kumimoji="0" lang="en-US" altLang="zh-CN" sz="6200" b="0" i="0" u="none" strike="noStrike" kern="1200" cap="none" spc="30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-986155" y="5693410"/>
            <a:ext cx="2044700" cy="2044700"/>
          </a:xfrm>
          <a:prstGeom prst="ellipse">
            <a:avLst/>
          </a:prstGeom>
          <a:solidFill>
            <a:srgbClr val="012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-466725" y="5224145"/>
            <a:ext cx="1005840" cy="10058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5d0495981e06a4beefc1a7ac3c41024d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8" grpId="1"/>
      <p:bldP spid="67" grpId="0"/>
      <p:bldP spid="67" grpId="1"/>
      <p:bldP spid="73" grpId="0"/>
      <p:bldP spid="73" grpId="1"/>
      <p:bldP spid="74" grpId="0"/>
      <p:bldP spid="74" grpId="1"/>
      <p:bldP spid="77" grpId="0"/>
      <p:bldP spid="77" grpId="1" bldLvl="0" animBg="1"/>
      <p:bldP spid="78" grpId="0"/>
      <p:bldP spid="78" grpId="1" bldLvl="0" animBg="1"/>
      <p:bldP spid="48" grpId="0"/>
      <p:bldP spid="48" grpId="1" bldLvl="0" animBg="1"/>
      <p:bldP spid="49" grpId="0"/>
      <p:bldP spid="49" grpId="1" bldLvl="0" animBg="1"/>
      <p:bldP spid="50" grpId="0"/>
      <p:bldP spid="50" grpId="1" bldLvl="0" animBg="1"/>
      <p:bldP spid="51" grpId="0"/>
      <p:bldP spid="51" grpId="1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976125" y="2537605"/>
            <a:ext cx="10108667" cy="3155928"/>
            <a:chOff x="1037721" y="2414315"/>
            <a:chExt cx="10108667" cy="3155928"/>
          </a:xfrm>
        </p:grpSpPr>
        <p:cxnSp>
          <p:nvCxnSpPr>
            <p:cNvPr id="4" name="直接连接符 3"/>
            <p:cNvCxnSpPr/>
            <p:nvPr>
              <p:custDataLst>
                <p:tags r:id="rId2"/>
              </p:custDataLst>
            </p:nvPr>
          </p:nvCxnSpPr>
          <p:spPr>
            <a:xfrm>
              <a:off x="9042935" y="2414315"/>
              <a:ext cx="0" cy="315592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>
              <a:off x="6092053" y="2414315"/>
              <a:ext cx="0" cy="315592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>
              <p:custDataLst>
                <p:tags r:id="rId4"/>
              </p:custDataLst>
            </p:nvPr>
          </p:nvCxnSpPr>
          <p:spPr>
            <a:xfrm>
              <a:off x="3141171" y="2414315"/>
              <a:ext cx="0" cy="315592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í$ļíḋê"/>
            <p:cNvSpPr/>
            <p:nvPr>
              <p:custDataLst>
                <p:tags r:id="rId5"/>
              </p:custDataLst>
            </p:nvPr>
          </p:nvSpPr>
          <p:spPr bwMode="auto">
            <a:xfrm rot="5400000">
              <a:off x="1642872" y="3566356"/>
              <a:ext cx="45718" cy="1256019"/>
            </a:xfrm>
            <a:prstGeom prst="rect">
              <a:avLst/>
            </a:prstGeom>
            <a:solidFill>
              <a:srgbClr val="01255A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>
                <a:gradFill>
                  <a:gsLst>
                    <a:gs pos="0">
                      <a:srgbClr val="85C04A"/>
                    </a:gs>
                    <a:gs pos="100000">
                      <a:srgbClr val="3C9A47"/>
                    </a:gs>
                  </a:gsLst>
                  <a:lin ang="2700000" scaled="1"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3" name="í$ļîdè"/>
            <p:cNvSpPr/>
            <p:nvPr>
              <p:custDataLst>
                <p:tags r:id="rId6"/>
              </p:custDataLst>
            </p:nvPr>
          </p:nvSpPr>
          <p:spPr bwMode="auto">
            <a:xfrm rot="5400000">
              <a:off x="4593754" y="3552984"/>
              <a:ext cx="45718" cy="1256019"/>
            </a:xfrm>
            <a:prstGeom prst="rect">
              <a:avLst/>
            </a:prstGeom>
            <a:solidFill>
              <a:srgbClr val="ED7D31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>
                <a:gradFill>
                  <a:gsLst>
                    <a:gs pos="0">
                      <a:srgbClr val="85C04A"/>
                    </a:gs>
                    <a:gs pos="100000">
                      <a:srgbClr val="3C9A47"/>
                    </a:gs>
                  </a:gsLst>
                  <a:lin ang="2700000" scaled="1"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5" name="ïṥliḋè"/>
            <p:cNvSpPr/>
            <p:nvPr>
              <p:custDataLst>
                <p:tags r:id="rId7"/>
              </p:custDataLst>
            </p:nvPr>
          </p:nvSpPr>
          <p:spPr bwMode="auto">
            <a:xfrm rot="5400000">
              <a:off x="7544636" y="3566357"/>
              <a:ext cx="45718" cy="1256019"/>
            </a:xfrm>
            <a:prstGeom prst="rect">
              <a:avLst/>
            </a:prstGeom>
            <a:solidFill>
              <a:srgbClr val="01255A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>
                <a:gradFill>
                  <a:gsLst>
                    <a:gs pos="0">
                      <a:srgbClr val="85C04A"/>
                    </a:gs>
                    <a:gs pos="100000">
                      <a:srgbClr val="3C9A47"/>
                    </a:gs>
                  </a:gsLst>
                  <a:lin ang="2700000" scaled="1"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7" name="iṩḻîḓé"/>
            <p:cNvSpPr/>
            <p:nvPr>
              <p:custDataLst>
                <p:tags r:id="rId8"/>
              </p:custDataLst>
            </p:nvPr>
          </p:nvSpPr>
          <p:spPr bwMode="auto">
            <a:xfrm rot="5400000">
              <a:off x="10495520" y="3551413"/>
              <a:ext cx="45718" cy="1256019"/>
            </a:xfrm>
            <a:prstGeom prst="rect">
              <a:avLst/>
            </a:prstGeom>
            <a:solidFill>
              <a:srgbClr val="ED7D31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>
                <a:gradFill>
                  <a:gsLst>
                    <a:gs pos="0">
                      <a:srgbClr val="85C04A"/>
                    </a:gs>
                    <a:gs pos="100000">
                      <a:srgbClr val="3C9A47"/>
                    </a:gs>
                  </a:gsLst>
                  <a:lin ang="2700000" scaled="1"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sp>
        <p:nvSpPr>
          <p:cNvPr id="38" name="矩形 37"/>
          <p:cNvSpPr/>
          <p:nvPr>
            <p:custDataLst>
              <p:tags r:id="rId9"/>
            </p:custDataLst>
          </p:nvPr>
        </p:nvSpPr>
        <p:spPr>
          <a:xfrm>
            <a:off x="405765" y="4769485"/>
            <a:ext cx="2323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反射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Method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67" name="矩形 66"/>
          <p:cNvSpPr/>
          <p:nvPr>
            <p:custDataLst>
              <p:tags r:id="rId10"/>
            </p:custDataLst>
          </p:nvPr>
        </p:nvSpPr>
        <p:spPr>
          <a:xfrm>
            <a:off x="3316362" y="4763502"/>
            <a:ext cx="2491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反射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Constructor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3" name="矩形 72"/>
          <p:cNvSpPr/>
          <p:nvPr>
            <p:custDataLst>
              <p:tags r:id="rId11"/>
            </p:custDataLst>
          </p:nvPr>
        </p:nvSpPr>
        <p:spPr>
          <a:xfrm>
            <a:off x="6450330" y="4763770"/>
            <a:ext cx="22231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模拟框架的部分实现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4" name="矩形 73"/>
          <p:cNvSpPr/>
          <p:nvPr>
            <p:custDataLst>
              <p:tags r:id="rId12"/>
            </p:custDataLst>
          </p:nvPr>
        </p:nvSpPr>
        <p:spPr>
          <a:xfrm>
            <a:off x="9451975" y="4802505"/>
            <a:ext cx="20574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类加载及双亲委派机制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090567" y="933562"/>
            <a:ext cx="1888642" cy="1015663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srgbClr val="01255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目录</a:t>
            </a:r>
            <a:endParaRPr kumimoji="0" lang="zh-CN" altLang="en-US" sz="6000" b="0" i="0" u="none" strike="noStrike" kern="1200" cap="none" spc="300" normalizeH="0" baseline="0" noProof="0" dirty="0">
              <a:ln>
                <a:noFill/>
              </a:ln>
              <a:solidFill>
                <a:srgbClr val="01255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062581" y="1179783"/>
            <a:ext cx="243534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CONTENTS</a:t>
            </a:r>
            <a:endParaRPr kumimoji="0" lang="en-US" altLang="zh-CN" sz="3200" b="1" i="0" u="none" strike="noStrike" kern="1200" cap="none" spc="0" normalizeH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48" name="矩形 47"/>
          <p:cNvSpPr/>
          <p:nvPr>
            <p:custDataLst>
              <p:tags r:id="rId13"/>
            </p:custDataLst>
          </p:nvPr>
        </p:nvSpPr>
        <p:spPr>
          <a:xfrm>
            <a:off x="954799" y="2985340"/>
            <a:ext cx="1299736" cy="1045210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200" b="0" i="0" u="none" strike="noStrike" kern="1200" cap="none" spc="300" normalizeH="0" baseline="0" noProof="0">
                <a:ln>
                  <a:noFill/>
                </a:ln>
                <a:solidFill>
                  <a:srgbClr val="01255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05</a:t>
            </a:r>
            <a:endParaRPr kumimoji="0" lang="en-US" altLang="zh-CN" sz="6200" b="0" i="0" u="none" strike="noStrike" kern="1200" cap="none" spc="300" normalizeH="0" baseline="0" noProof="0" dirty="0">
              <a:ln>
                <a:noFill/>
              </a:ln>
              <a:solidFill>
                <a:srgbClr val="01255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49" name="矩形 48"/>
          <p:cNvSpPr/>
          <p:nvPr>
            <p:custDataLst>
              <p:tags r:id="rId14"/>
            </p:custDataLst>
          </p:nvPr>
        </p:nvSpPr>
        <p:spPr>
          <a:xfrm>
            <a:off x="3887918" y="2983717"/>
            <a:ext cx="1299736" cy="1045210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200" b="0" i="0" u="none" strike="noStrike" kern="1200" cap="none" spc="30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06</a:t>
            </a:r>
            <a:endParaRPr kumimoji="0" lang="en-US" altLang="zh-CN" sz="6200" b="0" i="0" u="none" strike="noStrike" kern="1200" cap="none" spc="30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50" name="矩形 49"/>
          <p:cNvSpPr/>
          <p:nvPr>
            <p:custDataLst>
              <p:tags r:id="rId15"/>
            </p:custDataLst>
          </p:nvPr>
        </p:nvSpPr>
        <p:spPr>
          <a:xfrm>
            <a:off x="6851938" y="3019115"/>
            <a:ext cx="1299736" cy="1045210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200" b="0" i="0" u="none" strike="noStrike" kern="1200" cap="none" spc="300" normalizeH="0" baseline="0" noProof="0">
                <a:ln>
                  <a:noFill/>
                </a:ln>
                <a:solidFill>
                  <a:srgbClr val="01255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07</a:t>
            </a:r>
            <a:endParaRPr kumimoji="0" lang="en-US" altLang="zh-CN" sz="6200" b="0" i="0" u="none" strike="noStrike" kern="1200" cap="none" spc="300" normalizeH="0" baseline="0" noProof="0" dirty="0">
              <a:ln>
                <a:noFill/>
              </a:ln>
              <a:solidFill>
                <a:srgbClr val="01255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51" name="矩形 50"/>
          <p:cNvSpPr/>
          <p:nvPr>
            <p:custDataLst>
              <p:tags r:id="rId16"/>
            </p:custDataLst>
          </p:nvPr>
        </p:nvSpPr>
        <p:spPr>
          <a:xfrm>
            <a:off x="9785057" y="3017492"/>
            <a:ext cx="1299736" cy="1045210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200" b="0" i="0" u="none" strike="noStrike" kern="1200" cap="none" spc="30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08</a:t>
            </a:r>
            <a:endParaRPr kumimoji="0" lang="en-US" altLang="zh-CN" sz="6200" b="0" i="0" u="none" strike="noStrike" kern="1200" cap="none" spc="30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-986155" y="5693410"/>
            <a:ext cx="2044700" cy="2044700"/>
          </a:xfrm>
          <a:prstGeom prst="ellipse">
            <a:avLst/>
          </a:prstGeom>
          <a:solidFill>
            <a:srgbClr val="012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-466725" y="5224145"/>
            <a:ext cx="1005840" cy="10058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5d0495981e06a4beefc1a7ac3c41024d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8" grpId="1"/>
      <p:bldP spid="67" grpId="0"/>
      <p:bldP spid="67" grpId="1"/>
      <p:bldP spid="73" grpId="0"/>
      <p:bldP spid="73" grpId="1"/>
      <p:bldP spid="74" grpId="0"/>
      <p:bldP spid="74" grpId="1"/>
      <p:bldP spid="77" grpId="0"/>
      <p:bldP spid="77" grpId="1" bldLvl="0" animBg="1"/>
      <p:bldP spid="78" grpId="0"/>
      <p:bldP spid="78" grpId="1" bldLvl="0" animBg="1"/>
      <p:bldP spid="48" grpId="0"/>
      <p:bldP spid="48" grpId="1" bldLvl="0" animBg="1"/>
      <p:bldP spid="49" grpId="0"/>
      <p:bldP spid="49" grpId="1" bldLvl="0" animBg="1"/>
      <p:bldP spid="50" grpId="0"/>
      <p:bldP spid="50" grpId="1" bldLvl="0" animBg="1"/>
      <p:bldP spid="51" grpId="0"/>
      <p:bldP spid="51" grpId="1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976126" y="2537605"/>
            <a:ext cx="2103449" cy="3155928"/>
            <a:chOff x="1037722" y="2414315"/>
            <a:chExt cx="2103449" cy="3155928"/>
          </a:xfrm>
        </p:grpSpPr>
        <p:cxnSp>
          <p:nvCxnSpPr>
            <p:cNvPr id="7" name="直接连接符 6"/>
            <p:cNvCxnSpPr/>
            <p:nvPr>
              <p:custDataLst>
                <p:tags r:id="rId2"/>
              </p:custDataLst>
            </p:nvPr>
          </p:nvCxnSpPr>
          <p:spPr>
            <a:xfrm>
              <a:off x="3141171" y="2414315"/>
              <a:ext cx="0" cy="315592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í$ļíḋê"/>
            <p:cNvSpPr/>
            <p:nvPr>
              <p:custDataLst>
                <p:tags r:id="rId3"/>
              </p:custDataLst>
            </p:nvPr>
          </p:nvSpPr>
          <p:spPr bwMode="auto">
            <a:xfrm rot="5400000">
              <a:off x="1642872" y="3566356"/>
              <a:ext cx="45718" cy="1256019"/>
            </a:xfrm>
            <a:prstGeom prst="rect">
              <a:avLst/>
            </a:prstGeom>
            <a:solidFill>
              <a:srgbClr val="01255A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>
                <a:gradFill>
                  <a:gsLst>
                    <a:gs pos="0">
                      <a:srgbClr val="85C04A"/>
                    </a:gs>
                    <a:gs pos="100000">
                      <a:srgbClr val="3C9A47"/>
                    </a:gs>
                  </a:gsLst>
                  <a:lin ang="2700000" scaled="1"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sp>
        <p:nvSpPr>
          <p:cNvPr id="38" name="矩形 37"/>
          <p:cNvSpPr/>
          <p:nvPr>
            <p:custDataLst>
              <p:tags r:id="rId4"/>
            </p:custDataLst>
          </p:nvPr>
        </p:nvSpPr>
        <p:spPr>
          <a:xfrm>
            <a:off x="405765" y="4769485"/>
            <a:ext cx="2323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反射泛型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090567" y="933562"/>
            <a:ext cx="1888642" cy="1015663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srgbClr val="01255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目录</a:t>
            </a:r>
            <a:endParaRPr kumimoji="0" lang="zh-CN" altLang="en-US" sz="6000" b="0" i="0" u="none" strike="noStrike" kern="1200" cap="none" spc="300" normalizeH="0" baseline="0" noProof="0" dirty="0">
              <a:ln>
                <a:noFill/>
              </a:ln>
              <a:solidFill>
                <a:srgbClr val="01255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062581" y="1179783"/>
            <a:ext cx="243534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CONTENTS</a:t>
            </a:r>
            <a:endParaRPr kumimoji="0" lang="en-US" altLang="zh-CN" sz="3200" b="1" i="0" u="none" strike="noStrike" kern="1200" cap="none" spc="0" normalizeH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48" name="矩形 47"/>
          <p:cNvSpPr/>
          <p:nvPr>
            <p:custDataLst>
              <p:tags r:id="rId5"/>
            </p:custDataLst>
          </p:nvPr>
        </p:nvSpPr>
        <p:spPr>
          <a:xfrm>
            <a:off x="954799" y="2985340"/>
            <a:ext cx="1299736" cy="1045210"/>
          </a:xfrm>
          <a:prstGeom prst="rect">
            <a:avLst/>
          </a:prstGeom>
          <a:noFill/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200" b="0" i="0" u="none" strike="noStrike" kern="1200" cap="none" spc="300" normalizeH="0" baseline="0" noProof="0">
                <a:ln>
                  <a:noFill/>
                </a:ln>
                <a:solidFill>
                  <a:srgbClr val="01255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Light" panose="020B0300000000000000" pitchFamily="34" charset="-122"/>
              </a:rPr>
              <a:t>09</a:t>
            </a:r>
            <a:endParaRPr kumimoji="0" lang="en-US" altLang="zh-CN" sz="6200" b="0" i="0" u="none" strike="noStrike" kern="1200" cap="none" spc="300" normalizeH="0" baseline="0" noProof="0" dirty="0">
              <a:ln>
                <a:noFill/>
              </a:ln>
              <a:solidFill>
                <a:srgbClr val="01255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-986155" y="5693410"/>
            <a:ext cx="2044700" cy="2044700"/>
          </a:xfrm>
          <a:prstGeom prst="ellipse">
            <a:avLst/>
          </a:prstGeom>
          <a:solidFill>
            <a:srgbClr val="012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-466725" y="5224145"/>
            <a:ext cx="1005840" cy="10058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5d0495981e06a4beefc1a7ac3c41024d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8" grpId="1"/>
      <p:bldP spid="77" grpId="0"/>
      <p:bldP spid="77" grpId="1" bldLvl="0" animBg="1"/>
      <p:bldP spid="78" grpId="0"/>
      <p:bldP spid="78" grpId="1" bldLvl="0" animBg="1"/>
      <p:bldP spid="48" grpId="0"/>
      <p:bldP spid="48" grpId="1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01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反射机制概述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59205" y="1330960"/>
            <a:ext cx="8642350" cy="4228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Java反射机制是指在运行时动态获取类的信息或动态调用对象的方法、修改属性等操作。主要核心就是Class类、Constructor类、Field类、Method类等API。 反射机制主要应用于框架开发、动态代理、ORM框架、JDBC驱动等方面。通过反射机制，程序员能够获得在编译期间不被知晓的类、属性、方法等信息。但是反射机制的性能较低，常常被认为是一种牺牲性能换取灵活性的实现方式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Java</a:t>
            </a:r>
            <a:r>
              <a:rPr lang="zh-CN" altLang="en-US"/>
              <a:t>反射机制核心包：</a:t>
            </a:r>
            <a:r>
              <a:rPr lang="en-US" altLang="zh-CN"/>
              <a:t>java.lang.reflect.*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Java</a:t>
            </a:r>
            <a:r>
              <a:rPr lang="zh-CN" altLang="en-US"/>
              <a:t>反射机制核心类：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java.lang.Class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java.lang.reflect.Field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java.lang.reflect.Method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java.lang.reflect.Constructor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java.lang.reflect.Modifier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02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获取</a:t>
            </a: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Class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32205" y="1158240"/>
            <a:ext cx="8450580" cy="4406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Java中获取Class对象有以下三种方式：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调用Object类的getClass()方法</a:t>
            </a:r>
            <a:endParaRPr lang="zh-CN" altLang="en-US"/>
          </a:p>
          <a:p>
            <a:r>
              <a:rPr lang="zh-CN" altLang="en-US"/>
              <a:t>可以通过对象的getClass()方法来获取Class对象，例如：</a:t>
            </a:r>
            <a:endParaRPr lang="zh-CN" altLang="en-US"/>
          </a:p>
          <a:p>
            <a:r>
              <a:rPr lang="zh-CN" altLang="en-US"/>
              <a:t>Object obj = new Object();</a:t>
            </a:r>
            <a:endParaRPr lang="zh-CN" altLang="en-US"/>
          </a:p>
          <a:p>
            <a:r>
              <a:rPr lang="zh-CN" altLang="en-US"/>
              <a:t>Class clazz = obj.getClass();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2. 使用“类.class”语法</a:t>
            </a:r>
            <a:endParaRPr lang="zh-CN" altLang="en-US"/>
          </a:p>
          <a:p>
            <a:r>
              <a:rPr lang="zh-CN" altLang="en-US"/>
              <a:t>可以使用“类.class”语法来获取Class对象，例如：</a:t>
            </a:r>
            <a:endParaRPr lang="zh-CN" altLang="en-US"/>
          </a:p>
          <a:p>
            <a:r>
              <a:rPr lang="zh-CN" altLang="en-US"/>
              <a:t>Class clazz = Object.class;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3. 使用Class类的forName()方法</a:t>
            </a:r>
            <a:endParaRPr lang="zh-CN" altLang="en-US"/>
          </a:p>
          <a:p>
            <a:r>
              <a:rPr lang="zh-CN" altLang="en-US"/>
              <a:t>可以使用Class类的forName()方法来获取Class对象，例如：</a:t>
            </a:r>
            <a:endParaRPr lang="zh-CN" altLang="en-US"/>
          </a:p>
          <a:p>
            <a:r>
              <a:rPr lang="zh-CN" altLang="en-US"/>
              <a:t>Class clazz = Class.forName("java.lang.Object");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03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反射作用的体现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32205" y="1257300"/>
            <a:ext cx="9796780" cy="2653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在属性配置文件中配置类名：</a:t>
            </a:r>
            <a:r>
              <a:rPr lang="en-US" altLang="zh-CN"/>
              <a:t>classInfo.properties</a:t>
            </a:r>
            <a:endParaRPr lang="en-US" altLang="zh-CN"/>
          </a:p>
          <a:p>
            <a:r>
              <a:rPr lang="en-US" altLang="zh-CN"/>
              <a:t>className=java.util.Date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通过</a:t>
            </a:r>
            <a:r>
              <a:rPr lang="en-US" altLang="zh-CN"/>
              <a:t>IO</a:t>
            </a:r>
            <a:r>
              <a:rPr lang="zh-CN" altLang="en-US"/>
              <a:t>流读取属性配置文件，获取类名，再通过反射机制实例化对象。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如果要创建其他类的实例对象，只需要修改</a:t>
            </a:r>
            <a:r>
              <a:rPr lang="en-US" altLang="zh-CN"/>
              <a:t>classInfo.properties</a:t>
            </a:r>
            <a:r>
              <a:rPr lang="zh-CN" altLang="en-US"/>
              <a:t>配置文件即可。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这说明反射机制可以让程序变的更加灵活。在进行系统扩展时，可以达到</a:t>
            </a:r>
            <a:r>
              <a:rPr lang="en-US" altLang="zh-CN"/>
              <a:t>OCP</a:t>
            </a:r>
            <a:r>
              <a:rPr lang="zh-CN" altLang="en-US"/>
              <a:t>开闭原则。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04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反射</a:t>
            </a: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Field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32205" y="1257300"/>
            <a:ext cx="9796780" cy="4348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反射</a:t>
            </a:r>
            <a:r>
              <a:rPr lang="en-US" altLang="zh-CN"/>
              <a:t>Field</a:t>
            </a:r>
            <a:r>
              <a:rPr lang="zh-CN" altLang="en-US"/>
              <a:t>包括两方面：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一方面：通过反射机制获取</a:t>
            </a:r>
            <a:r>
              <a:rPr lang="en-US" altLang="zh-CN"/>
              <a:t>Field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Field field = clazz.getDeclaredField("fieldName"); // </a:t>
            </a:r>
            <a:r>
              <a:rPr lang="zh-CN" altLang="en-US"/>
              <a:t>通过属性名获取</a:t>
            </a:r>
            <a:r>
              <a:rPr lang="en-US" altLang="zh-CN"/>
              <a:t>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Field[] fields = clazz.getDeclaredFields(); // </a:t>
            </a:r>
            <a:r>
              <a:rPr lang="zh-CN" altLang="en-US"/>
              <a:t>获取所有的属性，包括私有的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另一方面：通过</a:t>
            </a:r>
            <a:r>
              <a:rPr lang="en-US" altLang="zh-CN"/>
              <a:t>Filed</a:t>
            </a:r>
            <a:r>
              <a:rPr lang="zh-CN" altLang="en-US"/>
              <a:t>访问对象的属性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Object</a:t>
            </a:r>
            <a:r>
              <a:rPr lang="zh-CN" altLang="en-US"/>
              <a:t> fieldValue = field.get(myObject);</a:t>
            </a:r>
            <a:r>
              <a:rPr lang="en-US" altLang="zh-CN"/>
              <a:t> // </a:t>
            </a:r>
            <a:r>
              <a:rPr lang="zh-CN" altLang="en-US"/>
              <a:t>读取某个对象的属性值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field.set(myObject, </a:t>
            </a:r>
            <a:r>
              <a:rPr lang="en-US" altLang="zh-CN"/>
              <a:t>newValue</a:t>
            </a:r>
            <a:r>
              <a:rPr lang="zh-CN" altLang="en-US"/>
              <a:t>);</a:t>
            </a:r>
            <a:r>
              <a:rPr lang="en-US" altLang="zh-CN"/>
              <a:t> // </a:t>
            </a:r>
            <a:r>
              <a:rPr lang="zh-CN" altLang="en-US"/>
              <a:t>修改某个对象的属性值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05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反射</a:t>
            </a: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Method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32205" y="1257300"/>
            <a:ext cx="9796780" cy="4348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反射</a:t>
            </a:r>
            <a:r>
              <a:rPr lang="en-US" altLang="zh-CN"/>
              <a:t>Method</a:t>
            </a:r>
            <a:r>
              <a:rPr lang="zh-CN" altLang="en-US"/>
              <a:t>包括两方面：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一方面：通过反射机制获取</a:t>
            </a:r>
            <a:r>
              <a:rPr lang="en-US" altLang="zh-CN"/>
              <a:t>Method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Method method = clazz.getDeclaredMethod("methodName", paramTypes);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另一方面：通过</a:t>
            </a:r>
            <a:r>
              <a:rPr lang="en-US"/>
              <a:t>Method</a:t>
            </a:r>
            <a:r>
              <a:rPr lang="zh-CN" altLang="en-US"/>
              <a:t>调用方法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Class clazz = MyClass.class;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Method method = clazz.get</a:t>
            </a:r>
            <a:r>
              <a:rPr lang="en-US" altLang="zh-CN"/>
              <a:t>Declared</a:t>
            </a:r>
            <a:r>
              <a:rPr lang="zh-CN" altLang="en-US"/>
              <a:t>Method("methodName", paramTypes);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Object[] args = {arg1, arg2, arg3};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Object result = method.invoke(myObject, args);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06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反射</a:t>
            </a: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Constructor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32205" y="1257300"/>
            <a:ext cx="9796780" cy="4348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反射</a:t>
            </a:r>
            <a:r>
              <a:rPr lang="en-US" altLang="zh-CN"/>
              <a:t>Constructor</a:t>
            </a:r>
            <a:r>
              <a:rPr lang="zh-CN" altLang="en-US"/>
              <a:t>包括两方面：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一方面：通过反射机制获取</a:t>
            </a:r>
            <a:r>
              <a:rPr lang="en-US" altLang="zh-CN"/>
              <a:t>Constructor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Constructor constructor2 = clazz.getDeclaredConstructor(paramTypes);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另一方面：通过</a:t>
            </a:r>
            <a:r>
              <a:rPr lang="en-US" altLang="zh-CN"/>
              <a:t>Constructor</a:t>
            </a:r>
            <a:r>
              <a:rPr lang="zh-CN" altLang="en-US"/>
              <a:t>创建对象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Class clazz = MyClass.class;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Constructor constructor = clazz.get</a:t>
            </a:r>
            <a:r>
              <a:rPr lang="en-US" altLang="zh-CN"/>
              <a:t>Declared</a:t>
            </a:r>
            <a:r>
              <a:rPr lang="zh-CN" altLang="en-US"/>
              <a:t>Constructor(paramTypes);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Object[] args = {arg1, arg2, arg3};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Object myObject = constructor.newInstance(args);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07</a:t>
            </a:r>
            <a:r>
              <a:rPr 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模拟框架的部分实现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38225" y="1116330"/>
            <a:ext cx="8780780" cy="4348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1. </a:t>
            </a:r>
            <a:r>
              <a:rPr lang="zh-CN" altLang="en-US"/>
              <a:t>配置文件中配置如下信息：</a:t>
            </a:r>
            <a:r>
              <a:rPr lang="en-US" altLang="zh-CN"/>
              <a:t>classInfo.properties</a:t>
            </a:r>
            <a:endParaRPr lang="en-US" altLang="zh-CN"/>
          </a:p>
          <a:p>
            <a:r>
              <a:rPr lang="en-US" altLang="zh-CN"/>
              <a:t>    className=com.powernode.javase.reflect.UserService</a:t>
            </a:r>
            <a:endParaRPr lang="en-US" altLang="zh-CN"/>
          </a:p>
          <a:p>
            <a:r>
              <a:rPr lang="en-US" altLang="zh-CN"/>
              <a:t>    methodName=login</a:t>
            </a:r>
            <a:endParaRPr lang="en-US" altLang="zh-CN"/>
          </a:p>
          <a:p>
            <a:r>
              <a:rPr lang="en-US" altLang="zh-CN"/>
              <a:t>    parameterTypes=java.lang.String,java.lang.String</a:t>
            </a:r>
            <a:endParaRPr lang="en-US" altLang="zh-CN"/>
          </a:p>
          <a:p>
            <a:r>
              <a:rPr lang="en-US" altLang="zh-CN"/>
              <a:t>    parameterValues=admin,123456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通过反射机制创建对象，调用配置的方法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本案例的实现类似于</a:t>
            </a:r>
            <a:r>
              <a:rPr lang="en-US" altLang="zh-CN"/>
              <a:t>Spring</a:t>
            </a:r>
            <a:r>
              <a:rPr lang="zh-CN" altLang="en-US"/>
              <a:t>框架中部分实现，主要是通过修改配置文件来达到创建不同的对象，调用不同的方法。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75385" y="772795"/>
            <a:ext cx="9582785" cy="56870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宋体 CN Heavy" panose="02020900000000000000" charset="-122"/>
              </a:rPr>
              <a:t>类加载的过程</a:t>
            </a:r>
            <a:endParaRPr lang="zh-CN" altLang="en-US" sz="2000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装载（loading）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类加载器负责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将类的class文件读入内存，并创建一个java.lang.Class对象</a:t>
            </a:r>
            <a:endParaRPr lang="en-US" altLang="zh-CN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连接(linking)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验证（Verify）</a:t>
            </a:r>
            <a:endParaRPr lang="en-US" altLang="zh-CN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984250" lvl="2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确保加载类的信息符合JVM规范。</a:t>
            </a:r>
            <a:endParaRPr lang="en-US" altLang="zh-CN" sz="115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准备（Prepare）</a:t>
            </a:r>
            <a:endParaRPr lang="en-US" altLang="zh-CN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984250" lvl="2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正式为静态变量在方法区中开辟存储空间并设置默认值</a:t>
            </a:r>
            <a:endParaRPr lang="en-US" altLang="zh-CN" sz="115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984250" lvl="2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public static int k = 10; </a:t>
            </a:r>
            <a:r>
              <a:rPr lang="zh-CN" altLang="en-US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此时：</a:t>
            </a:r>
            <a:r>
              <a:rPr lang="en-US" altLang="zh-CN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会赋值</a:t>
            </a:r>
            <a:r>
              <a:rPr lang="en-US" altLang="zh-CN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0</a:t>
            </a:r>
            <a:endParaRPr lang="en-US" altLang="zh-CN" sz="115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984250" lvl="2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public static final int f = 10; </a:t>
            </a:r>
            <a:r>
              <a:rPr lang="zh-CN" altLang="en-US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此时：</a:t>
            </a:r>
            <a:r>
              <a:rPr lang="en-US" altLang="zh-CN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 f</a:t>
            </a:r>
            <a:r>
              <a:rPr lang="zh-CN" altLang="en-US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会赋值</a:t>
            </a:r>
            <a:r>
              <a:rPr lang="en-US" altLang="zh-CN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10</a:t>
            </a:r>
            <a:endParaRPr lang="en-US" altLang="zh-CN" sz="115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解析（Resolve）</a:t>
            </a:r>
            <a:endParaRPr lang="en-US" altLang="zh-CN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984250" lvl="2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15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将虚拟机常量池内的符号引用替换为直接引用（地址）的过程。</a:t>
            </a:r>
            <a:endParaRPr lang="en-US" altLang="zh-CN" sz="115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初始化（initialization）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静态变量赋值，静态代码块执行</a:t>
            </a:r>
            <a:endParaRPr lang="zh-CN" altLang="en-US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lang="zh-CN" altLang="en-US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低版本的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JDK</a:t>
            </a: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中类加载器的名字：</a:t>
            </a:r>
            <a:endParaRPr lang="zh-CN" altLang="en-US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4572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启动类加载器：负责加载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rt.jar</a:t>
            </a:r>
            <a:endParaRPr lang="en-US" altLang="zh-CN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4572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扩展类加载器：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ext/*.jar</a:t>
            </a:r>
            <a:endParaRPr lang="en-US" altLang="zh-CN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4572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系统类加载器：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classpath</a:t>
            </a:r>
            <a:endParaRPr lang="en-US" altLang="zh-CN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08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类加载及双亲委派机制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490" y="1408430"/>
            <a:ext cx="4458335" cy="1875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75385" y="1000125"/>
            <a:ext cx="9582785" cy="478853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宋体 CN Heavy" panose="02020900000000000000" charset="-122"/>
              </a:rPr>
              <a:t>获取</a:t>
            </a:r>
            <a:r>
              <a:rPr lang="en-US" altLang="zh-CN" sz="2000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宋体 CN Heavy" panose="02020900000000000000" charset="-122"/>
              </a:rPr>
              <a:t>Class</a:t>
            </a:r>
            <a:r>
              <a:rPr lang="zh-CN" altLang="en-US" sz="2000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宋体 CN Heavy" panose="02020900000000000000" charset="-122"/>
              </a:rPr>
              <a:t>的四种方式</a:t>
            </a:r>
            <a:endParaRPr lang="zh-CN" altLang="en-US" sz="2000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静态方法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 clazz = Class.forName(“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全限定类名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”)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实例方法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 clazz = 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引用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.getClass();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属性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 clazz = 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类型名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.class;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通过类加载器获取</a:t>
            </a:r>
            <a:endParaRPr lang="zh-CN" altLang="en-US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ClassLoader classLoader = ClassLoader.getSystemClassLoader();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 clazz = classLoader.loadClass(“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全限定类名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”);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en-US" altLang="zh-CN" sz="1400" kern="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Class.forName</a:t>
            </a:r>
            <a:r>
              <a:rPr lang="zh-CN" altLang="en-US" sz="1400" kern="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1400" kern="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classLoader.loadClass()</a:t>
            </a:r>
            <a:r>
              <a:rPr lang="zh-CN" altLang="en-US" sz="1400" kern="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的区别？</a:t>
            </a:r>
            <a:endParaRPr lang="zh-CN" altLang="en-US" sz="1400" kern="0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4572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en-US" altLang="zh-CN" sz="1400" kern="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Class.forName()</a:t>
            </a:r>
            <a:r>
              <a:rPr lang="zh-CN" altLang="en-US" sz="1400" kern="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：类加载时会进行初始化。</a:t>
            </a:r>
            <a:endParaRPr lang="zh-CN" altLang="en-US" sz="1400" kern="0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184150" lvl="1" indent="4572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None/>
              <a:defRPr/>
            </a:pPr>
            <a:r>
              <a:rPr lang="en-US" altLang="zh-CN" sz="1400" kern="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classLoader.loadClass()</a:t>
            </a:r>
            <a:r>
              <a:rPr lang="zh-CN" altLang="en-US" sz="1400" kern="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：类加载时不会进行初始化，直到第一次使用该类。</a:t>
            </a:r>
            <a:endParaRPr lang="zh-CN" altLang="en-US" sz="1400" kern="0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08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类加载及双亲委派机制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75385" y="1000125"/>
            <a:ext cx="9582785" cy="242951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宋体 CN Heavy" panose="02020900000000000000" charset="-122"/>
              </a:rPr>
              <a:t>类加载器</a:t>
            </a:r>
            <a:endParaRPr lang="zh-CN" altLang="en-US" sz="2000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虚拟机内部提供了三种类加载器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Java9+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启动类加载器（BootstrapClassLoader）</a:t>
            </a: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：加载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Java</a:t>
            </a: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最核心的类，例如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String</a:t>
            </a:r>
            <a:endParaRPr lang="en-US" altLang="zh-CN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平台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类加载器（PlatformClassLoader）</a:t>
            </a: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：加载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Java</a:t>
            </a: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平台扩展的类库，例如解析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XML</a:t>
            </a: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的</a:t>
            </a:r>
            <a:endParaRPr lang="en-US" altLang="zh-CN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应用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类加载器（AppClassLoader）</a:t>
            </a: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：加载</a:t>
            </a: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classpath</a:t>
            </a: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中的</a:t>
            </a:r>
            <a:endParaRPr lang="en-US" altLang="zh-CN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同时我们还可以自定义一个类加载器（UserClassLoader）</a:t>
            </a:r>
            <a:endParaRPr lang="en-US" altLang="zh-CN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698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 startAt="2"/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获取类加载器可以通过 </a:t>
            </a:r>
            <a:r>
              <a:rPr lang="zh-CN" altLang="en-US" sz="1400" kern="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getParent()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方法一级一级获取</a:t>
            </a:r>
            <a:endParaRPr lang="zh-CN" altLang="en-US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08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类加载及双亲委派机制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pic>
        <p:nvPicPr>
          <p:cNvPr id="2" name="图片 1" descr="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685" y="1282700"/>
            <a:ext cx="4502150" cy="3357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75385" y="1000125"/>
            <a:ext cx="9582785" cy="213868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ea"/>
              </a:rPr>
              <a:t>双亲委派机制</a:t>
            </a:r>
            <a:endParaRPr lang="zh-CN" altLang="en-US" sz="2000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某个类加载器接收到加载类的任务时，通常委托给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父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类加载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完成加载。</a:t>
            </a:r>
            <a:endParaRPr lang="zh-CN" altLang="en-US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最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父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类加载器</a:t>
            </a:r>
            <a:r>
              <a:rPr lang="en-US" altLang="zh-CN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无法加载时，一级一级向下委托加载任务。</a:t>
            </a:r>
            <a:endParaRPr lang="zh-CN" altLang="en-US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69850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作用：</a:t>
            </a:r>
            <a:endParaRPr lang="zh-CN" altLang="en-US" sz="1400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保护程序的安全。</a:t>
            </a:r>
            <a:endParaRPr lang="zh-CN" altLang="en-US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  <a:p>
            <a:pPr marL="527050" lvl="1" indent="-342900" algn="l" defTabSz="457200" hangingPunct="0">
              <a:lnSpc>
                <a:spcPct val="150000"/>
              </a:lnSpc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15" kern="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charset="-122"/>
                <a:sym typeface="+mn-ea"/>
              </a:rPr>
              <a:t>防止类加载重复。</a:t>
            </a:r>
            <a:endParaRPr lang="zh-CN" altLang="en-US" sz="1215" kern="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08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类加载及双亲委派机制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pic>
        <p:nvPicPr>
          <p:cNvPr id="2" name="图片 1" descr="图片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770" y="1450340"/>
            <a:ext cx="3228975" cy="381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495935" y="298450"/>
            <a:ext cx="464820" cy="387350"/>
            <a:chOff x="541" y="471"/>
            <a:chExt cx="979" cy="852"/>
          </a:xfrm>
        </p:grpSpPr>
        <p:sp>
          <p:nvSpPr>
            <p:cNvPr id="22" name="圆角矩形 21"/>
            <p:cNvSpPr/>
            <p:nvPr/>
          </p:nvSpPr>
          <p:spPr>
            <a:xfrm rot="2700000">
              <a:off x="668" y="471"/>
              <a:ext cx="852" cy="852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 rot="2700000">
              <a:off x="541" y="471"/>
              <a:ext cx="852" cy="852"/>
            </a:xfrm>
            <a:prstGeom prst="roundRect">
              <a:avLst/>
            </a:prstGeom>
            <a:solidFill>
              <a:srgbClr val="01255A"/>
            </a:solidFill>
            <a:ln>
              <a:noFill/>
            </a:ln>
            <a:effectLst>
              <a:outerShdw blurRad="165100" sx="102000" sy="102000" algn="ctr" rotWithShape="0">
                <a:schemeClr val="tx1">
                  <a:lumMod val="95000"/>
                  <a:lumOff val="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24" name="图形 2"/>
            <p:cNvSpPr/>
            <p:nvPr/>
          </p:nvSpPr>
          <p:spPr>
            <a:xfrm>
              <a:off x="797" y="690"/>
              <a:ext cx="342" cy="414"/>
            </a:xfrm>
            <a:custGeom>
              <a:avLst/>
              <a:gdLst>
                <a:gd name="connsiteX0" fmla="*/ 394463 w 617210"/>
                <a:gd name="connsiteY0" fmla="*/ 131115 h 747580"/>
                <a:gd name="connsiteX1" fmla="*/ 175068 w 617210"/>
                <a:gd name="connsiteY1" fmla="*/ 131115 h 747580"/>
                <a:gd name="connsiteX2" fmla="*/ 175068 w 617210"/>
                <a:gd name="connsiteY2" fmla="*/ 43581 h 747580"/>
                <a:gd name="connsiteX3" fmla="*/ 219395 w 617210"/>
                <a:gd name="connsiteY3" fmla="*/ 43581 h 747580"/>
                <a:gd name="connsiteX4" fmla="*/ 232059 w 617210"/>
                <a:gd name="connsiteY4" fmla="*/ 12665 h 747580"/>
                <a:gd name="connsiteX5" fmla="*/ 262975 w 617210"/>
                <a:gd name="connsiteY5" fmla="*/ 0 h 747580"/>
                <a:gd name="connsiteX6" fmla="*/ 307301 w 617210"/>
                <a:gd name="connsiteY6" fmla="*/ 0 h 747580"/>
                <a:gd name="connsiteX7" fmla="*/ 338217 w 617210"/>
                <a:gd name="connsiteY7" fmla="*/ 12665 h 747580"/>
                <a:gd name="connsiteX8" fmla="*/ 350882 w 617210"/>
                <a:gd name="connsiteY8" fmla="*/ 43581 h 747580"/>
                <a:gd name="connsiteX9" fmla="*/ 395208 w 617210"/>
                <a:gd name="connsiteY9" fmla="*/ 43581 h 747580"/>
                <a:gd name="connsiteX10" fmla="*/ 394463 w 617210"/>
                <a:gd name="connsiteY10" fmla="*/ 131115 h 747580"/>
                <a:gd name="connsiteX11" fmla="*/ 284952 w 617210"/>
                <a:gd name="connsiteY11" fmla="*/ 91632 h 747580"/>
                <a:gd name="connsiteX12" fmla="*/ 304322 w 617210"/>
                <a:gd name="connsiteY12" fmla="*/ 83437 h 747580"/>
                <a:gd name="connsiteX13" fmla="*/ 312516 w 617210"/>
                <a:gd name="connsiteY13" fmla="*/ 64068 h 747580"/>
                <a:gd name="connsiteX14" fmla="*/ 304322 w 617210"/>
                <a:gd name="connsiteY14" fmla="*/ 44326 h 747580"/>
                <a:gd name="connsiteX15" fmla="*/ 284952 w 617210"/>
                <a:gd name="connsiteY15" fmla="*/ 36504 h 747580"/>
                <a:gd name="connsiteX16" fmla="*/ 265210 w 617210"/>
                <a:gd name="connsiteY16" fmla="*/ 44326 h 747580"/>
                <a:gd name="connsiteX17" fmla="*/ 257388 w 617210"/>
                <a:gd name="connsiteY17" fmla="*/ 64068 h 747580"/>
                <a:gd name="connsiteX18" fmla="*/ 265210 w 617210"/>
                <a:gd name="connsiteY18" fmla="*/ 83437 h 747580"/>
                <a:gd name="connsiteX19" fmla="*/ 284952 w 617210"/>
                <a:gd name="connsiteY19" fmla="*/ 91632 h 747580"/>
                <a:gd name="connsiteX20" fmla="*/ 260368 w 617210"/>
                <a:gd name="connsiteY20" fmla="*/ 569904 h 747580"/>
                <a:gd name="connsiteX21" fmla="*/ 259995 w 617210"/>
                <a:gd name="connsiteY21" fmla="*/ 579588 h 747580"/>
                <a:gd name="connsiteX22" fmla="*/ 259623 w 617210"/>
                <a:gd name="connsiteY22" fmla="*/ 590018 h 747580"/>
                <a:gd name="connsiteX23" fmla="*/ 268563 w 617210"/>
                <a:gd name="connsiteY23" fmla="*/ 649989 h 747580"/>
                <a:gd name="connsiteX24" fmla="*/ 294637 w 617210"/>
                <a:gd name="connsiteY24" fmla="*/ 702137 h 747580"/>
                <a:gd name="connsiteX25" fmla="*/ 90141 w 617210"/>
                <a:gd name="connsiteY25" fmla="*/ 702137 h 747580"/>
                <a:gd name="connsiteX26" fmla="*/ 61088 w 617210"/>
                <a:gd name="connsiteY26" fmla="*/ 694314 h 747580"/>
                <a:gd name="connsiteX27" fmla="*/ 31661 w 617210"/>
                <a:gd name="connsiteY27" fmla="*/ 673828 h 747580"/>
                <a:gd name="connsiteX28" fmla="*/ 8940 w 617210"/>
                <a:gd name="connsiteY28" fmla="*/ 645146 h 747580"/>
                <a:gd name="connsiteX29" fmla="*/ 0 w 617210"/>
                <a:gd name="connsiteY29" fmla="*/ 611623 h 747580"/>
                <a:gd name="connsiteX30" fmla="*/ 0 w 617210"/>
                <a:gd name="connsiteY30" fmla="*/ 178048 h 747580"/>
                <a:gd name="connsiteX31" fmla="*/ 7077 w 617210"/>
                <a:gd name="connsiteY31" fmla="*/ 147505 h 747580"/>
                <a:gd name="connsiteX32" fmla="*/ 25329 w 617210"/>
                <a:gd name="connsiteY32" fmla="*/ 118451 h 747580"/>
                <a:gd name="connsiteX33" fmla="*/ 51403 w 617210"/>
                <a:gd name="connsiteY33" fmla="*/ 96474 h 747580"/>
                <a:gd name="connsiteX34" fmla="*/ 82320 w 617210"/>
                <a:gd name="connsiteY34" fmla="*/ 87534 h 747580"/>
                <a:gd name="connsiteX35" fmla="*/ 132233 w 617210"/>
                <a:gd name="connsiteY35" fmla="*/ 87534 h 747580"/>
                <a:gd name="connsiteX36" fmla="*/ 132233 w 617210"/>
                <a:gd name="connsiteY36" fmla="*/ 175069 h 747580"/>
                <a:gd name="connsiteX37" fmla="*/ 438417 w 617210"/>
                <a:gd name="connsiteY37" fmla="*/ 175069 h 747580"/>
                <a:gd name="connsiteX38" fmla="*/ 438417 w 617210"/>
                <a:gd name="connsiteY38" fmla="*/ 87534 h 747580"/>
                <a:gd name="connsiteX39" fmla="*/ 481997 w 617210"/>
                <a:gd name="connsiteY39" fmla="*/ 87534 h 747580"/>
                <a:gd name="connsiteX40" fmla="*/ 514031 w 617210"/>
                <a:gd name="connsiteY40" fmla="*/ 94611 h 747580"/>
                <a:gd name="connsiteX41" fmla="*/ 542340 w 617210"/>
                <a:gd name="connsiteY41" fmla="*/ 113608 h 747580"/>
                <a:gd name="connsiteX42" fmla="*/ 563200 w 617210"/>
                <a:gd name="connsiteY42" fmla="*/ 142290 h 747580"/>
                <a:gd name="connsiteX43" fmla="*/ 571394 w 617210"/>
                <a:gd name="connsiteY43" fmla="*/ 178048 h 747580"/>
                <a:gd name="connsiteX44" fmla="*/ 571394 w 617210"/>
                <a:gd name="connsiteY44" fmla="*/ 426124 h 747580"/>
                <a:gd name="connsiteX45" fmla="*/ 518873 w 617210"/>
                <a:gd name="connsiteY45" fmla="*/ 400796 h 747580"/>
                <a:gd name="connsiteX46" fmla="*/ 459276 w 617210"/>
                <a:gd name="connsiteY46" fmla="*/ 391855 h 747580"/>
                <a:gd name="connsiteX47" fmla="*/ 454433 w 617210"/>
                <a:gd name="connsiteY47" fmla="*/ 391855 h 747580"/>
                <a:gd name="connsiteX48" fmla="*/ 475293 w 617210"/>
                <a:gd name="connsiteY48" fmla="*/ 375839 h 747580"/>
                <a:gd name="connsiteX49" fmla="*/ 483487 w 617210"/>
                <a:gd name="connsiteY49" fmla="*/ 350510 h 747580"/>
                <a:gd name="connsiteX50" fmla="*/ 470450 w 617210"/>
                <a:gd name="connsiteY50" fmla="*/ 319593 h 747580"/>
                <a:gd name="connsiteX51" fmla="*/ 439161 w 617210"/>
                <a:gd name="connsiteY51" fmla="*/ 306929 h 747580"/>
                <a:gd name="connsiteX52" fmla="*/ 131488 w 617210"/>
                <a:gd name="connsiteY52" fmla="*/ 306929 h 747580"/>
                <a:gd name="connsiteX53" fmla="*/ 100199 w 617210"/>
                <a:gd name="connsiteY53" fmla="*/ 319593 h 747580"/>
                <a:gd name="connsiteX54" fmla="*/ 87162 w 617210"/>
                <a:gd name="connsiteY54" fmla="*/ 350510 h 747580"/>
                <a:gd name="connsiteX55" fmla="*/ 100199 w 617210"/>
                <a:gd name="connsiteY55" fmla="*/ 381799 h 747580"/>
                <a:gd name="connsiteX56" fmla="*/ 131488 w 617210"/>
                <a:gd name="connsiteY56" fmla="*/ 394835 h 747580"/>
                <a:gd name="connsiteX57" fmla="*/ 425007 w 617210"/>
                <a:gd name="connsiteY57" fmla="*/ 394835 h 747580"/>
                <a:gd name="connsiteX58" fmla="*/ 348647 w 617210"/>
                <a:gd name="connsiteY58" fmla="*/ 424634 h 747580"/>
                <a:gd name="connsiteX59" fmla="*/ 292030 w 617210"/>
                <a:gd name="connsiteY59" fmla="*/ 482369 h 747580"/>
                <a:gd name="connsiteX60" fmla="*/ 131488 w 617210"/>
                <a:gd name="connsiteY60" fmla="*/ 482369 h 747580"/>
                <a:gd name="connsiteX61" fmla="*/ 100199 w 617210"/>
                <a:gd name="connsiteY61" fmla="*/ 495035 h 747580"/>
                <a:gd name="connsiteX62" fmla="*/ 87162 w 617210"/>
                <a:gd name="connsiteY62" fmla="*/ 525951 h 747580"/>
                <a:gd name="connsiteX63" fmla="*/ 100199 w 617210"/>
                <a:gd name="connsiteY63" fmla="*/ 557240 h 747580"/>
                <a:gd name="connsiteX64" fmla="*/ 131488 w 617210"/>
                <a:gd name="connsiteY64" fmla="*/ 570277 h 747580"/>
                <a:gd name="connsiteX65" fmla="*/ 260368 w 617210"/>
                <a:gd name="connsiteY65" fmla="*/ 569904 h 747580"/>
                <a:gd name="connsiteX66" fmla="*/ 462628 w 617210"/>
                <a:gd name="connsiteY66" fmla="*/ 605290 h 747580"/>
                <a:gd name="connsiteX67" fmla="*/ 433946 w 617210"/>
                <a:gd name="connsiteY67" fmla="*/ 633972 h 747580"/>
                <a:gd name="connsiteX68" fmla="*/ 433946 w 617210"/>
                <a:gd name="connsiteY68" fmla="*/ 651851 h 747580"/>
                <a:gd name="connsiteX69" fmla="*/ 491682 w 617210"/>
                <a:gd name="connsiteY69" fmla="*/ 651851 h 747580"/>
                <a:gd name="connsiteX70" fmla="*/ 491682 w 617210"/>
                <a:gd name="connsiteY70" fmla="*/ 633972 h 747580"/>
                <a:gd name="connsiteX71" fmla="*/ 462628 w 617210"/>
                <a:gd name="connsiteY71" fmla="*/ 605290 h 747580"/>
                <a:gd name="connsiteX72" fmla="*/ 433946 w 617210"/>
                <a:gd name="connsiteY72" fmla="*/ 552770 h 747580"/>
                <a:gd name="connsiteX73" fmla="*/ 462628 w 617210"/>
                <a:gd name="connsiteY73" fmla="*/ 581451 h 747580"/>
                <a:gd name="connsiteX74" fmla="*/ 491309 w 617210"/>
                <a:gd name="connsiteY74" fmla="*/ 552770 h 747580"/>
                <a:gd name="connsiteX75" fmla="*/ 491309 w 617210"/>
                <a:gd name="connsiteY75" fmla="*/ 534891 h 747580"/>
                <a:gd name="connsiteX76" fmla="*/ 433574 w 617210"/>
                <a:gd name="connsiteY76" fmla="*/ 534891 h 747580"/>
                <a:gd name="connsiteX77" fmla="*/ 433574 w 617210"/>
                <a:gd name="connsiteY77" fmla="*/ 552770 h 747580"/>
                <a:gd name="connsiteX78" fmla="*/ 604918 w 617210"/>
                <a:gd name="connsiteY78" fmla="*/ 533773 h 747580"/>
                <a:gd name="connsiteX79" fmla="*/ 571766 w 617210"/>
                <a:gd name="connsiteY79" fmla="*/ 484605 h 747580"/>
                <a:gd name="connsiteX80" fmla="*/ 522598 w 617210"/>
                <a:gd name="connsiteY80" fmla="*/ 451454 h 747580"/>
                <a:gd name="connsiteX81" fmla="*/ 463001 w 617210"/>
                <a:gd name="connsiteY81" fmla="*/ 439162 h 747580"/>
                <a:gd name="connsiteX82" fmla="*/ 402658 w 617210"/>
                <a:gd name="connsiteY82" fmla="*/ 451454 h 747580"/>
                <a:gd name="connsiteX83" fmla="*/ 353490 w 617210"/>
                <a:gd name="connsiteY83" fmla="*/ 484605 h 747580"/>
                <a:gd name="connsiteX84" fmla="*/ 320338 w 617210"/>
                <a:gd name="connsiteY84" fmla="*/ 533773 h 747580"/>
                <a:gd name="connsiteX85" fmla="*/ 308046 w 617210"/>
                <a:gd name="connsiteY85" fmla="*/ 593370 h 747580"/>
                <a:gd name="connsiteX86" fmla="*/ 320338 w 617210"/>
                <a:gd name="connsiteY86" fmla="*/ 653713 h 747580"/>
                <a:gd name="connsiteX87" fmla="*/ 353490 w 617210"/>
                <a:gd name="connsiteY87" fmla="*/ 702881 h 747580"/>
                <a:gd name="connsiteX88" fmla="*/ 402658 w 617210"/>
                <a:gd name="connsiteY88" fmla="*/ 735658 h 747580"/>
                <a:gd name="connsiteX89" fmla="*/ 463001 w 617210"/>
                <a:gd name="connsiteY89" fmla="*/ 747580 h 747580"/>
                <a:gd name="connsiteX90" fmla="*/ 522598 w 617210"/>
                <a:gd name="connsiteY90" fmla="*/ 735658 h 747580"/>
                <a:gd name="connsiteX91" fmla="*/ 571766 w 617210"/>
                <a:gd name="connsiteY91" fmla="*/ 702881 h 747580"/>
                <a:gd name="connsiteX92" fmla="*/ 604918 w 617210"/>
                <a:gd name="connsiteY92" fmla="*/ 653713 h 747580"/>
                <a:gd name="connsiteX93" fmla="*/ 617210 w 617210"/>
                <a:gd name="connsiteY93" fmla="*/ 593370 h 747580"/>
                <a:gd name="connsiteX94" fmla="*/ 604918 w 617210"/>
                <a:gd name="connsiteY94" fmla="*/ 533773 h 747580"/>
                <a:gd name="connsiteX95" fmla="*/ 514776 w 617210"/>
                <a:gd name="connsiteY95" fmla="*/ 633972 h 747580"/>
                <a:gd name="connsiteX96" fmla="*/ 514776 w 617210"/>
                <a:gd name="connsiteY96" fmla="*/ 651851 h 747580"/>
                <a:gd name="connsiteX97" fmla="*/ 525951 w 617210"/>
                <a:gd name="connsiteY97" fmla="*/ 663398 h 747580"/>
                <a:gd name="connsiteX98" fmla="*/ 514403 w 617210"/>
                <a:gd name="connsiteY98" fmla="*/ 674945 h 747580"/>
                <a:gd name="connsiteX99" fmla="*/ 410852 w 617210"/>
                <a:gd name="connsiteY99" fmla="*/ 674945 h 747580"/>
                <a:gd name="connsiteX100" fmla="*/ 399305 w 617210"/>
                <a:gd name="connsiteY100" fmla="*/ 663398 h 747580"/>
                <a:gd name="connsiteX101" fmla="*/ 410480 w 617210"/>
                <a:gd name="connsiteY101" fmla="*/ 651851 h 747580"/>
                <a:gd name="connsiteX102" fmla="*/ 410480 w 617210"/>
                <a:gd name="connsiteY102" fmla="*/ 633972 h 747580"/>
                <a:gd name="connsiteX103" fmla="*/ 429849 w 617210"/>
                <a:gd name="connsiteY103" fmla="*/ 593370 h 747580"/>
                <a:gd name="connsiteX104" fmla="*/ 410480 w 617210"/>
                <a:gd name="connsiteY104" fmla="*/ 552770 h 747580"/>
                <a:gd name="connsiteX105" fmla="*/ 410480 w 617210"/>
                <a:gd name="connsiteY105" fmla="*/ 534891 h 747580"/>
                <a:gd name="connsiteX106" fmla="*/ 399305 w 617210"/>
                <a:gd name="connsiteY106" fmla="*/ 523343 h 747580"/>
                <a:gd name="connsiteX107" fmla="*/ 410852 w 617210"/>
                <a:gd name="connsiteY107" fmla="*/ 511796 h 747580"/>
                <a:gd name="connsiteX108" fmla="*/ 514403 w 617210"/>
                <a:gd name="connsiteY108" fmla="*/ 511796 h 747580"/>
                <a:gd name="connsiteX109" fmla="*/ 525951 w 617210"/>
                <a:gd name="connsiteY109" fmla="*/ 523343 h 747580"/>
                <a:gd name="connsiteX110" fmla="*/ 514776 w 617210"/>
                <a:gd name="connsiteY110" fmla="*/ 534891 h 747580"/>
                <a:gd name="connsiteX111" fmla="*/ 514776 w 617210"/>
                <a:gd name="connsiteY111" fmla="*/ 552770 h 747580"/>
                <a:gd name="connsiteX112" fmla="*/ 495407 w 617210"/>
                <a:gd name="connsiteY112" fmla="*/ 593370 h 747580"/>
                <a:gd name="connsiteX113" fmla="*/ 514776 w 617210"/>
                <a:gd name="connsiteY113" fmla="*/ 633972 h 74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17210" h="747580">
                  <a:moveTo>
                    <a:pt x="394463" y="131115"/>
                  </a:moveTo>
                  <a:lnTo>
                    <a:pt x="175068" y="131115"/>
                  </a:lnTo>
                  <a:lnTo>
                    <a:pt x="175068" y="43581"/>
                  </a:lnTo>
                  <a:lnTo>
                    <a:pt x="219395" y="43581"/>
                  </a:lnTo>
                  <a:cubicBezTo>
                    <a:pt x="219395" y="31289"/>
                    <a:pt x="223492" y="21232"/>
                    <a:pt x="232059" y="12665"/>
                  </a:cubicBezTo>
                  <a:cubicBezTo>
                    <a:pt x="240626" y="4097"/>
                    <a:pt x="250683" y="0"/>
                    <a:pt x="262975" y="0"/>
                  </a:cubicBezTo>
                  <a:lnTo>
                    <a:pt x="307301" y="0"/>
                  </a:lnTo>
                  <a:cubicBezTo>
                    <a:pt x="319593" y="0"/>
                    <a:pt x="329650" y="4097"/>
                    <a:pt x="338217" y="12665"/>
                  </a:cubicBezTo>
                  <a:cubicBezTo>
                    <a:pt x="346785" y="21232"/>
                    <a:pt x="350882" y="31289"/>
                    <a:pt x="350882" y="43581"/>
                  </a:cubicBezTo>
                  <a:lnTo>
                    <a:pt x="395208" y="43581"/>
                  </a:lnTo>
                  <a:lnTo>
                    <a:pt x="394463" y="131115"/>
                  </a:lnTo>
                  <a:close/>
                  <a:moveTo>
                    <a:pt x="284952" y="91632"/>
                  </a:moveTo>
                  <a:cubicBezTo>
                    <a:pt x="292402" y="91632"/>
                    <a:pt x="298734" y="89024"/>
                    <a:pt x="304322" y="83437"/>
                  </a:cubicBezTo>
                  <a:cubicBezTo>
                    <a:pt x="309536" y="78222"/>
                    <a:pt x="312516" y="71517"/>
                    <a:pt x="312516" y="64068"/>
                  </a:cubicBezTo>
                  <a:cubicBezTo>
                    <a:pt x="312516" y="56245"/>
                    <a:pt x="309909" y="49541"/>
                    <a:pt x="304322" y="44326"/>
                  </a:cubicBezTo>
                  <a:cubicBezTo>
                    <a:pt x="299107" y="39111"/>
                    <a:pt x="292402" y="36504"/>
                    <a:pt x="284952" y="36504"/>
                  </a:cubicBezTo>
                  <a:cubicBezTo>
                    <a:pt x="277130" y="36504"/>
                    <a:pt x="270425" y="39111"/>
                    <a:pt x="265210" y="44326"/>
                  </a:cubicBezTo>
                  <a:cubicBezTo>
                    <a:pt x="259995" y="49541"/>
                    <a:pt x="257388" y="55873"/>
                    <a:pt x="257388" y="64068"/>
                  </a:cubicBezTo>
                  <a:cubicBezTo>
                    <a:pt x="257388" y="71517"/>
                    <a:pt x="259995" y="77850"/>
                    <a:pt x="265210" y="83437"/>
                  </a:cubicBezTo>
                  <a:cubicBezTo>
                    <a:pt x="270425" y="89024"/>
                    <a:pt x="277130" y="91632"/>
                    <a:pt x="284952" y="91632"/>
                  </a:cubicBezTo>
                  <a:close/>
                  <a:moveTo>
                    <a:pt x="260368" y="569904"/>
                  </a:moveTo>
                  <a:cubicBezTo>
                    <a:pt x="260368" y="573257"/>
                    <a:pt x="260368" y="576609"/>
                    <a:pt x="259995" y="579588"/>
                  </a:cubicBezTo>
                  <a:cubicBezTo>
                    <a:pt x="259623" y="582941"/>
                    <a:pt x="259623" y="586293"/>
                    <a:pt x="259623" y="590018"/>
                  </a:cubicBezTo>
                  <a:cubicBezTo>
                    <a:pt x="259623" y="610877"/>
                    <a:pt x="262603" y="630992"/>
                    <a:pt x="268563" y="649989"/>
                  </a:cubicBezTo>
                  <a:cubicBezTo>
                    <a:pt x="274523" y="668986"/>
                    <a:pt x="283462" y="686492"/>
                    <a:pt x="294637" y="702137"/>
                  </a:cubicBezTo>
                  <a:lnTo>
                    <a:pt x="90141" y="702137"/>
                  </a:lnTo>
                  <a:cubicBezTo>
                    <a:pt x="81202" y="702137"/>
                    <a:pt x="71518" y="699529"/>
                    <a:pt x="61088" y="694314"/>
                  </a:cubicBezTo>
                  <a:cubicBezTo>
                    <a:pt x="50658" y="689099"/>
                    <a:pt x="40601" y="682395"/>
                    <a:pt x="31661" y="673828"/>
                  </a:cubicBezTo>
                  <a:cubicBezTo>
                    <a:pt x="22722" y="665261"/>
                    <a:pt x="14899" y="655948"/>
                    <a:pt x="8940" y="645146"/>
                  </a:cubicBezTo>
                  <a:cubicBezTo>
                    <a:pt x="2980" y="634344"/>
                    <a:pt x="0" y="623169"/>
                    <a:pt x="0" y="611623"/>
                  </a:cubicBezTo>
                  <a:lnTo>
                    <a:pt x="0" y="178048"/>
                  </a:lnTo>
                  <a:cubicBezTo>
                    <a:pt x="0" y="168364"/>
                    <a:pt x="2235" y="157934"/>
                    <a:pt x="7077" y="147505"/>
                  </a:cubicBezTo>
                  <a:cubicBezTo>
                    <a:pt x="11920" y="137075"/>
                    <a:pt x="17879" y="127390"/>
                    <a:pt x="25329" y="118451"/>
                  </a:cubicBezTo>
                  <a:cubicBezTo>
                    <a:pt x="32779" y="109511"/>
                    <a:pt x="41346" y="102061"/>
                    <a:pt x="51403" y="96474"/>
                  </a:cubicBezTo>
                  <a:cubicBezTo>
                    <a:pt x="61460" y="90886"/>
                    <a:pt x="71518" y="87534"/>
                    <a:pt x="82320" y="87534"/>
                  </a:cubicBezTo>
                  <a:lnTo>
                    <a:pt x="132233" y="87534"/>
                  </a:lnTo>
                  <a:lnTo>
                    <a:pt x="132233" y="175069"/>
                  </a:lnTo>
                  <a:lnTo>
                    <a:pt x="438417" y="175069"/>
                  </a:lnTo>
                  <a:lnTo>
                    <a:pt x="438417" y="87534"/>
                  </a:lnTo>
                  <a:lnTo>
                    <a:pt x="481997" y="87534"/>
                  </a:lnTo>
                  <a:cubicBezTo>
                    <a:pt x="492799" y="87534"/>
                    <a:pt x="503229" y="89769"/>
                    <a:pt x="514031" y="94611"/>
                  </a:cubicBezTo>
                  <a:cubicBezTo>
                    <a:pt x="524461" y="99454"/>
                    <a:pt x="534146" y="105414"/>
                    <a:pt x="542340" y="113608"/>
                  </a:cubicBezTo>
                  <a:cubicBezTo>
                    <a:pt x="550907" y="121431"/>
                    <a:pt x="557612" y="131115"/>
                    <a:pt x="563200" y="142290"/>
                  </a:cubicBezTo>
                  <a:cubicBezTo>
                    <a:pt x="568414" y="153464"/>
                    <a:pt x="571394" y="165384"/>
                    <a:pt x="571394" y="178048"/>
                  </a:cubicBezTo>
                  <a:lnTo>
                    <a:pt x="571394" y="426124"/>
                  </a:lnTo>
                  <a:cubicBezTo>
                    <a:pt x="555005" y="415322"/>
                    <a:pt x="537498" y="407127"/>
                    <a:pt x="518873" y="400796"/>
                  </a:cubicBezTo>
                  <a:cubicBezTo>
                    <a:pt x="500249" y="394835"/>
                    <a:pt x="480507" y="391855"/>
                    <a:pt x="459276" y="391855"/>
                  </a:cubicBezTo>
                  <a:lnTo>
                    <a:pt x="454433" y="391855"/>
                  </a:lnTo>
                  <a:cubicBezTo>
                    <a:pt x="463001" y="388503"/>
                    <a:pt x="469705" y="383288"/>
                    <a:pt x="475293" y="375839"/>
                  </a:cubicBezTo>
                  <a:cubicBezTo>
                    <a:pt x="480507" y="368389"/>
                    <a:pt x="483487" y="359822"/>
                    <a:pt x="483487" y="350510"/>
                  </a:cubicBezTo>
                  <a:cubicBezTo>
                    <a:pt x="483487" y="338218"/>
                    <a:pt x="479017" y="328161"/>
                    <a:pt x="470450" y="319593"/>
                  </a:cubicBezTo>
                  <a:cubicBezTo>
                    <a:pt x="461883" y="311026"/>
                    <a:pt x="451453" y="306929"/>
                    <a:pt x="439161" y="306929"/>
                  </a:cubicBezTo>
                  <a:lnTo>
                    <a:pt x="131488" y="306929"/>
                  </a:lnTo>
                  <a:cubicBezTo>
                    <a:pt x="119196" y="306929"/>
                    <a:pt x="108766" y="311026"/>
                    <a:pt x="100199" y="319593"/>
                  </a:cubicBezTo>
                  <a:cubicBezTo>
                    <a:pt x="91631" y="328161"/>
                    <a:pt x="87162" y="338218"/>
                    <a:pt x="87162" y="350510"/>
                  </a:cubicBezTo>
                  <a:cubicBezTo>
                    <a:pt x="87162" y="362802"/>
                    <a:pt x="91631" y="373232"/>
                    <a:pt x="100199" y="381799"/>
                  </a:cubicBezTo>
                  <a:cubicBezTo>
                    <a:pt x="108766" y="390366"/>
                    <a:pt x="119196" y="394835"/>
                    <a:pt x="131488" y="394835"/>
                  </a:cubicBezTo>
                  <a:lnTo>
                    <a:pt x="425007" y="394835"/>
                  </a:lnTo>
                  <a:cubicBezTo>
                    <a:pt x="397070" y="399678"/>
                    <a:pt x="371369" y="409362"/>
                    <a:pt x="348647" y="424634"/>
                  </a:cubicBezTo>
                  <a:cubicBezTo>
                    <a:pt x="325925" y="439906"/>
                    <a:pt x="306929" y="459275"/>
                    <a:pt x="292030" y="482369"/>
                  </a:cubicBezTo>
                  <a:lnTo>
                    <a:pt x="131488" y="482369"/>
                  </a:lnTo>
                  <a:cubicBezTo>
                    <a:pt x="119196" y="482369"/>
                    <a:pt x="108766" y="486467"/>
                    <a:pt x="100199" y="495035"/>
                  </a:cubicBezTo>
                  <a:cubicBezTo>
                    <a:pt x="91631" y="503602"/>
                    <a:pt x="87162" y="513658"/>
                    <a:pt x="87162" y="525951"/>
                  </a:cubicBezTo>
                  <a:cubicBezTo>
                    <a:pt x="87162" y="538243"/>
                    <a:pt x="91631" y="548673"/>
                    <a:pt x="100199" y="557240"/>
                  </a:cubicBezTo>
                  <a:cubicBezTo>
                    <a:pt x="108766" y="565806"/>
                    <a:pt x="119196" y="570277"/>
                    <a:pt x="131488" y="570277"/>
                  </a:cubicBezTo>
                  <a:lnTo>
                    <a:pt x="260368" y="569904"/>
                  </a:lnTo>
                  <a:close/>
                  <a:moveTo>
                    <a:pt x="462628" y="605290"/>
                  </a:moveTo>
                  <a:cubicBezTo>
                    <a:pt x="446611" y="605290"/>
                    <a:pt x="433946" y="618328"/>
                    <a:pt x="433946" y="633972"/>
                  </a:cubicBezTo>
                  <a:lnTo>
                    <a:pt x="433946" y="651851"/>
                  </a:lnTo>
                  <a:lnTo>
                    <a:pt x="491682" y="651851"/>
                  </a:lnTo>
                  <a:lnTo>
                    <a:pt x="491682" y="633972"/>
                  </a:lnTo>
                  <a:cubicBezTo>
                    <a:pt x="491682" y="618328"/>
                    <a:pt x="478645" y="605290"/>
                    <a:pt x="462628" y="605290"/>
                  </a:cubicBezTo>
                  <a:close/>
                  <a:moveTo>
                    <a:pt x="433946" y="552770"/>
                  </a:moveTo>
                  <a:cubicBezTo>
                    <a:pt x="433946" y="568786"/>
                    <a:pt x="446984" y="581451"/>
                    <a:pt x="462628" y="581451"/>
                  </a:cubicBezTo>
                  <a:cubicBezTo>
                    <a:pt x="478645" y="581451"/>
                    <a:pt x="491309" y="568414"/>
                    <a:pt x="491309" y="552770"/>
                  </a:cubicBezTo>
                  <a:lnTo>
                    <a:pt x="491309" y="534891"/>
                  </a:lnTo>
                  <a:lnTo>
                    <a:pt x="433574" y="534891"/>
                  </a:lnTo>
                  <a:lnTo>
                    <a:pt x="433574" y="552770"/>
                  </a:lnTo>
                  <a:close/>
                  <a:moveTo>
                    <a:pt x="604918" y="533773"/>
                  </a:moveTo>
                  <a:cubicBezTo>
                    <a:pt x="596723" y="515148"/>
                    <a:pt x="585548" y="498759"/>
                    <a:pt x="571766" y="484605"/>
                  </a:cubicBezTo>
                  <a:cubicBezTo>
                    <a:pt x="557985" y="470451"/>
                    <a:pt x="541223" y="459648"/>
                    <a:pt x="522598" y="451454"/>
                  </a:cubicBezTo>
                  <a:cubicBezTo>
                    <a:pt x="503974" y="443259"/>
                    <a:pt x="484232" y="439162"/>
                    <a:pt x="463001" y="439162"/>
                  </a:cubicBezTo>
                  <a:cubicBezTo>
                    <a:pt x="441397" y="439162"/>
                    <a:pt x="421282" y="443259"/>
                    <a:pt x="402658" y="451454"/>
                  </a:cubicBezTo>
                  <a:cubicBezTo>
                    <a:pt x="384034" y="459648"/>
                    <a:pt x="367644" y="470823"/>
                    <a:pt x="353490" y="484605"/>
                  </a:cubicBezTo>
                  <a:cubicBezTo>
                    <a:pt x="339335" y="498759"/>
                    <a:pt x="328533" y="515148"/>
                    <a:pt x="320338" y="533773"/>
                  </a:cubicBezTo>
                  <a:cubicBezTo>
                    <a:pt x="312143" y="552397"/>
                    <a:pt x="308046" y="572139"/>
                    <a:pt x="308046" y="593370"/>
                  </a:cubicBezTo>
                  <a:cubicBezTo>
                    <a:pt x="308046" y="614975"/>
                    <a:pt x="312143" y="635089"/>
                    <a:pt x="320338" y="653713"/>
                  </a:cubicBezTo>
                  <a:cubicBezTo>
                    <a:pt x="328533" y="672338"/>
                    <a:pt x="339708" y="688727"/>
                    <a:pt x="353490" y="702881"/>
                  </a:cubicBezTo>
                  <a:cubicBezTo>
                    <a:pt x="367644" y="717036"/>
                    <a:pt x="384034" y="727839"/>
                    <a:pt x="402658" y="735658"/>
                  </a:cubicBezTo>
                  <a:cubicBezTo>
                    <a:pt x="421282" y="743484"/>
                    <a:pt x="441397" y="747580"/>
                    <a:pt x="463001" y="747580"/>
                  </a:cubicBezTo>
                  <a:cubicBezTo>
                    <a:pt x="483860" y="747580"/>
                    <a:pt x="503974" y="743484"/>
                    <a:pt x="522598" y="735658"/>
                  </a:cubicBezTo>
                  <a:cubicBezTo>
                    <a:pt x="541223" y="727839"/>
                    <a:pt x="557612" y="716663"/>
                    <a:pt x="571766" y="702881"/>
                  </a:cubicBezTo>
                  <a:cubicBezTo>
                    <a:pt x="585921" y="689099"/>
                    <a:pt x="596723" y="672338"/>
                    <a:pt x="604918" y="653713"/>
                  </a:cubicBezTo>
                  <a:cubicBezTo>
                    <a:pt x="613112" y="635089"/>
                    <a:pt x="617210" y="614975"/>
                    <a:pt x="617210" y="593370"/>
                  </a:cubicBezTo>
                  <a:cubicBezTo>
                    <a:pt x="617210" y="572511"/>
                    <a:pt x="613112" y="552397"/>
                    <a:pt x="604918" y="533773"/>
                  </a:cubicBezTo>
                  <a:close/>
                  <a:moveTo>
                    <a:pt x="514776" y="633972"/>
                  </a:moveTo>
                  <a:lnTo>
                    <a:pt x="514776" y="651851"/>
                  </a:lnTo>
                  <a:cubicBezTo>
                    <a:pt x="521108" y="651851"/>
                    <a:pt x="525951" y="657066"/>
                    <a:pt x="525951" y="663398"/>
                  </a:cubicBezTo>
                  <a:cubicBezTo>
                    <a:pt x="525951" y="669730"/>
                    <a:pt x="520736" y="674945"/>
                    <a:pt x="514403" y="674945"/>
                  </a:cubicBezTo>
                  <a:lnTo>
                    <a:pt x="410852" y="674945"/>
                  </a:lnTo>
                  <a:cubicBezTo>
                    <a:pt x="404520" y="674945"/>
                    <a:pt x="399305" y="669730"/>
                    <a:pt x="399305" y="663398"/>
                  </a:cubicBezTo>
                  <a:cubicBezTo>
                    <a:pt x="399305" y="657066"/>
                    <a:pt x="404520" y="651851"/>
                    <a:pt x="410480" y="651851"/>
                  </a:cubicBezTo>
                  <a:lnTo>
                    <a:pt x="410480" y="633972"/>
                  </a:lnTo>
                  <a:cubicBezTo>
                    <a:pt x="410480" y="617582"/>
                    <a:pt x="418302" y="603055"/>
                    <a:pt x="429849" y="593370"/>
                  </a:cubicBezTo>
                  <a:cubicBezTo>
                    <a:pt x="417930" y="583686"/>
                    <a:pt x="410480" y="569159"/>
                    <a:pt x="410480" y="552770"/>
                  </a:cubicBezTo>
                  <a:lnTo>
                    <a:pt x="410480" y="534891"/>
                  </a:lnTo>
                  <a:cubicBezTo>
                    <a:pt x="404148" y="534891"/>
                    <a:pt x="399305" y="529676"/>
                    <a:pt x="399305" y="523343"/>
                  </a:cubicBezTo>
                  <a:cubicBezTo>
                    <a:pt x="399305" y="517011"/>
                    <a:pt x="404520" y="511796"/>
                    <a:pt x="410852" y="511796"/>
                  </a:cubicBezTo>
                  <a:lnTo>
                    <a:pt x="514403" y="511796"/>
                  </a:lnTo>
                  <a:cubicBezTo>
                    <a:pt x="520736" y="511796"/>
                    <a:pt x="525951" y="517011"/>
                    <a:pt x="525951" y="523343"/>
                  </a:cubicBezTo>
                  <a:cubicBezTo>
                    <a:pt x="525951" y="529676"/>
                    <a:pt x="520736" y="534891"/>
                    <a:pt x="514776" y="534891"/>
                  </a:cubicBezTo>
                  <a:lnTo>
                    <a:pt x="514776" y="552770"/>
                  </a:lnTo>
                  <a:cubicBezTo>
                    <a:pt x="514776" y="569159"/>
                    <a:pt x="506954" y="583686"/>
                    <a:pt x="495407" y="593370"/>
                  </a:cubicBezTo>
                  <a:cubicBezTo>
                    <a:pt x="507326" y="603055"/>
                    <a:pt x="514776" y="617582"/>
                    <a:pt x="514776" y="6339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77595" y="275590"/>
            <a:ext cx="673417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09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反射泛型（了解）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pPr lvl="0">
              <a:defRPr/>
            </a:pPr>
            <a:endParaRPr lang="zh-CN" altLang="en-US" sz="2400" spc="300" dirty="0">
              <a:solidFill>
                <a:schemeClr val="bg2">
                  <a:lumMod val="1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0" name="图片 9" descr="5d0495981e06a4beefc1a7ac3c41024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42375" y="0"/>
            <a:ext cx="4695190" cy="9347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32205" y="1257300"/>
            <a:ext cx="9796780" cy="3679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1.</a:t>
            </a:r>
            <a:r>
              <a:rPr lang="zh-CN" altLang="en-US"/>
              <a:t>反射父类的泛型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反射接口的泛型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反射属性上的泛型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反射方法参数上的泛型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反射方法返回值的泛型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6.</a:t>
            </a:r>
            <a:r>
              <a:rPr lang="zh-CN" altLang="en-US"/>
              <a:t>反射构造方法参数上的泛型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fill="hold" nodeType="tmRoot"/>
      </p:par>
    </p:tnLst>
  </p:timing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PA" val="v5.2.11"/>
</p:tagLst>
</file>

<file path=ppt/tags/tag6.xml><?xml version="1.0" encoding="utf-8"?>
<p:tagLst xmlns:p="http://schemas.openxmlformats.org/presentationml/2006/main">
  <p:tag name="PA" val="v5.2.11"/>
</p:tagLst>
</file>

<file path=ppt/tags/tag7.xml><?xml version="1.0" encoding="utf-8"?>
<p:tagLst xmlns:p="http://schemas.openxmlformats.org/presentationml/2006/main">
  <p:tag name="PA" val="v5.2.11"/>
</p:tagLst>
</file>

<file path=ppt/tags/tag8.xml><?xml version="1.0" encoding="utf-8"?>
<p:tagLst xmlns:p="http://schemas.openxmlformats.org/presentationml/2006/main">
  <p:tag name="ISLIDE.ICON" val="#176715;"/>
</p:tagLst>
</file>

<file path=ppt/tags/tag9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10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11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12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13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14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15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16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17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18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19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20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21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22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23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24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27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28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29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30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31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32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33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34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35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36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37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38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39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40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41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44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45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46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47.xml><?xml version="1.0" encoding="utf-8"?>
<p:tagLst xmlns:p="http://schemas.openxmlformats.org/presentationml/2006/main">
  <p:tag name="KSO_WM_DIAGRAM_VIRTUALLY_FRAME" val="{&quot;height&quot;:248.4982677165354,&quot;left&quot;:31.95,&quot;top&quot;:199.81141732283464,&quot;width&quot;:874.3}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COMMONDATA" val="eyJoZGlkIjoiYTcyYmVjMTcwOWFmNjA4YzMzMmY4MjU1YmU4YjVjNjcifQ=="/>
  <p:tag name="commondata" val="eyJoZGlkIjoiNGZiMmNiMjBhODhhNzk3MjBiMjM1MzUzMzI3ZDg5ZW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3366</Words>
  <Application>WPS 演示</Application>
  <PresentationFormat>宽屏</PresentationFormat>
  <Paragraphs>237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思源黑体 CN Normal</vt:lpstr>
      <vt:lpstr>思源黑体 CN Medium</vt:lpstr>
      <vt:lpstr>黑体</vt:lpstr>
      <vt:lpstr>思源黑体 CN Regular</vt:lpstr>
      <vt:lpstr>思源黑体 CN Bold</vt:lpstr>
      <vt:lpstr>思源黑体 CN Light</vt:lpstr>
      <vt:lpstr>Calibri Light</vt:lpstr>
      <vt:lpstr>Symbol</vt:lpstr>
      <vt:lpstr>思源宋体 CN Heavy</vt:lpstr>
      <vt:lpstr>微软雅黑</vt:lpstr>
      <vt:lpstr>Wingdings</vt:lpstr>
      <vt:lpstr>Arial Unicode MS</vt:lpstr>
      <vt:lpstr>Arial Black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柯媛媛</dc:creator>
  <cp:lastModifiedBy>杜聚宾</cp:lastModifiedBy>
  <cp:revision>744</cp:revision>
  <dcterms:created xsi:type="dcterms:W3CDTF">2019-09-19T02:01:00Z</dcterms:created>
  <dcterms:modified xsi:type="dcterms:W3CDTF">2024-04-28T03:49:48Z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B4336ABF8D4B43BBBB25AAA0743935E4_12</vt:lpwstr>
  </property>
</Properties>
</file>